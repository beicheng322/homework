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sldIdLst>
    <p:sldId id="256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  <p:sldId id="278" r:id="rId23"/>
    <p:sldId id="279" r:id="rId24"/>
    <p:sldId id="280" r:id="rId25"/>
    <p:sldId id="281" r:id="rId26"/>
    <p:sldId id="282" r:id="rId27"/>
    <p:sldId id="284" r:id="rId28"/>
  </p:sldIdLst>
  <p:sldSz cx="12192000" cy="6858000"/>
  <p:notesSz cx="6858000" cy="9144000"/>
  <p:custDataLst>
    <p:tags r:id="rId3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6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4" orient="horz" pos="648" userDrawn="1">
          <p15:clr>
            <a:srgbClr val="A4A3A4"/>
          </p15:clr>
        </p15:guide>
        <p15:guide id="5" orient="horz" pos="3911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7" autoAdjust="0"/>
    <p:restoredTop sz="86483" autoAdjust="0"/>
  </p:normalViewPr>
  <p:slideViewPr>
    <p:cSldViewPr snapToGrid="0" showGuides="1">
      <p:cViewPr varScale="1">
        <p:scale>
          <a:sx n="60" d="100"/>
          <a:sy n="60" d="100"/>
        </p:scale>
        <p:origin x="96" y="342"/>
      </p:cViewPr>
      <p:guideLst>
        <p:guide pos="416"/>
        <p:guide pos="7256"/>
        <p:guide orient="horz" pos="648"/>
        <p:guide orient="horz" pos="3911"/>
        <p:guide orient="horz" pos="38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3" Type="http://schemas.openxmlformats.org/officeDocument/2006/relationships/tags" Target="tags/tag146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notesMaster" Target="notesMasters/notesMaster1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image2.wdp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image2.wdp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image2.wdp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matchingName="Title Slide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 descr="93443864-8690-40a1-b122-e00426bce5cb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8" name="图片 7" descr="5c25b769-7c93-4eff-961d-22f89806f7c9"/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945" r="23828" b="13447"/>
            <a:stretch>
              <a:fillRect/>
            </a:stretch>
          </p:blipFill>
          <p:spPr>
            <a:xfrm>
              <a:off x="0" y="0"/>
              <a:ext cx="1219200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</p:spPr>
        </p:pic>
        <p:sp>
          <p:nvSpPr>
            <p:cNvPr id="13" name="任意多边形 12" descr="208989d1-9d53-44e0-ad74-291b7225eec4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34000">
                  <a:schemeClr val="accent1">
                    <a:alpha val="80000"/>
                  </a:schemeClr>
                </a:gs>
                <a:gs pos="56000">
                  <a:schemeClr val="accent1">
                    <a:alpha val="0"/>
                  </a:schemeClr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5" name="标题 4" descr="00b7689f-0a78-4084-90e2-3aecbe84f8a9"/>
          <p:cNvSpPr>
            <a:spLocks noGrp="1"/>
          </p:cNvSpPr>
          <p:nvPr>
            <p:ph type="ctrTitle" hasCustomPrompt="1"/>
          </p:nvPr>
        </p:nvSpPr>
        <p:spPr>
          <a:xfrm>
            <a:off x="660400" y="1092201"/>
            <a:ext cx="5754914" cy="2392036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>
              <a:lnSpc>
                <a:spcPct val="100000"/>
              </a:lnSpc>
              <a:defRPr sz="5400">
                <a:ln w="19050"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Click to add title</a:t>
            </a:r>
            <a:endParaRPr lang="en-US"/>
          </a:p>
        </p:txBody>
      </p:sp>
      <p:sp>
        <p:nvSpPr>
          <p:cNvPr id="9" name="副标题 8" descr="3c18f0a1-6695-4623-850b-924036250f72"/>
          <p:cNvSpPr>
            <a:spLocks noGrp="1"/>
          </p:cNvSpPr>
          <p:nvPr>
            <p:ph type="subTitle" sz="quarter" idx="1" hasCustomPrompt="1"/>
          </p:nvPr>
        </p:nvSpPr>
        <p:spPr>
          <a:xfrm>
            <a:off x="660400" y="4000499"/>
            <a:ext cx="5754914" cy="895003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vert="horz" wrap="square" lIns="91440" tIns="45720" rIns="91440" bIns="45720" rtlCol="0" anchor="t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lang="en-US" sz="1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zh-CN" altLang="en-US"/>
              <a:t>Click to add subtitle</a:t>
            </a:r>
            <a:endParaRPr lang="en-US"/>
          </a:p>
        </p:txBody>
      </p:sp>
      <p:sp>
        <p:nvSpPr>
          <p:cNvPr id="4" name="文本占位符 3" descr="96d96a06-4155-400a-94ef-ad829f4670bd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5580102"/>
            <a:ext cx="5754914" cy="276999"/>
          </a:xfrm>
          <a:prstGeom prst="rect">
            <a:avLst/>
          </a:prstGeom>
        </p:spPr>
        <p:txBody>
          <a:bodyPr wrap="square" lIns="90000">
            <a:normAutofit/>
          </a:bodyPr>
          <a:lstStyle>
            <a:lvl1pPr marL="0" indent="0" algn="l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zh-CN" altLang="en-US"/>
              <a:t>Presenter name</a:t>
            </a:r>
            <a:endParaRPr lang="en-US"/>
          </a:p>
        </p:txBody>
      </p:sp>
      <p:sp>
        <p:nvSpPr>
          <p:cNvPr id="7" name="文本占位符 6" descr="4abe78ba-333f-4162-af02-cd8f127f62d5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5857101"/>
            <a:ext cx="5754914" cy="276999"/>
          </a:xfrm>
          <a:prstGeom prst="rect">
            <a:avLst/>
          </a:prstGeom>
        </p:spPr>
        <p:txBody>
          <a:bodyPr wrap="none">
            <a:normAutofit/>
          </a:bodyPr>
          <a:lstStyle>
            <a:lvl1pPr marL="0" indent="0" algn="l">
              <a:lnSpc>
                <a:spcPct val="100000"/>
              </a:lnSpc>
              <a:buNone/>
              <a:defRPr sz="1200"/>
            </a:lvl1pPr>
          </a:lstStyle>
          <a:p>
            <a:pPr lvl="0"/>
            <a:endParaRPr lang="en-US"/>
          </a:p>
        </p:txBody>
      </p:sp>
      <p:cxnSp>
        <p:nvCxnSpPr>
          <p:cNvPr id="19" name="直接连接符 18" descr="d07fbd22-ea60-4320-9d46-6b25ae1b7098"/>
          <p:cNvCxnSpPr/>
          <p:nvPr/>
        </p:nvCxnSpPr>
        <p:spPr>
          <a:xfrm>
            <a:off x="781050" y="3621535"/>
            <a:ext cx="3930650" cy="0"/>
          </a:xfrm>
          <a:prstGeom prst="line">
            <a:avLst/>
          </a:prstGeom>
          <a:ln w="38100" cap="rnd">
            <a:gradFill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812a3ff6-125f-4e89-9354-46baecfd7ddc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/>
              <a:t>Click to add title</a:t>
            </a:r>
            <a:endParaRPr lang="en-US"/>
          </a:p>
        </p:txBody>
      </p:sp>
      <p:sp>
        <p:nvSpPr>
          <p:cNvPr id="3" name="内容占位符 2" descr="117c3b9b-c9fd-44c4-8ecd-66f1f6826f13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/>
              <a:t>Click to add text</a:t>
            </a:r>
            <a:endParaRPr lang="en-US"/>
          </a:p>
          <a:p>
            <a:pPr lvl="1"/>
            <a:r>
              <a:rPr lang="zh-CN" altLang="en-US"/>
              <a:t>Second level</a:t>
            </a:r>
            <a:endParaRPr lang="en-US"/>
          </a:p>
          <a:p>
            <a:pPr lvl="2"/>
            <a:r>
              <a:rPr lang="zh-CN" altLang="en-US"/>
              <a:t>Third level</a:t>
            </a:r>
            <a:endParaRPr lang="en-US"/>
          </a:p>
          <a:p>
            <a:pPr lvl="3"/>
            <a:r>
              <a:rPr lang="zh-CN" altLang="en-US"/>
              <a:t>Fourth level</a:t>
            </a:r>
            <a:endParaRPr lang="en-US"/>
          </a:p>
          <a:p>
            <a:pPr lvl="4"/>
            <a:r>
              <a:rPr lang="zh-CN" altLang="en-US"/>
              <a:t>Fifth level</a:t>
            </a:r>
            <a:endParaRPr lang="en-US"/>
          </a:p>
        </p:txBody>
      </p:sp>
      <p:sp>
        <p:nvSpPr>
          <p:cNvPr id="4" name="日期占位符 3" descr="0cd23b28-2e08-45d3-9804-d51b9b3abb6f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 descr="38fc08bc-44eb-47cc-93a6-81b76972815c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 descr="d5dd8f48-4dce-43b7-8365-88e31b501fb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matchingName="Agenda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 descr="f1f57b83-ef1f-4584-bbec-81f5b2fcf26c"/>
          <p:cNvGrpSpPr/>
          <p:nvPr/>
        </p:nvGrpSpPr>
        <p:grpSpPr>
          <a:xfrm>
            <a:off x="0" y="0"/>
            <a:ext cx="12191999" cy="6858000"/>
            <a:chOff x="0" y="0"/>
            <a:chExt cx="12191999" cy="6858000"/>
          </a:xfrm>
        </p:grpSpPr>
        <p:sp>
          <p:nvSpPr>
            <p:cNvPr id="8" name="矩形 7" descr="b4138a88-8f31-4d87-b616-23872ec8b6ad"/>
            <p:cNvSpPr/>
            <p:nvPr/>
          </p:nvSpPr>
          <p:spPr>
            <a:xfrm>
              <a:off x="0" y="0"/>
              <a:ext cx="2846314" cy="685800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Arial" panose="020B0604020202020204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Arial" panose="020B0604020202020204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Arial" panose="020B0604020202020204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Arial" panose="020B0604020202020204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Arial" panose="020B0604020202020204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Arial" panose="020B0604020202020204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Arial" panose="020B0604020202020204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Arial" panose="020B0604020202020204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Arial" panose="020B0604020202020204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grpSp>
          <p:nvGrpSpPr>
            <p:cNvPr id="9" name="组合 8" descr="4bda21c8-5dd0-4892-a44f-21dd2942df8f"/>
            <p:cNvGrpSpPr/>
            <p:nvPr/>
          </p:nvGrpSpPr>
          <p:grpSpPr>
            <a:xfrm>
              <a:off x="0" y="1"/>
              <a:ext cx="12191999" cy="6857999"/>
              <a:chOff x="0" y="1"/>
              <a:chExt cx="12191999" cy="6857999"/>
            </a:xfrm>
          </p:grpSpPr>
          <p:grpSp>
            <p:nvGrpSpPr>
              <p:cNvPr id="15" name="组合 14" descr="af1b471b-eba4-4b58-bdcc-57344dbed249"/>
              <p:cNvGrpSpPr/>
              <p:nvPr/>
            </p:nvGrpSpPr>
            <p:grpSpPr>
              <a:xfrm>
                <a:off x="9967733" y="1"/>
                <a:ext cx="2224266" cy="2207517"/>
                <a:chOff x="7333722" y="1"/>
                <a:chExt cx="4858278" cy="4821694"/>
              </a:xfrm>
            </p:grpSpPr>
            <p:sp>
              <p:nvSpPr>
                <p:cNvPr id="25" name="矩形 24" descr="0d9a0f83-8fae-437b-947c-8e9f5c91be35"/>
                <p:cNvSpPr/>
                <p:nvPr/>
              </p:nvSpPr>
              <p:spPr>
                <a:xfrm>
                  <a:off x="10692384" y="1"/>
                  <a:ext cx="1499615" cy="1499615"/>
                </a:xfrm>
                <a:prstGeom prst="rect">
                  <a:avLst/>
                </a:prstGeom>
                <a:solidFill>
                  <a:schemeClr val="accent1">
                    <a:alpha val="3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solidFill>
                      <a:schemeClr val="tx1">
                        <a:lumMod val="95000"/>
                        <a:lumOff val="5000"/>
                      </a:schemeClr>
                    </a:solidFill>
                  </a:endParaRPr>
                </a:p>
              </p:txBody>
            </p:sp>
            <p:sp>
              <p:nvSpPr>
                <p:cNvPr id="26" name="矩形 25" descr="0b024e77-c7e3-4a94-9be1-42ec5d570fce"/>
                <p:cNvSpPr/>
                <p:nvPr/>
              </p:nvSpPr>
              <p:spPr>
                <a:xfrm>
                  <a:off x="10692384" y="1661040"/>
                  <a:ext cx="1499615" cy="1499615"/>
                </a:xfrm>
                <a:prstGeom prst="rect">
                  <a:avLst/>
                </a:prstGeom>
                <a:solidFill>
                  <a:schemeClr val="accent1">
                    <a:alpha val="1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solidFill>
                      <a:schemeClr val="tx1">
                        <a:lumMod val="95000"/>
                        <a:lumOff val="5000"/>
                      </a:schemeClr>
                    </a:solidFill>
                  </a:endParaRPr>
                </a:p>
              </p:txBody>
            </p:sp>
            <p:sp>
              <p:nvSpPr>
                <p:cNvPr id="27" name="矩形 26" descr="6a0012ad-6668-4765-91c3-070dbf04f44a"/>
                <p:cNvSpPr/>
                <p:nvPr/>
              </p:nvSpPr>
              <p:spPr>
                <a:xfrm>
                  <a:off x="10692385" y="3322080"/>
                  <a:ext cx="1499615" cy="1499615"/>
                </a:xfrm>
                <a:prstGeom prst="rect">
                  <a:avLst/>
                </a:prstGeom>
                <a:solidFill>
                  <a:schemeClr val="accent1">
                    <a:alpha val="5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solidFill>
                      <a:schemeClr val="tx1">
                        <a:lumMod val="95000"/>
                        <a:lumOff val="5000"/>
                      </a:schemeClr>
                    </a:solidFill>
                  </a:endParaRPr>
                </a:p>
              </p:txBody>
            </p:sp>
            <p:sp>
              <p:nvSpPr>
                <p:cNvPr id="28" name="矩形 27" descr="ee2397f3-1258-4899-84f5-17867248ba31"/>
                <p:cNvSpPr/>
                <p:nvPr/>
              </p:nvSpPr>
              <p:spPr>
                <a:xfrm>
                  <a:off x="9013053" y="1"/>
                  <a:ext cx="1499615" cy="1499615"/>
                </a:xfrm>
                <a:prstGeom prst="rect">
                  <a:avLst/>
                </a:prstGeom>
                <a:solidFill>
                  <a:schemeClr val="accent1">
                    <a:alpha val="1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solidFill>
                      <a:schemeClr val="tx1">
                        <a:lumMod val="95000"/>
                        <a:lumOff val="5000"/>
                      </a:schemeClr>
                    </a:solidFill>
                  </a:endParaRPr>
                </a:p>
              </p:txBody>
            </p:sp>
            <p:sp>
              <p:nvSpPr>
                <p:cNvPr id="29" name="矩形 28" descr="6703120f-a7e3-4884-9144-1a765d534d36"/>
                <p:cNvSpPr/>
                <p:nvPr/>
              </p:nvSpPr>
              <p:spPr>
                <a:xfrm>
                  <a:off x="9013053" y="1661040"/>
                  <a:ext cx="1499615" cy="1499615"/>
                </a:xfrm>
                <a:prstGeom prst="rect">
                  <a:avLst/>
                </a:prstGeom>
                <a:solidFill>
                  <a:schemeClr val="accent1">
                    <a:alpha val="5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solidFill>
                      <a:schemeClr val="tx1">
                        <a:lumMod val="95000"/>
                        <a:lumOff val="5000"/>
                      </a:schemeClr>
                    </a:solidFill>
                  </a:endParaRPr>
                </a:p>
              </p:txBody>
            </p:sp>
            <p:sp>
              <p:nvSpPr>
                <p:cNvPr id="30" name="矩形 29" descr="98d5bdec-1dda-408d-bf56-27cc57db9bb5"/>
                <p:cNvSpPr/>
                <p:nvPr/>
              </p:nvSpPr>
              <p:spPr>
                <a:xfrm>
                  <a:off x="7333722" y="1"/>
                  <a:ext cx="1499615" cy="1499615"/>
                </a:xfrm>
                <a:prstGeom prst="rect">
                  <a:avLst/>
                </a:prstGeom>
                <a:solidFill>
                  <a:schemeClr val="accent1">
                    <a:alpha val="5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solidFill>
                      <a:schemeClr val="tx1">
                        <a:lumMod val="95000"/>
                        <a:lumOff val="5000"/>
                      </a:schemeClr>
                    </a:solidFill>
                  </a:endParaRPr>
                </a:p>
              </p:txBody>
            </p:sp>
          </p:grpSp>
          <p:grpSp>
            <p:nvGrpSpPr>
              <p:cNvPr id="17" name="组合 16" descr="a016a956-9e4f-4b08-8bda-319076a18f24"/>
              <p:cNvGrpSpPr/>
              <p:nvPr/>
            </p:nvGrpSpPr>
            <p:grpSpPr>
              <a:xfrm rot="10800000">
                <a:off x="0" y="4650483"/>
                <a:ext cx="2224266" cy="2207517"/>
                <a:chOff x="7333722" y="1"/>
                <a:chExt cx="4858277" cy="4821693"/>
              </a:xfrm>
            </p:grpSpPr>
            <p:sp>
              <p:nvSpPr>
                <p:cNvPr id="18" name="矩形 17" descr="6d632f62-b42d-45a6-842d-f2e4dec3d5e9"/>
                <p:cNvSpPr/>
                <p:nvPr/>
              </p:nvSpPr>
              <p:spPr>
                <a:xfrm flipV="1">
                  <a:off x="10692384" y="1"/>
                  <a:ext cx="1499615" cy="1499615"/>
                </a:xfrm>
                <a:prstGeom prst="rect">
                  <a:avLst/>
                </a:prstGeom>
                <a:solidFill>
                  <a:schemeClr val="accent1">
                    <a:alpha val="3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9pPr>
                </a:lstStyle>
                <a:p>
                  <a:pPr lvl="0" algn="ctr"/>
                  <a:endParaRPr lang="zh-CN" altLang="en-US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/>
                  </a:endParaRPr>
                </a:p>
              </p:txBody>
            </p:sp>
            <p:sp>
              <p:nvSpPr>
                <p:cNvPr id="19" name="矩形 18" descr="ae62bfda-9a70-4e7a-a90f-bbc7138912eb"/>
                <p:cNvSpPr/>
                <p:nvPr/>
              </p:nvSpPr>
              <p:spPr>
                <a:xfrm flipV="1">
                  <a:off x="10692384" y="1661040"/>
                  <a:ext cx="1499615" cy="1499615"/>
                </a:xfrm>
                <a:prstGeom prst="rect">
                  <a:avLst/>
                </a:prstGeom>
                <a:solidFill>
                  <a:schemeClr val="accent1">
                    <a:alpha val="1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solidFill>
                      <a:schemeClr val="tx1">
                        <a:lumMod val="95000"/>
                        <a:lumOff val="5000"/>
                      </a:schemeClr>
                    </a:solidFill>
                  </a:endParaRPr>
                </a:p>
              </p:txBody>
            </p:sp>
            <p:sp>
              <p:nvSpPr>
                <p:cNvPr id="20" name="矩形 19" descr="814e7863-4eaa-47d3-8d6a-46d5c71d5677"/>
                <p:cNvSpPr/>
                <p:nvPr/>
              </p:nvSpPr>
              <p:spPr>
                <a:xfrm flipV="1">
                  <a:off x="10692384" y="3322079"/>
                  <a:ext cx="1499615" cy="1499615"/>
                </a:xfrm>
                <a:prstGeom prst="rect">
                  <a:avLst/>
                </a:prstGeom>
                <a:solidFill>
                  <a:schemeClr val="accent1">
                    <a:alpha val="5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solidFill>
                      <a:schemeClr val="tx1">
                        <a:lumMod val="95000"/>
                        <a:lumOff val="5000"/>
                      </a:schemeClr>
                    </a:solidFill>
                  </a:endParaRPr>
                </a:p>
              </p:txBody>
            </p:sp>
            <p:sp>
              <p:nvSpPr>
                <p:cNvPr id="21" name="矩形 20" descr="c6455f8d-b3c4-416c-886f-82555aef9e5b"/>
                <p:cNvSpPr/>
                <p:nvPr/>
              </p:nvSpPr>
              <p:spPr>
                <a:xfrm flipV="1">
                  <a:off x="9013054" y="1"/>
                  <a:ext cx="1499615" cy="1499615"/>
                </a:xfrm>
                <a:prstGeom prst="rect">
                  <a:avLst/>
                </a:prstGeom>
                <a:solidFill>
                  <a:schemeClr val="accent1">
                    <a:alpha val="1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solidFill>
                      <a:schemeClr val="tx1">
                        <a:lumMod val="95000"/>
                        <a:lumOff val="5000"/>
                      </a:schemeClr>
                    </a:solidFill>
                  </a:endParaRPr>
                </a:p>
              </p:txBody>
            </p:sp>
            <p:sp>
              <p:nvSpPr>
                <p:cNvPr id="22" name="矩形 21" descr="f0c9ef45-92a2-4b2a-bde0-15f37676a70c"/>
                <p:cNvSpPr/>
                <p:nvPr/>
              </p:nvSpPr>
              <p:spPr>
                <a:xfrm flipV="1">
                  <a:off x="9013054" y="1661040"/>
                  <a:ext cx="1499615" cy="1499615"/>
                </a:xfrm>
                <a:prstGeom prst="rect">
                  <a:avLst/>
                </a:prstGeom>
                <a:solidFill>
                  <a:schemeClr val="accent1">
                    <a:alpha val="5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solidFill>
                      <a:schemeClr val="tx1">
                        <a:lumMod val="95000"/>
                        <a:lumOff val="5000"/>
                      </a:schemeClr>
                    </a:solidFill>
                  </a:endParaRPr>
                </a:p>
              </p:txBody>
            </p:sp>
            <p:sp>
              <p:nvSpPr>
                <p:cNvPr id="24" name="矩形 23" descr="02fa8984-1d03-42e5-9385-2fefc9138cc2"/>
                <p:cNvSpPr/>
                <p:nvPr/>
              </p:nvSpPr>
              <p:spPr>
                <a:xfrm flipV="1">
                  <a:off x="7333722" y="1"/>
                  <a:ext cx="1499615" cy="1499615"/>
                </a:xfrm>
                <a:prstGeom prst="rect">
                  <a:avLst/>
                </a:prstGeom>
                <a:solidFill>
                  <a:schemeClr val="accent1">
                    <a:alpha val="5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solidFill>
                      <a:schemeClr val="tx1">
                        <a:lumMod val="95000"/>
                        <a:lumOff val="5000"/>
                      </a:schemeClr>
                    </a:solidFill>
                  </a:endParaRPr>
                </a:p>
              </p:txBody>
            </p:sp>
          </p:grpSp>
        </p:grpSp>
      </p:grpSp>
      <p:sp>
        <p:nvSpPr>
          <p:cNvPr id="2" name="标题 1" descr="baf2b80b-57e4-4d15-beeb-6a9091c605b1"/>
          <p:cNvSpPr>
            <a:spLocks noGrp="1"/>
          </p:cNvSpPr>
          <p:nvPr>
            <p:ph type="title" hasCustomPrompt="1"/>
          </p:nvPr>
        </p:nvSpPr>
        <p:spPr>
          <a:xfrm>
            <a:off x="800100" y="1605286"/>
            <a:ext cx="1922161" cy="864515"/>
          </a:xfrm>
          <a:prstGeom prst="rect">
            <a:avLst/>
          </a:prstGeom>
          <a:noFill/>
        </p:spPr>
        <p:txBody>
          <a:bodyPr anchor="t" anchorCtr="0">
            <a:normAutofit/>
          </a:bodyPr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Agenda</a:t>
            </a:r>
            <a:endParaRPr lang="en-US"/>
          </a:p>
        </p:txBody>
      </p:sp>
      <p:sp>
        <p:nvSpPr>
          <p:cNvPr id="3" name="内容占位符 2" descr="4acc17ee-f45d-4ea3-8e6f-afb3430862a9"/>
          <p:cNvSpPr>
            <a:spLocks noGrp="1"/>
          </p:cNvSpPr>
          <p:nvPr>
            <p:ph sz="quarter" idx="1" hasCustomPrompt="1"/>
          </p:nvPr>
        </p:nvSpPr>
        <p:spPr>
          <a:xfrm>
            <a:off x="2970377" y="1605286"/>
            <a:ext cx="8231021" cy="4071936"/>
          </a:xfrm>
        </p:spPr>
        <p:txBody>
          <a:bodyPr numCol="1"/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/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/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zh-CN" altLang="en-US"/>
              <a:t>Click to add text</a:t>
            </a:r>
            <a:endParaRPr lang="en-US"/>
          </a:p>
          <a:p>
            <a:pPr lvl="1"/>
            <a:r>
              <a:rPr lang="zh-CN" altLang="en-US"/>
              <a:t>Second level</a:t>
            </a:r>
            <a:endParaRPr lang="en-US"/>
          </a:p>
          <a:p>
            <a:pPr lvl="2"/>
            <a:r>
              <a:rPr lang="zh-CN" altLang="en-US"/>
              <a:t>Third level</a:t>
            </a:r>
            <a:endParaRPr lang="en-US"/>
          </a:p>
          <a:p>
            <a:pPr lvl="3"/>
            <a:r>
              <a:rPr lang="zh-CN" altLang="en-US"/>
              <a:t>Fourth level</a:t>
            </a:r>
            <a:endParaRPr lang="en-US"/>
          </a:p>
          <a:p>
            <a:pPr lvl="4"/>
            <a:r>
              <a:rPr lang="zh-CN" altLang="en-US"/>
              <a:t>Fifth level</a:t>
            </a:r>
            <a:endParaRPr lang="en-US"/>
          </a:p>
        </p:txBody>
      </p:sp>
      <p:sp>
        <p:nvSpPr>
          <p:cNvPr id="4" name="日期占位符 3" descr="357a9932-0c35-45e4-82b4-8b8fcf2e0bdf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8E8E8E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页脚占位符 4" descr="501fcf73-c647-4274-b824-9fc11697a8de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E8E8E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 descr="c636dc10-765e-4bbc-bdb7-b70f948b525e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8E8E8E"/>
                </a:solidFill>
              </a:defRPr>
            </a:lvl1pPr>
          </a:lstStyle>
          <a:p>
            <a:fld id="{C8BB1146-E542-4D4E-B8E9-6919A11DDD48}" type="slidenum">
              <a:rPr lang="en-US" smtClean="0"/>
            </a:fld>
            <a:endParaRPr lang="en-US"/>
          </a:p>
        </p:txBody>
      </p:sp>
      <p:sp>
        <p:nvSpPr>
          <p:cNvPr id="13" name="任意多边形 12" descr="b0ed1c01-9326-4489-b8bb-26aae4e07666"/>
          <p:cNvSpPr>
            <a:spLocks noChangeAspect="1"/>
          </p:cNvSpPr>
          <p:nvPr/>
        </p:nvSpPr>
        <p:spPr bwMode="auto">
          <a:xfrm>
            <a:off x="1851756" y="4761555"/>
            <a:ext cx="870506" cy="915667"/>
          </a:xfrm>
          <a:custGeom>
            <a:avLst/>
            <a:gdLst>
              <a:gd name="T0" fmla="*/ 3353 w 5127"/>
              <a:gd name="T1" fmla="*/ 1728 h 5401"/>
              <a:gd name="T2" fmla="*/ 2183 w 5127"/>
              <a:gd name="T3" fmla="*/ 1608 h 5401"/>
              <a:gd name="T4" fmla="*/ 3353 w 5127"/>
              <a:gd name="T5" fmla="*/ 1488 h 5401"/>
              <a:gd name="T6" fmla="*/ 3103 w 5127"/>
              <a:gd name="T7" fmla="*/ 2231 h 5401"/>
              <a:gd name="T8" fmla="*/ 3103 w 5127"/>
              <a:gd name="T9" fmla="*/ 1991 h 5401"/>
              <a:gd name="T10" fmla="*/ 2432 w 5127"/>
              <a:gd name="T11" fmla="*/ 2111 h 5401"/>
              <a:gd name="T12" fmla="*/ 3103 w 5127"/>
              <a:gd name="T13" fmla="*/ 2231 h 5401"/>
              <a:gd name="T14" fmla="*/ 3353 w 5127"/>
              <a:gd name="T15" fmla="*/ 2648 h 5401"/>
              <a:gd name="T16" fmla="*/ 2183 w 5127"/>
              <a:gd name="T17" fmla="*/ 2768 h 5401"/>
              <a:gd name="T18" fmla="*/ 3353 w 5127"/>
              <a:gd name="T19" fmla="*/ 2888 h 5401"/>
              <a:gd name="T20" fmla="*/ 2552 w 5127"/>
              <a:gd name="T21" fmla="*/ 3151 h 5401"/>
              <a:gd name="T22" fmla="*/ 2552 w 5127"/>
              <a:gd name="T23" fmla="*/ 3391 h 5401"/>
              <a:gd name="T24" fmla="*/ 3223 w 5127"/>
              <a:gd name="T25" fmla="*/ 3271 h 5401"/>
              <a:gd name="T26" fmla="*/ 2552 w 5127"/>
              <a:gd name="T27" fmla="*/ 3151 h 5401"/>
              <a:gd name="T28" fmla="*/ 4448 w 5127"/>
              <a:gd name="T29" fmla="*/ 1442 h 5401"/>
              <a:gd name="T30" fmla="*/ 4688 w 5127"/>
              <a:gd name="T31" fmla="*/ 1442 h 5401"/>
              <a:gd name="T32" fmla="*/ 3988 w 5127"/>
              <a:gd name="T33" fmla="*/ 0 h 5401"/>
              <a:gd name="T34" fmla="*/ 0 w 5127"/>
              <a:gd name="T35" fmla="*/ 604 h 5401"/>
              <a:gd name="T36" fmla="*/ 120 w 5127"/>
              <a:gd name="T37" fmla="*/ 1792 h 5401"/>
              <a:gd name="T38" fmla="*/ 686 w 5127"/>
              <a:gd name="T39" fmla="*/ 1672 h 5401"/>
              <a:gd name="T40" fmla="*/ 240 w 5127"/>
              <a:gd name="T41" fmla="*/ 1552 h 5401"/>
              <a:gd name="T42" fmla="*/ 604 w 5127"/>
              <a:gd name="T43" fmla="*/ 240 h 5401"/>
              <a:gd name="T44" fmla="*/ 968 w 5127"/>
              <a:gd name="T45" fmla="*/ 4179 h 5401"/>
              <a:gd name="T46" fmla="*/ 3904 w 5127"/>
              <a:gd name="T47" fmla="*/ 4879 h 5401"/>
              <a:gd name="T48" fmla="*/ 3904 w 5127"/>
              <a:gd name="T49" fmla="*/ 4639 h 5401"/>
              <a:gd name="T50" fmla="*/ 1208 w 5127"/>
              <a:gd name="T51" fmla="*/ 4179 h 5401"/>
              <a:gd name="T52" fmla="*/ 1086 w 5127"/>
              <a:gd name="T53" fmla="*/ 240 h 5401"/>
              <a:gd name="T54" fmla="*/ 4448 w 5127"/>
              <a:gd name="T55" fmla="*/ 700 h 5401"/>
              <a:gd name="T56" fmla="*/ 4568 w 5127"/>
              <a:gd name="T57" fmla="*/ 2000 h 5401"/>
              <a:gd name="T58" fmla="*/ 4568 w 5127"/>
              <a:gd name="T59" fmla="*/ 2240 h 5401"/>
              <a:gd name="T60" fmla="*/ 4887 w 5127"/>
              <a:gd name="T61" fmla="*/ 2340 h 5401"/>
              <a:gd name="T62" fmla="*/ 5007 w 5127"/>
              <a:gd name="T63" fmla="*/ 3838 h 5401"/>
              <a:gd name="T64" fmla="*/ 5127 w 5127"/>
              <a:gd name="T65" fmla="*/ 2340 h 5401"/>
              <a:gd name="T66" fmla="*/ 4568 w 5127"/>
              <a:gd name="T67" fmla="*/ 5139 h 5401"/>
              <a:gd name="T68" fmla="*/ 4448 w 5127"/>
              <a:gd name="T69" fmla="*/ 5281 h 5401"/>
              <a:gd name="T70" fmla="*/ 4688 w 5127"/>
              <a:gd name="T71" fmla="*/ 5281 h 5401"/>
              <a:gd name="T72" fmla="*/ 4568 w 5127"/>
              <a:gd name="T73" fmla="*/ 5139 h 5401"/>
              <a:gd name="T74" fmla="*/ 4448 w 5127"/>
              <a:gd name="T75" fmla="*/ 2559 h 5401"/>
              <a:gd name="T76" fmla="*/ 4568 w 5127"/>
              <a:gd name="T77" fmla="*/ 4974 h 5401"/>
              <a:gd name="T78" fmla="*/ 4688 w 5127"/>
              <a:gd name="T79" fmla="*/ 2559 h 5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chemeClr val="tx2">
              <a:alpha val="15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matchingName="Section Header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 descr="4e5c9142-7903-40f2-a5ff-dad13fa0d7dd"/>
          <p:cNvGrpSpPr/>
          <p:nvPr/>
        </p:nvGrpSpPr>
        <p:grpSpPr>
          <a:xfrm flipH="1">
            <a:off x="0" y="0"/>
            <a:ext cx="12192000" cy="6858000"/>
            <a:chOff x="0" y="0"/>
            <a:chExt cx="12192000" cy="6858000"/>
          </a:xfrm>
        </p:grpSpPr>
        <p:pic>
          <p:nvPicPr>
            <p:cNvPr id="15" name="图片 14" descr="818b842f-5ad4-44c4-8830-6d48591722c7"/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945" r="23828" b="13447"/>
            <a:stretch>
              <a:fillRect/>
            </a:stretch>
          </p:blipFill>
          <p:spPr>
            <a:xfrm>
              <a:off x="0" y="0"/>
              <a:ext cx="1219200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</p:spPr>
        </p:pic>
        <p:sp>
          <p:nvSpPr>
            <p:cNvPr id="16" name="任意多边形 15" descr="5c8e690c-babd-4d22-b352-53270978cba1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34000">
                  <a:schemeClr val="accent1">
                    <a:alpha val="80000"/>
                  </a:schemeClr>
                </a:gs>
                <a:gs pos="56000">
                  <a:schemeClr val="accent1">
                    <a:alpha val="0"/>
                  </a:schemeClr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5" name="标题 4" descr="83080c70-41ea-40d2-8fde-221379addbe5"/>
          <p:cNvSpPr>
            <a:spLocks noGrp="1"/>
          </p:cNvSpPr>
          <p:nvPr>
            <p:ph type="title" hasCustomPrompt="1"/>
          </p:nvPr>
        </p:nvSpPr>
        <p:spPr>
          <a:xfrm>
            <a:off x="5970404" y="2384138"/>
            <a:ext cx="5548496" cy="1079200"/>
          </a:xfrm>
          <a:prstGeom prst="rect">
            <a:avLst/>
          </a:prstGeom>
        </p:spPr>
        <p:txBody>
          <a:bodyPr>
            <a:normAutofit/>
          </a:bodyPr>
          <a:lstStyle>
            <a:lvl1pPr algn="r">
              <a:lnSpc>
                <a:spcPct val="100000"/>
              </a:lnSpc>
              <a:defRPr sz="3200"/>
            </a:lvl1pPr>
          </a:lstStyle>
          <a:p>
            <a:pPr lvl="0"/>
            <a:r>
              <a:rPr lang="zh-CN" altLang="en-US"/>
              <a:t>Click to add title</a:t>
            </a:r>
            <a:endParaRPr lang="en-US"/>
          </a:p>
        </p:txBody>
      </p:sp>
      <p:sp>
        <p:nvSpPr>
          <p:cNvPr id="25" name="文本占位符 24" descr="9652841f-892c-4d47-8897-2571d348380e"/>
          <p:cNvSpPr>
            <a:spLocks noGrp="1"/>
          </p:cNvSpPr>
          <p:nvPr>
            <p:ph type="body" sz="quarter" idx="1" hasCustomPrompt="1"/>
          </p:nvPr>
        </p:nvSpPr>
        <p:spPr>
          <a:xfrm>
            <a:off x="5970404" y="3475191"/>
            <a:ext cx="5548496" cy="1677488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r">
              <a:lnSpc>
                <a:spcPct val="120000"/>
              </a:lnSpc>
              <a:buFont typeface="+mj-lt"/>
              <a:buNone/>
              <a:defRPr sz="20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zh-CN" altLang="en-US"/>
              <a:t>Click to add text</a:t>
            </a:r>
            <a:endParaRPr lang="en-US"/>
          </a:p>
        </p:txBody>
      </p:sp>
      <p:sp>
        <p:nvSpPr>
          <p:cNvPr id="4" name="日期占位符 3" descr="10057f11-b006-489b-b45e-9600a07eb10f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7A813-B2FD-42E1-9222-83B574E99074}" type="datetime1">
              <a:rPr lang="zh-CN" altLang="en-US" smtClean="0"/>
            </a:fld>
            <a:endParaRPr lang="en-US" altLang="zh-CN"/>
          </a:p>
        </p:txBody>
      </p:sp>
      <p:sp>
        <p:nvSpPr>
          <p:cNvPr id="6" name="页脚占位符 5" descr="3407f399-2e7d-446f-a94e-bc8de04092a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iSlide</a:t>
            </a:r>
            <a:endParaRPr lang="zh-CN" altLang="en-US"/>
          </a:p>
        </p:txBody>
      </p:sp>
      <p:sp>
        <p:nvSpPr>
          <p:cNvPr id="8" name="灯片编号占位符 7" descr="7d78ddb2-e708-47b6-9b0b-d8c6d072495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</a:fld>
            <a:endParaRPr lang="en-US" altLang="zh-C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6e191eb5-7da3-4a4d-bdfb-9524e0e49c7c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/>
              <a:t>Click to add title</a:t>
            </a:r>
            <a:endParaRPr lang="en-US"/>
          </a:p>
        </p:txBody>
      </p:sp>
      <p:sp>
        <p:nvSpPr>
          <p:cNvPr id="3" name="日期占位符 2" descr="463ae5f2-1018-4af6-8985-c77426adfdc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 descr="1efc8505-f552-4a08-a5e6-bb9318f5e8e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 descr="0987fce5-b3fa-42c2-a629-a68b1647703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 descr="ef9c5f1e-378a-4ab3-9aaa-25f3544972c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页脚占位符 2" descr="f57f66be-05f3-4488-87ea-0c0ee7a53ffb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 descr="bcd0c457-6479-43f4-a233-b46ba240c47e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Closing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 descr="664486a0-d0bf-49fe-8fd2-59e1c4ab0f6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图片 2" descr="d41b388e-75f3-4b4f-b673-b43723f9fc53"/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945" r="23828" b="13447"/>
            <a:stretch>
              <a:fillRect/>
            </a:stretch>
          </p:blipFill>
          <p:spPr>
            <a:xfrm>
              <a:off x="0" y="0"/>
              <a:ext cx="1219200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</p:spPr>
        </p:pic>
        <p:sp>
          <p:nvSpPr>
            <p:cNvPr id="6" name="任意多边形 5" descr="860f4d6b-745d-4a1f-9dbe-4aca0bfd02d9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34000">
                  <a:schemeClr val="accent1">
                    <a:alpha val="80000"/>
                  </a:schemeClr>
                </a:gs>
                <a:gs pos="56000">
                  <a:schemeClr val="accent1">
                    <a:alpha val="0"/>
                  </a:schemeClr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5" name="标题 4" descr="6ddeddb5-c3b9-4371-ba1b-a5124c1bb113"/>
          <p:cNvSpPr>
            <a:spLocks noGrp="1"/>
          </p:cNvSpPr>
          <p:nvPr>
            <p:ph type="title" hasCustomPrompt="1"/>
          </p:nvPr>
        </p:nvSpPr>
        <p:spPr>
          <a:xfrm>
            <a:off x="660400" y="1092200"/>
            <a:ext cx="5754914" cy="2669035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>
              <a:lnSpc>
                <a:spcPct val="100000"/>
              </a:lnSpc>
              <a:defRPr sz="6000">
                <a:ln w="19050"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Click to add title</a:t>
            </a:r>
            <a:endParaRPr lang="en-US"/>
          </a:p>
        </p:txBody>
      </p:sp>
      <p:sp>
        <p:nvSpPr>
          <p:cNvPr id="4" name="文本占位符 3" descr="af6475ff-6126-4277-8a9c-b2924d95e47f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4894118"/>
            <a:ext cx="5754914" cy="276999"/>
          </a:xfrm>
          <a:prstGeom prst="rect">
            <a:avLst/>
          </a:prstGeom>
        </p:spPr>
        <p:txBody>
          <a:bodyPr wrap="square" lIns="90000">
            <a:normAutofit/>
          </a:bodyPr>
          <a:lstStyle>
            <a:lvl1pPr marL="0" indent="0" algn="l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zh-CN" altLang="en-US"/>
              <a:t>Presenter name</a:t>
            </a:r>
            <a:endParaRPr lang="en-US"/>
          </a:p>
        </p:txBody>
      </p:sp>
      <p:sp>
        <p:nvSpPr>
          <p:cNvPr id="7" name="文本占位符 6" descr="d64b8f6e-f412-4bac-abf5-d6e9ee54192c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5171117"/>
            <a:ext cx="5754914" cy="276999"/>
          </a:xfrm>
          <a:prstGeom prst="rect">
            <a:avLst/>
          </a:prstGeom>
        </p:spPr>
        <p:txBody>
          <a:bodyPr wrap="none">
            <a:normAutofit/>
          </a:bodyPr>
          <a:lstStyle>
            <a:lvl1pPr marL="0" indent="0" algn="l">
              <a:lnSpc>
                <a:spcPct val="100000"/>
              </a:lnSpc>
              <a:buNone/>
              <a:defRPr sz="1200"/>
            </a:lvl1pPr>
          </a:lstStyle>
          <a:p>
            <a:pPr lvl="0"/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40000"/>
                <a:lumOff val="60000"/>
              </a:schemeClr>
            </a:gs>
            <a:gs pos="100000">
              <a:schemeClr val="bg1"/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zh-CN" altLang="en-US"/>
              <a:t>Click to add title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Click to add text</a:t>
            </a:r>
            <a:endParaRPr lang="en-US"/>
          </a:p>
          <a:p>
            <a:pPr lvl="1"/>
            <a:r>
              <a:rPr lang="zh-CN" altLang="en-US"/>
              <a:t>Second level</a:t>
            </a:r>
            <a:endParaRPr lang="en-US"/>
          </a:p>
          <a:p>
            <a:pPr lvl="2"/>
            <a:r>
              <a:rPr lang="zh-CN" altLang="en-US"/>
              <a:t>Third level</a:t>
            </a:r>
            <a:endParaRPr lang="en-US"/>
          </a:p>
          <a:p>
            <a:pPr lvl="3"/>
            <a:r>
              <a:rPr lang="zh-CN" altLang="en-US"/>
              <a:t>Fourth level</a:t>
            </a:r>
            <a:endParaRPr lang="en-US"/>
          </a:p>
          <a:p>
            <a:pPr lvl="4"/>
            <a:r>
              <a:rPr lang="zh-CN" altLang="en-US"/>
              <a:t>Fifth level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ransition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6" Type="http://schemas.openxmlformats.org/officeDocument/2006/relationships/slideLayout" Target="../slideLayouts/slideLayout5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image" Target="../media/image3.jpeg"/><Relationship Id="rId13" Type="http://schemas.openxmlformats.org/officeDocument/2006/relationships/slideLayout" Target="../slideLayouts/slideLayout5.xml"/><Relationship Id="rId12" Type="http://schemas.openxmlformats.org/officeDocument/2006/relationships/image" Target="../media/image4.png"/><Relationship Id="rId11" Type="http://schemas.openxmlformats.org/officeDocument/2006/relationships/tags" Target="../tags/tag35.xml"/><Relationship Id="rId10" Type="http://schemas.openxmlformats.org/officeDocument/2006/relationships/tags" Target="../tags/tag34.xml"/><Relationship Id="rId1" Type="http://schemas.openxmlformats.org/officeDocument/2006/relationships/tags" Target="../tags/tag2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.xml"/><Relationship Id="rId8" Type="http://schemas.openxmlformats.org/officeDocument/2006/relationships/tags" Target="../tags/tag43.xml"/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tags" Target="../tags/tag50.xml"/><Relationship Id="rId7" Type="http://schemas.openxmlformats.org/officeDocument/2006/relationships/image" Target="../media/image6.png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5" Type="http://schemas.openxmlformats.org/officeDocument/2006/relationships/slideLayout" Target="../slideLayouts/slideLayout5.xml"/><Relationship Id="rId14" Type="http://schemas.openxmlformats.org/officeDocument/2006/relationships/tags" Target="../tags/tag54.xml"/><Relationship Id="rId13" Type="http://schemas.openxmlformats.org/officeDocument/2006/relationships/tags" Target="../tags/tag53.xml"/><Relationship Id="rId12" Type="http://schemas.openxmlformats.org/officeDocument/2006/relationships/tags" Target="../tags/tag52.xml"/><Relationship Id="rId11" Type="http://schemas.openxmlformats.org/officeDocument/2006/relationships/image" Target="../media/image8.png"/><Relationship Id="rId10" Type="http://schemas.openxmlformats.org/officeDocument/2006/relationships/tags" Target="../tags/tag51.xml"/><Relationship Id="rId1" Type="http://schemas.openxmlformats.org/officeDocument/2006/relationships/tags" Target="../tags/tag44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63.xml"/><Relationship Id="rId8" Type="http://schemas.openxmlformats.org/officeDocument/2006/relationships/tags" Target="../tags/tag62.xml"/><Relationship Id="rId7" Type="http://schemas.openxmlformats.org/officeDocument/2006/relationships/tags" Target="../tags/tag61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4" Type="http://schemas.openxmlformats.org/officeDocument/2006/relationships/slideLayout" Target="../slideLayouts/slideLayout5.xml"/><Relationship Id="rId13" Type="http://schemas.openxmlformats.org/officeDocument/2006/relationships/tags" Target="../tags/tag67.xml"/><Relationship Id="rId12" Type="http://schemas.openxmlformats.org/officeDocument/2006/relationships/tags" Target="../tags/tag66.xml"/><Relationship Id="rId11" Type="http://schemas.openxmlformats.org/officeDocument/2006/relationships/tags" Target="../tags/tag65.xml"/><Relationship Id="rId10" Type="http://schemas.openxmlformats.org/officeDocument/2006/relationships/tags" Target="../tags/tag64.xml"/><Relationship Id="rId1" Type="http://schemas.openxmlformats.org/officeDocument/2006/relationships/tags" Target="../tags/tag55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.xml"/><Relationship Id="rId8" Type="http://schemas.openxmlformats.org/officeDocument/2006/relationships/image" Target="../media/image11.png"/><Relationship Id="rId7" Type="http://schemas.openxmlformats.org/officeDocument/2006/relationships/image" Target="../media/image10.png"/><Relationship Id="rId6" Type="http://schemas.openxmlformats.org/officeDocument/2006/relationships/image" Target="../media/image9.png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tags" Target="../tags/tag6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73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.xml"/><Relationship Id="rId8" Type="http://schemas.openxmlformats.org/officeDocument/2006/relationships/image" Target="../media/image14.png"/><Relationship Id="rId7" Type="http://schemas.openxmlformats.org/officeDocument/2006/relationships/image" Target="../media/image13.png"/><Relationship Id="rId6" Type="http://schemas.openxmlformats.org/officeDocument/2006/relationships/image" Target="../media/image12.png"/><Relationship Id="rId5" Type="http://schemas.openxmlformats.org/officeDocument/2006/relationships/tags" Target="../tags/tag78.xml"/><Relationship Id="rId4" Type="http://schemas.openxmlformats.org/officeDocument/2006/relationships/tags" Target="../tags/tag77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tags" Target="../tags/tag7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.xml"/><Relationship Id="rId8" Type="http://schemas.openxmlformats.org/officeDocument/2006/relationships/image" Target="../media/image15.png"/><Relationship Id="rId7" Type="http://schemas.openxmlformats.org/officeDocument/2006/relationships/tags" Target="../tags/tag85.xml"/><Relationship Id="rId6" Type="http://schemas.openxmlformats.org/officeDocument/2006/relationships/tags" Target="../tags/tag84.xml"/><Relationship Id="rId5" Type="http://schemas.openxmlformats.org/officeDocument/2006/relationships/tags" Target="../tags/tag83.xml"/><Relationship Id="rId4" Type="http://schemas.openxmlformats.org/officeDocument/2006/relationships/tags" Target="../tags/tag82.xml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tags" Target="../tags/tag79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94.xml"/><Relationship Id="rId8" Type="http://schemas.openxmlformats.org/officeDocument/2006/relationships/tags" Target="../tags/tag93.xml"/><Relationship Id="rId7" Type="http://schemas.openxmlformats.org/officeDocument/2006/relationships/tags" Target="../tags/tag92.xml"/><Relationship Id="rId6" Type="http://schemas.openxmlformats.org/officeDocument/2006/relationships/tags" Target="../tags/tag91.xml"/><Relationship Id="rId5" Type="http://schemas.openxmlformats.org/officeDocument/2006/relationships/tags" Target="../tags/tag90.xml"/><Relationship Id="rId4" Type="http://schemas.openxmlformats.org/officeDocument/2006/relationships/tags" Target="../tags/tag89.xml"/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6" Type="http://schemas.openxmlformats.org/officeDocument/2006/relationships/slideLayout" Target="../slideLayouts/slideLayout5.xml"/><Relationship Id="rId15" Type="http://schemas.openxmlformats.org/officeDocument/2006/relationships/image" Target="../media/image16.png"/><Relationship Id="rId14" Type="http://schemas.openxmlformats.org/officeDocument/2006/relationships/tags" Target="../tags/tag99.xml"/><Relationship Id="rId13" Type="http://schemas.openxmlformats.org/officeDocument/2006/relationships/tags" Target="../tags/tag98.xml"/><Relationship Id="rId12" Type="http://schemas.openxmlformats.org/officeDocument/2006/relationships/tags" Target="../tags/tag97.xml"/><Relationship Id="rId11" Type="http://schemas.openxmlformats.org/officeDocument/2006/relationships/tags" Target="../tags/tag96.xml"/><Relationship Id="rId10" Type="http://schemas.openxmlformats.org/officeDocument/2006/relationships/tags" Target="../tags/tag95.xml"/><Relationship Id="rId1" Type="http://schemas.openxmlformats.org/officeDocument/2006/relationships/tags" Target="../tags/tag86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108.xml"/><Relationship Id="rId8" Type="http://schemas.openxmlformats.org/officeDocument/2006/relationships/tags" Target="../tags/tag107.xml"/><Relationship Id="rId7" Type="http://schemas.openxmlformats.org/officeDocument/2006/relationships/tags" Target="../tags/tag106.xml"/><Relationship Id="rId6" Type="http://schemas.openxmlformats.org/officeDocument/2006/relationships/tags" Target="../tags/tag105.xml"/><Relationship Id="rId5" Type="http://schemas.openxmlformats.org/officeDocument/2006/relationships/tags" Target="../tags/tag104.xml"/><Relationship Id="rId4" Type="http://schemas.openxmlformats.org/officeDocument/2006/relationships/tags" Target="../tags/tag103.xml"/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1" Type="http://schemas.openxmlformats.org/officeDocument/2006/relationships/slideLayout" Target="../slideLayouts/slideLayout5.xml"/><Relationship Id="rId10" Type="http://schemas.openxmlformats.org/officeDocument/2006/relationships/image" Target="../media/image17.png"/><Relationship Id="rId1" Type="http://schemas.openxmlformats.org/officeDocument/2006/relationships/tags" Target="../tags/tag10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117.xml"/><Relationship Id="rId8" Type="http://schemas.openxmlformats.org/officeDocument/2006/relationships/tags" Target="../tags/tag116.xml"/><Relationship Id="rId7" Type="http://schemas.openxmlformats.org/officeDocument/2006/relationships/tags" Target="../tags/tag115.xml"/><Relationship Id="rId6" Type="http://schemas.openxmlformats.org/officeDocument/2006/relationships/tags" Target="../tags/tag114.xml"/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1" Type="http://schemas.openxmlformats.org/officeDocument/2006/relationships/slideLayout" Target="../slideLayouts/slideLayout5.xml"/><Relationship Id="rId10" Type="http://schemas.openxmlformats.org/officeDocument/2006/relationships/image" Target="../media/image19.png"/><Relationship Id="rId1" Type="http://schemas.openxmlformats.org/officeDocument/2006/relationships/tags" Target="../tags/tag109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.png"/><Relationship Id="rId8" Type="http://schemas.openxmlformats.org/officeDocument/2006/relationships/image" Target="../media/image20.png"/><Relationship Id="rId7" Type="http://schemas.openxmlformats.org/officeDocument/2006/relationships/tags" Target="../tags/tag124.xml"/><Relationship Id="rId6" Type="http://schemas.openxmlformats.org/officeDocument/2006/relationships/tags" Target="../tags/tag123.xml"/><Relationship Id="rId5" Type="http://schemas.openxmlformats.org/officeDocument/2006/relationships/tags" Target="../tags/tag122.xml"/><Relationship Id="rId4" Type="http://schemas.openxmlformats.org/officeDocument/2006/relationships/tags" Target="../tags/tag121.xml"/><Relationship Id="rId3" Type="http://schemas.openxmlformats.org/officeDocument/2006/relationships/tags" Target="../tags/tag120.xml"/><Relationship Id="rId2" Type="http://schemas.openxmlformats.org/officeDocument/2006/relationships/tags" Target="../tags/tag119.xml"/><Relationship Id="rId10" Type="http://schemas.openxmlformats.org/officeDocument/2006/relationships/slideLayout" Target="../slideLayouts/slideLayout5.xml"/><Relationship Id="rId1" Type="http://schemas.openxmlformats.org/officeDocument/2006/relationships/tags" Target="../tags/tag118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png"/><Relationship Id="rId8" Type="http://schemas.openxmlformats.org/officeDocument/2006/relationships/image" Target="../media/image22.png"/><Relationship Id="rId7" Type="http://schemas.openxmlformats.org/officeDocument/2006/relationships/tags" Target="../tags/tag131.xml"/><Relationship Id="rId6" Type="http://schemas.openxmlformats.org/officeDocument/2006/relationships/tags" Target="../tags/tag130.xml"/><Relationship Id="rId5" Type="http://schemas.openxmlformats.org/officeDocument/2006/relationships/tags" Target="../tags/tag129.xml"/><Relationship Id="rId4" Type="http://schemas.openxmlformats.org/officeDocument/2006/relationships/tags" Target="../tags/tag128.xml"/><Relationship Id="rId3" Type="http://schemas.openxmlformats.org/officeDocument/2006/relationships/tags" Target="../tags/tag127.xml"/><Relationship Id="rId2" Type="http://schemas.openxmlformats.org/officeDocument/2006/relationships/tags" Target="../tags/tag126.xml"/><Relationship Id="rId11" Type="http://schemas.openxmlformats.org/officeDocument/2006/relationships/slideLayout" Target="../slideLayouts/slideLayout5.xml"/><Relationship Id="rId10" Type="http://schemas.openxmlformats.org/officeDocument/2006/relationships/image" Target="../media/image24.png"/><Relationship Id="rId1" Type="http://schemas.openxmlformats.org/officeDocument/2006/relationships/tags" Target="../tags/tag12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5.xml"/><Relationship Id="rId6" Type="http://schemas.openxmlformats.org/officeDocument/2006/relationships/image" Target="../media/image19.png"/><Relationship Id="rId5" Type="http://schemas.openxmlformats.org/officeDocument/2006/relationships/tags" Target="../tags/tag136.xml"/><Relationship Id="rId4" Type="http://schemas.openxmlformats.org/officeDocument/2006/relationships/tags" Target="../tags/tag135.xml"/><Relationship Id="rId3" Type="http://schemas.openxmlformats.org/officeDocument/2006/relationships/tags" Target="../tags/tag134.xml"/><Relationship Id="rId2" Type="http://schemas.openxmlformats.org/officeDocument/2006/relationships/tags" Target="../tags/tag133.xml"/><Relationship Id="rId1" Type="http://schemas.openxmlformats.org/officeDocument/2006/relationships/tags" Target="../tags/tag132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tags" Target="../tags/tag145.xml"/><Relationship Id="rId8" Type="http://schemas.openxmlformats.org/officeDocument/2006/relationships/tags" Target="../tags/tag144.xml"/><Relationship Id="rId7" Type="http://schemas.openxmlformats.org/officeDocument/2006/relationships/tags" Target="../tags/tag143.xml"/><Relationship Id="rId6" Type="http://schemas.openxmlformats.org/officeDocument/2006/relationships/tags" Target="../tags/tag142.xml"/><Relationship Id="rId5" Type="http://schemas.openxmlformats.org/officeDocument/2006/relationships/tags" Target="../tags/tag141.xml"/><Relationship Id="rId4" Type="http://schemas.openxmlformats.org/officeDocument/2006/relationships/tags" Target="../tags/tag140.xml"/><Relationship Id="rId3" Type="http://schemas.openxmlformats.org/officeDocument/2006/relationships/tags" Target="../tags/tag139.xml"/><Relationship Id="rId2" Type="http://schemas.openxmlformats.org/officeDocument/2006/relationships/tags" Target="../tags/tag138.xml"/><Relationship Id="rId10" Type="http://schemas.openxmlformats.org/officeDocument/2006/relationships/slideLayout" Target="../slideLayouts/slideLayout5.xml"/><Relationship Id="rId1" Type="http://schemas.openxmlformats.org/officeDocument/2006/relationships/tags" Target="../tags/tag13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 descr="00b7689f-0a78-4084-90e2-3aecbe84f8a9"/>
          <p:cNvSpPr>
            <a:spLocks noGrp="1"/>
          </p:cNvSpPr>
          <p:nvPr>
            <p:ph type="ctrTitle" hasCustomPrompt="1"/>
          </p:nvPr>
        </p:nvSpPr>
        <p:spPr/>
        <p:txBody>
          <a:bodyPr anchorCtr="0">
            <a:normAutofit fontScale="90000"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思源宋体 CN Heavy"/>
                <a:sym typeface="+mn-ea"/>
              </a:rPr>
              <a:t>数字人文视角下宫崎骏作品核心价值演变</a:t>
            </a:r>
            <a:endParaRPr lang="en-US" sz="5400" b="1" i="0" u="none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思源宋体 CN Heavy"/>
              <a:sym typeface="+mn-ea"/>
            </a:endParaRPr>
          </a:p>
        </p:txBody>
      </p:sp>
      <p:sp>
        <p:nvSpPr>
          <p:cNvPr id="9" name="副标题 8" descr="3c18f0a1-6695-4623-850b-924036250f72"/>
          <p:cNvSpPr>
            <a:spLocks noGrp="1"/>
          </p:cNvSpPr>
          <p:nvPr>
            <p:ph type="subTitle" sz="quarter" idx="1" hasCustomPrompt="1"/>
          </p:nvPr>
        </p:nvSpPr>
        <p:spPr/>
        <p:txBody>
          <a:bodyPr anchorCtr="0">
            <a:noAutofit/>
          </a:bodyPr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28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思源宋体 CN Medium"/>
                <a:sym typeface="+mn-ea"/>
              </a:rPr>
              <a:t>基于12部电影台词的量化分析（1984 - 2023）</a:t>
            </a:r>
            <a:endParaRPr lang="en-US" sz="2800" b="0" i="0" u="none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思源宋体 CN Medium"/>
              <a:sym typeface="+mn-ea"/>
            </a:endParaRPr>
          </a:p>
        </p:txBody>
      </p:sp>
      <p:sp>
        <p:nvSpPr>
          <p:cNvPr id="4" name="文本占位符 3" descr="96d96a06-4155-400a-94ef-ad829f4670bd"/>
          <p:cNvSpPr>
            <a:spLocks noGrp="1"/>
          </p:cNvSpPr>
          <p:nvPr>
            <p:ph type="body" sz="quarter" idx="13" hasCustomPrompt="1"/>
          </p:nvPr>
        </p:nvSpPr>
        <p:spPr/>
        <p:txBody>
          <a:bodyPr anchorCtr="0">
            <a:normAutofit fontScale="90000"/>
          </a:bodyPr>
          <a:lstStyle/>
          <a:p>
            <a:pPr algn="l">
              <a:lnSpc>
                <a:spcPct val="100000"/>
              </a:lnSpc>
              <a:spcBef>
                <a:spcPts val="1000"/>
              </a:spcBef>
            </a:pPr>
            <a:r>
              <a:rPr lang="en-US" sz="1200" b="0" i="0" u="none">
                <a:solidFill>
                  <a:srgbClr val="FFFFFF"/>
                </a:solidFill>
                <a:ea typeface="微软雅黑" panose="020B0503020204020204" charset="-122"/>
              </a:rPr>
              <a:t>报告人</a:t>
            </a:r>
            <a:r>
              <a:rPr lang="zh-CN" altLang="en-US" sz="1200" b="0" i="0" u="none">
                <a:solidFill>
                  <a:srgbClr val="FFFFFF"/>
                </a:solidFill>
                <a:ea typeface="微软雅黑" panose="020B0503020204020204" charset="-122"/>
              </a:rPr>
              <a:t>：江浩东</a:t>
            </a:r>
            <a:endParaRPr lang="zh-CN" altLang="en-US" sz="1200" b="0" i="0" u="none">
              <a:solidFill>
                <a:srgbClr val="FFFFFF"/>
              </a:solidFill>
              <a:ea typeface="微软雅黑" panose="020B0503020204020204" charset="-122"/>
            </a:endParaRPr>
          </a:p>
        </p:txBody>
      </p:sp>
      <p:sp>
        <p:nvSpPr>
          <p:cNvPr id="7" name="文本占位符 6" descr="4abe78ba-333f-4162-af02-cd8f127f62d5"/>
          <p:cNvSpPr>
            <a:spLocks noGrp="1"/>
          </p:cNvSpPr>
          <p:nvPr>
            <p:ph type="body" sz="quarter" idx="14" hasCustomPrompt="1"/>
          </p:nvPr>
        </p:nvSpPr>
        <p:spPr/>
        <p:txBody>
          <a:bodyPr anchorCtr="0">
            <a:normAutofit fontScale="90000"/>
          </a:bodyPr>
          <a:lstStyle/>
          <a:p>
            <a:pPr algn="l">
              <a:lnSpc>
                <a:spcPct val="100000"/>
              </a:lnSpc>
              <a:spcBef>
                <a:spcPts val="1000"/>
              </a:spcBef>
            </a:pPr>
            <a:r>
              <a:rPr lang="en-US">
                <a:latin typeface="微软雅黑" panose="020B0503020204020204" charset="-122"/>
              </a:rPr>
              <a:t>2025.12.16</a:t>
            </a:r>
            <a:endParaRPr lang="en-US">
              <a:latin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1ade6d34-1101-4b1c-9da2-5ec26fd1c49b.source.4.zh-Hans.pptx" descr="5bb49b78-94c3-41e9-9fcc-07d0c739caf4"/>
          <p:cNvGrpSpPr/>
          <p:nvPr>
            <p:custDataLst>
              <p:tags r:id="rId1"/>
            </p:custDataLst>
          </p:nvPr>
        </p:nvGrpSpPr>
        <p:grpSpPr>
          <a:xfrm>
            <a:off x="660400" y="1144996"/>
            <a:ext cx="10875135" cy="5196233"/>
            <a:chOff x="660400" y="1144996"/>
            <a:chExt cx="10875135" cy="5196233"/>
          </a:xfrm>
        </p:grpSpPr>
        <p:sp>
          <p:nvSpPr>
            <p:cNvPr id="98" name="Title" descr="f3a51f4d-e8e2-4253-aecc-14fc5cd5e831"/>
            <p:cNvSpPr>
              <a:spLocks noChangeAspect="1"/>
            </p:cNvSpPr>
            <p:nvPr/>
          </p:nvSpPr>
          <p:spPr>
            <a:xfrm>
              <a:off x="660400" y="1144996"/>
              <a:ext cx="10858500" cy="72006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 algn="ctr"/>
              <a:endParaRPr lang="en-US" sz="4000" b="1" i="0" u="none">
                <a:solidFill>
                  <a:srgbClr val="2F2F2F"/>
                </a:solidFill>
                <a:latin typeface="Arial" panose="020B0604020202020204"/>
              </a:endParaRPr>
            </a:p>
          </p:txBody>
        </p:sp>
        <p:sp>
          <p:nvSpPr>
            <p:cNvPr id="95" name="1" descr="5987a756-5dab-4f1d-bd9c-7b357def61f4"/>
            <p:cNvSpPr/>
            <p:nvPr>
              <p:custDataLst>
                <p:tags r:id="rId2"/>
              </p:custDataLst>
            </p:nvPr>
          </p:nvSpPr>
          <p:spPr>
            <a:xfrm>
              <a:off x="735719" y="3850730"/>
              <a:ext cx="2382111" cy="613662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75000">
                  <a:schemeClr val="accent1"/>
                </a:gs>
              </a:gsLst>
              <a:lin ang="2700000" scaled="1"/>
              <a:tileRect/>
            </a:gradFill>
            <a:ln w="12700">
              <a:noFill/>
            </a:ln>
            <a:effectLst>
              <a:outerShdw blurRad="127000" dist="63500" dir="2700000" algn="tl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 anchorCtr="0">
              <a:noAutofit/>
            </a:bodyPr>
            <a:lstStyle/>
            <a:p>
              <a:pPr algn="ctr"/>
              <a:r>
                <a:rPr lang="en-US" sz="3200" b="1" i="0" u="none">
                  <a:solidFill>
                    <a:srgbClr val="FFFFFF"/>
                  </a:solidFill>
                  <a:latin typeface="Arial" panose="020B0604020202020204"/>
                </a:rPr>
                <a:t>01</a:t>
              </a:r>
              <a:endParaRPr lang="en-US" sz="3200" b="1" i="0" u="none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132" name="矩形: 圆顶角 1" descr="5b64d78d-e9db-400d-adf8-fa10a2f1c80a"/>
            <p:cNvSpPr/>
            <p:nvPr>
              <p:custDataLst>
                <p:tags r:id="rId3"/>
              </p:custDataLst>
            </p:nvPr>
          </p:nvSpPr>
          <p:spPr>
            <a:xfrm flipH="1">
              <a:off x="1554946" y="2032002"/>
              <a:ext cx="2385583" cy="1529156"/>
            </a:xfrm>
            <a:prstGeom prst="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12700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 anchorCtr="0">
              <a:noAutofit/>
            </a:bodyPr>
            <a:lstStyle/>
            <a:p>
              <a:pPr algn="l"/>
            </a:p>
          </p:txBody>
        </p:sp>
        <p:grpSp>
          <p:nvGrpSpPr>
            <p:cNvPr id="6" name="组合 5" descr="faf218a4-a6a7-40df-ab4f-2a5d3fb87d38"/>
            <p:cNvGrpSpPr/>
            <p:nvPr/>
          </p:nvGrpSpPr>
          <p:grpSpPr>
            <a:xfrm>
              <a:off x="771456" y="2188241"/>
              <a:ext cx="3054080" cy="968717"/>
              <a:chOff x="771456" y="2188241"/>
              <a:chExt cx="3054080" cy="968717"/>
            </a:xfrm>
          </p:grpSpPr>
          <p:sp>
            <p:nvSpPr>
              <p:cNvPr id="133" name="Bullet1" descr="18c2551e-978d-465b-bd96-9932bf6312ec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1669942" y="2199462"/>
                <a:ext cx="2155594" cy="9574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/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1800" b="1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研究缘起</a:t>
                </a:r>
                <a:r>
                  <a:rPr lang="zh-CN" altLang="en-US" sz="1800" b="1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与数字切入</a:t>
                </a:r>
                <a:endParaRPr lang="zh-CN" altLang="en-US" sz="1800" b="1" i="0" u="none" strike="noStrik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2" name="IconBackground1" descr="0d035cee-6438-49ce-a9a4-a2d65f78cd0e"/>
              <p:cNvSpPr txBox="1">
                <a:spLocks noChangeAspect="1"/>
              </p:cNvSpPr>
              <p:nvPr>
                <p:custDataLst>
                  <p:tags r:id="rId5"/>
                </p:custDataLst>
              </p:nvPr>
            </p:nvSpPr>
            <p:spPr>
              <a:xfrm>
                <a:off x="771456" y="2188241"/>
                <a:ext cx="681223" cy="681223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12700">
                <a:solidFill>
                  <a:schemeClr val="accent1"/>
                </a:solidFill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 anchorCtr="0">
                <a:normAutofit/>
              </a:bodyPr>
              <a:lstStyle>
                <a:defPPr>
                  <a:defRPr lang="en-US"/>
                </a:defPPr>
                <a:lvl1pPr algn="ctr">
                  <a:defRPr b="1">
                    <a:solidFill>
                      <a:srgbClr val="FFFFFF"/>
                    </a:solidFill>
                    <a:cs typeface="+mn-ea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17" name="Icon1" descr="e8495e06-4072-4171-a9a0-d3342f87c33d"/>
              <p:cNvSpPr/>
              <p:nvPr>
                <p:custDataLst>
                  <p:tags r:id="rId6"/>
                </p:custDataLst>
              </p:nvPr>
            </p:nvSpPr>
            <p:spPr>
              <a:xfrm>
                <a:off x="969370" y="2372437"/>
                <a:ext cx="285393" cy="312830"/>
              </a:xfrm>
              <a:custGeom>
                <a:avLst/>
                <a:gdLst>
                  <a:gd name="connsiteX0" fmla="*/ 248770 w 495300"/>
                  <a:gd name="connsiteY0" fmla="*/ 621 h 542925"/>
                  <a:gd name="connsiteX1" fmla="*/ 496420 w 495300"/>
                  <a:gd name="connsiteY1" fmla="*/ 248271 h 542925"/>
                  <a:gd name="connsiteX2" fmla="*/ 324017 w 495300"/>
                  <a:gd name="connsiteY2" fmla="*/ 484491 h 542925"/>
                  <a:gd name="connsiteX3" fmla="*/ 346877 w 495300"/>
                  <a:gd name="connsiteY3" fmla="*/ 524496 h 542925"/>
                  <a:gd name="connsiteX4" fmla="*/ 420220 w 495300"/>
                  <a:gd name="connsiteY4" fmla="*/ 524496 h 542925"/>
                  <a:gd name="connsiteX5" fmla="*/ 420220 w 495300"/>
                  <a:gd name="connsiteY5" fmla="*/ 543546 h 542925"/>
                  <a:gd name="connsiteX6" fmla="*/ 77320 w 495300"/>
                  <a:gd name="connsiteY6" fmla="*/ 543546 h 542925"/>
                  <a:gd name="connsiteX7" fmla="*/ 77320 w 495300"/>
                  <a:gd name="connsiteY7" fmla="*/ 524496 h 542925"/>
                  <a:gd name="connsiteX8" fmla="*/ 150663 w 495300"/>
                  <a:gd name="connsiteY8" fmla="*/ 524496 h 542925"/>
                  <a:gd name="connsiteX9" fmla="*/ 173523 w 495300"/>
                  <a:gd name="connsiteY9" fmla="*/ 484491 h 542925"/>
                  <a:gd name="connsiteX10" fmla="*/ 1120 w 495300"/>
                  <a:gd name="connsiteY10" fmla="*/ 248271 h 542925"/>
                  <a:gd name="connsiteX11" fmla="*/ 248770 w 495300"/>
                  <a:gd name="connsiteY11" fmla="*/ 621 h 542925"/>
                  <a:gd name="connsiteX12" fmla="*/ 192573 w 495300"/>
                  <a:gd name="connsiteY12" fmla="*/ 489254 h 542925"/>
                  <a:gd name="connsiteX13" fmla="*/ 172570 w 495300"/>
                  <a:gd name="connsiteY13" fmla="*/ 524496 h 542925"/>
                  <a:gd name="connsiteX14" fmla="*/ 324970 w 495300"/>
                  <a:gd name="connsiteY14" fmla="*/ 524496 h 542925"/>
                  <a:gd name="connsiteX15" fmla="*/ 304967 w 495300"/>
                  <a:gd name="connsiteY15" fmla="*/ 489254 h 542925"/>
                  <a:gd name="connsiteX16" fmla="*/ 248770 w 495300"/>
                  <a:gd name="connsiteY16" fmla="*/ 495921 h 542925"/>
                  <a:gd name="connsiteX17" fmla="*/ 192573 w 495300"/>
                  <a:gd name="connsiteY17" fmla="*/ 489254 h 542925"/>
                  <a:gd name="connsiteX18" fmla="*/ 248770 w 495300"/>
                  <a:gd name="connsiteY18" fmla="*/ 143496 h 542925"/>
                  <a:gd name="connsiteX19" fmla="*/ 143995 w 495300"/>
                  <a:gd name="connsiteY19" fmla="*/ 248271 h 542925"/>
                  <a:gd name="connsiteX20" fmla="*/ 248770 w 495300"/>
                  <a:gd name="connsiteY20" fmla="*/ 353046 h 542925"/>
                  <a:gd name="connsiteX21" fmla="*/ 353545 w 495300"/>
                  <a:gd name="connsiteY21" fmla="*/ 248271 h 542925"/>
                  <a:gd name="connsiteX22" fmla="*/ 248770 w 495300"/>
                  <a:gd name="connsiteY22" fmla="*/ 143496 h 542925"/>
                  <a:gd name="connsiteX23" fmla="*/ 367833 w 495300"/>
                  <a:gd name="connsiteY23" fmla="*/ 114921 h 542925"/>
                  <a:gd name="connsiteX24" fmla="*/ 353545 w 495300"/>
                  <a:gd name="connsiteY24" fmla="*/ 129209 h 542925"/>
                  <a:gd name="connsiteX25" fmla="*/ 367833 w 495300"/>
                  <a:gd name="connsiteY25" fmla="*/ 143496 h 542925"/>
                  <a:gd name="connsiteX26" fmla="*/ 382120 w 495300"/>
                  <a:gd name="connsiteY26" fmla="*/ 129209 h 542925"/>
                  <a:gd name="connsiteX27" fmla="*/ 367833 w 495300"/>
                  <a:gd name="connsiteY27" fmla="*/ 114921 h 542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95300" h="542925">
                    <a:moveTo>
                      <a:pt x="248770" y="621"/>
                    </a:moveTo>
                    <a:cubicBezTo>
                      <a:pt x="385930" y="621"/>
                      <a:pt x="496420" y="111111"/>
                      <a:pt x="496420" y="248271"/>
                    </a:cubicBezTo>
                    <a:cubicBezTo>
                      <a:pt x="496420" y="358761"/>
                      <a:pt x="424030" y="452106"/>
                      <a:pt x="324017" y="484491"/>
                    </a:cubicBezTo>
                    <a:lnTo>
                      <a:pt x="346877" y="524496"/>
                    </a:lnTo>
                    <a:lnTo>
                      <a:pt x="420220" y="524496"/>
                    </a:lnTo>
                    <a:lnTo>
                      <a:pt x="420220" y="543546"/>
                    </a:lnTo>
                    <a:lnTo>
                      <a:pt x="77320" y="543546"/>
                    </a:lnTo>
                    <a:lnTo>
                      <a:pt x="77320" y="524496"/>
                    </a:lnTo>
                    <a:lnTo>
                      <a:pt x="150663" y="524496"/>
                    </a:lnTo>
                    <a:lnTo>
                      <a:pt x="173523" y="484491"/>
                    </a:lnTo>
                    <a:cubicBezTo>
                      <a:pt x="73510" y="453059"/>
                      <a:pt x="1120" y="358761"/>
                      <a:pt x="1120" y="248271"/>
                    </a:cubicBezTo>
                    <a:cubicBezTo>
                      <a:pt x="1120" y="111111"/>
                      <a:pt x="111610" y="621"/>
                      <a:pt x="248770" y="621"/>
                    </a:cubicBezTo>
                    <a:close/>
                    <a:moveTo>
                      <a:pt x="192573" y="489254"/>
                    </a:moveTo>
                    <a:lnTo>
                      <a:pt x="172570" y="524496"/>
                    </a:lnTo>
                    <a:lnTo>
                      <a:pt x="324970" y="524496"/>
                    </a:lnTo>
                    <a:lnTo>
                      <a:pt x="304967" y="489254"/>
                    </a:lnTo>
                    <a:cubicBezTo>
                      <a:pt x="286870" y="493064"/>
                      <a:pt x="267820" y="495921"/>
                      <a:pt x="248770" y="495921"/>
                    </a:cubicBezTo>
                    <a:cubicBezTo>
                      <a:pt x="229720" y="495921"/>
                      <a:pt x="210670" y="493064"/>
                      <a:pt x="192573" y="489254"/>
                    </a:cubicBezTo>
                    <a:close/>
                    <a:moveTo>
                      <a:pt x="248770" y="143496"/>
                    </a:moveTo>
                    <a:cubicBezTo>
                      <a:pt x="190667" y="143496"/>
                      <a:pt x="143995" y="190169"/>
                      <a:pt x="143995" y="248271"/>
                    </a:cubicBezTo>
                    <a:cubicBezTo>
                      <a:pt x="143995" y="306374"/>
                      <a:pt x="190667" y="353046"/>
                      <a:pt x="248770" y="353046"/>
                    </a:cubicBezTo>
                    <a:cubicBezTo>
                      <a:pt x="306873" y="353046"/>
                      <a:pt x="353545" y="306374"/>
                      <a:pt x="353545" y="248271"/>
                    </a:cubicBezTo>
                    <a:cubicBezTo>
                      <a:pt x="353545" y="190169"/>
                      <a:pt x="306873" y="143496"/>
                      <a:pt x="248770" y="143496"/>
                    </a:cubicBezTo>
                    <a:close/>
                    <a:moveTo>
                      <a:pt x="367833" y="114921"/>
                    </a:moveTo>
                    <a:cubicBezTo>
                      <a:pt x="360213" y="114921"/>
                      <a:pt x="353545" y="121589"/>
                      <a:pt x="353545" y="129209"/>
                    </a:cubicBezTo>
                    <a:cubicBezTo>
                      <a:pt x="353545" y="136829"/>
                      <a:pt x="360213" y="143496"/>
                      <a:pt x="367833" y="143496"/>
                    </a:cubicBezTo>
                    <a:cubicBezTo>
                      <a:pt x="375452" y="143496"/>
                      <a:pt x="382120" y="136829"/>
                      <a:pt x="382120" y="129209"/>
                    </a:cubicBezTo>
                    <a:cubicBezTo>
                      <a:pt x="382120" y="121589"/>
                      <a:pt x="375452" y="114921"/>
                      <a:pt x="367833" y="11492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 anchorCtr="0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</a:p>
            </p:txBody>
          </p:sp>
        </p:grpSp>
        <p:cxnSp>
          <p:nvCxnSpPr>
            <p:cNvPr id="144" name="直线连接符 143" descr="ed868159-347d-423d-ab1a-76b0dc9fb7da"/>
            <p:cNvCxnSpPr>
              <a:stCxn id="116" idx="2"/>
            </p:cNvCxnSpPr>
            <p:nvPr>
              <p:custDataLst>
                <p:tags r:id="rId7"/>
              </p:custDataLst>
            </p:nvPr>
          </p:nvCxnSpPr>
          <p:spPr>
            <a:xfrm flipH="1">
              <a:off x="1112066" y="2869464"/>
              <a:ext cx="2" cy="97545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2" descr="3688fb27-15e0-4075-9450-a8dbe0da7d96"/>
            <p:cNvSpPr/>
            <p:nvPr>
              <p:custDataLst>
                <p:tags r:id="rId8"/>
              </p:custDataLst>
            </p:nvPr>
          </p:nvSpPr>
          <p:spPr>
            <a:xfrm>
              <a:off x="3214146" y="3851208"/>
              <a:ext cx="2475142" cy="613662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lumMod val="60000"/>
                    <a:lumOff val="40000"/>
                  </a:schemeClr>
                </a:gs>
                <a:gs pos="75000">
                  <a:schemeClr val="accent2"/>
                </a:gs>
              </a:gsLst>
              <a:lin ang="2700000" scaled="1"/>
              <a:tileRect/>
            </a:gradFill>
            <a:ln w="12700">
              <a:noFill/>
            </a:ln>
            <a:effectLst>
              <a:outerShdw blurRad="127000" dist="63500" dir="2700000" algn="tl" rotWithShape="0">
                <a:schemeClr val="accent2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 anchorCtr="0">
              <a:noAutofit/>
            </a:bodyPr>
            <a:lstStyle/>
            <a:p>
              <a:pPr algn="ctr"/>
              <a:r>
                <a:rPr lang="en-US" sz="3200" b="1" i="0" u="none">
                  <a:solidFill>
                    <a:srgbClr val="FFFFFF"/>
                  </a:solidFill>
                  <a:latin typeface="Arial" panose="020B0604020202020204"/>
                </a:rPr>
                <a:t>02</a:t>
              </a:r>
              <a:endParaRPr lang="en-US" sz="3200" b="1" i="0" u="none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128" name="矩形: 圆顶角 1" descr="77a762db-14eb-4d15-90af-8267ac098f68"/>
            <p:cNvSpPr/>
            <p:nvPr>
              <p:custDataLst>
                <p:tags r:id="rId9"/>
              </p:custDataLst>
            </p:nvPr>
          </p:nvSpPr>
          <p:spPr>
            <a:xfrm flipH="1">
              <a:off x="4086615" y="4812073"/>
              <a:ext cx="2385583" cy="1529156"/>
            </a:xfrm>
            <a:prstGeom prst="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12700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 anchorCtr="0">
              <a:noAutofit/>
            </a:bodyPr>
            <a:lstStyle/>
            <a:p>
              <a:pPr algn="l"/>
            </a:p>
          </p:txBody>
        </p:sp>
        <p:grpSp>
          <p:nvGrpSpPr>
            <p:cNvPr id="7" name="组合 6" descr="ea9005b9-0eaa-457e-96ec-7192128e5b92"/>
            <p:cNvGrpSpPr/>
            <p:nvPr/>
          </p:nvGrpSpPr>
          <p:grpSpPr>
            <a:xfrm>
              <a:off x="3299991" y="4979533"/>
              <a:ext cx="3057216" cy="1147179"/>
              <a:chOff x="3299991" y="4979533"/>
              <a:chExt cx="3057216" cy="1147179"/>
            </a:xfrm>
          </p:grpSpPr>
          <p:sp>
            <p:nvSpPr>
              <p:cNvPr id="129" name="Bullet2" descr="847b1ba9-a94b-4bc1-8ce4-308638eff365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4201613" y="4979533"/>
                <a:ext cx="2155594" cy="9574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/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1800" b="1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数据采集与分析</a:t>
                </a:r>
                <a:r>
                  <a:rPr lang="zh-CN" altLang="en-US" sz="1800" b="1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方法</a:t>
                </a:r>
                <a:endParaRPr lang="zh-CN" altLang="en-US" sz="1800" b="1" i="0" u="none" strike="noStrik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3" name="IconBackground2" descr="bdcb311f-0194-4e15-abfb-4e60e3c8072f"/>
              <p:cNvSpPr txBox="1">
                <a:spLocks noChangeAspect="1"/>
              </p:cNvSpPr>
              <p:nvPr>
                <p:custDataLst>
                  <p:tags r:id="rId11"/>
                </p:custDataLst>
              </p:nvPr>
            </p:nvSpPr>
            <p:spPr>
              <a:xfrm>
                <a:off x="3299991" y="5445489"/>
                <a:ext cx="681223" cy="681223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75000">
                    <a:schemeClr val="accent2"/>
                  </a:gs>
                </a:gsLst>
                <a:lin ang="2700000" scaled="1"/>
                <a:tileRect/>
              </a:gradFill>
              <a:ln w="12700">
                <a:solidFill>
                  <a:schemeClr val="accent2"/>
                </a:solidFill>
              </a:ln>
              <a:effectLst>
                <a:outerShdw blurRad="127000" dist="63500" dir="2700000" algn="tl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 anchorCtr="0">
                <a:normAutofit/>
              </a:bodyPr>
              <a:lstStyle>
                <a:defPPr>
                  <a:defRPr lang="en-US"/>
                </a:defPPr>
                <a:lvl1pPr algn="ctr">
                  <a:defRPr b="1">
                    <a:solidFill>
                      <a:srgbClr val="FFFFFF"/>
                    </a:solidFill>
                    <a:cs typeface="+mn-ea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15" name="Icon2" descr="c6931fec-99c6-49cf-91e4-998b515d93d5"/>
              <p:cNvSpPr/>
              <p:nvPr>
                <p:custDataLst>
                  <p:tags r:id="rId12"/>
                </p:custDataLst>
              </p:nvPr>
            </p:nvSpPr>
            <p:spPr>
              <a:xfrm>
                <a:off x="3497905" y="5635174"/>
                <a:ext cx="285393" cy="301856"/>
              </a:xfrm>
              <a:custGeom>
                <a:avLst/>
                <a:gdLst>
                  <a:gd name="connsiteX0" fmla="*/ 371955 w 495300"/>
                  <a:gd name="connsiteY0" fmla="*/ 621 h 523875"/>
                  <a:gd name="connsiteX1" fmla="*/ 400530 w 495300"/>
                  <a:gd name="connsiteY1" fmla="*/ 29196 h 523875"/>
                  <a:gd name="connsiteX2" fmla="*/ 400530 w 495300"/>
                  <a:gd name="connsiteY2" fmla="*/ 133971 h 523875"/>
                  <a:gd name="connsiteX3" fmla="*/ 371955 w 495300"/>
                  <a:gd name="connsiteY3" fmla="*/ 162546 h 523875"/>
                  <a:gd name="connsiteX4" fmla="*/ 257655 w 495300"/>
                  <a:gd name="connsiteY4" fmla="*/ 162546 h 523875"/>
                  <a:gd name="connsiteX5" fmla="*/ 257655 w 495300"/>
                  <a:gd name="connsiteY5" fmla="*/ 286371 h 523875"/>
                  <a:gd name="connsiteX6" fmla="*/ 419580 w 495300"/>
                  <a:gd name="connsiteY6" fmla="*/ 286371 h 523875"/>
                  <a:gd name="connsiteX7" fmla="*/ 457680 w 495300"/>
                  <a:gd name="connsiteY7" fmla="*/ 322566 h 523875"/>
                  <a:gd name="connsiteX8" fmla="*/ 457680 w 495300"/>
                  <a:gd name="connsiteY8" fmla="*/ 324471 h 523875"/>
                  <a:gd name="connsiteX9" fmla="*/ 457680 w 495300"/>
                  <a:gd name="connsiteY9" fmla="*/ 429246 h 523875"/>
                  <a:gd name="connsiteX10" fmla="*/ 476730 w 495300"/>
                  <a:gd name="connsiteY10" fmla="*/ 429246 h 523875"/>
                  <a:gd name="connsiteX11" fmla="*/ 495780 w 495300"/>
                  <a:gd name="connsiteY11" fmla="*/ 448296 h 523875"/>
                  <a:gd name="connsiteX12" fmla="*/ 495780 w 495300"/>
                  <a:gd name="connsiteY12" fmla="*/ 505446 h 523875"/>
                  <a:gd name="connsiteX13" fmla="*/ 476730 w 495300"/>
                  <a:gd name="connsiteY13" fmla="*/ 524496 h 523875"/>
                  <a:gd name="connsiteX14" fmla="*/ 419580 w 495300"/>
                  <a:gd name="connsiteY14" fmla="*/ 524496 h 523875"/>
                  <a:gd name="connsiteX15" fmla="*/ 400530 w 495300"/>
                  <a:gd name="connsiteY15" fmla="*/ 505446 h 523875"/>
                  <a:gd name="connsiteX16" fmla="*/ 400530 w 495300"/>
                  <a:gd name="connsiteY16" fmla="*/ 448296 h 523875"/>
                  <a:gd name="connsiteX17" fmla="*/ 419580 w 495300"/>
                  <a:gd name="connsiteY17" fmla="*/ 429246 h 523875"/>
                  <a:gd name="connsiteX18" fmla="*/ 438630 w 495300"/>
                  <a:gd name="connsiteY18" fmla="*/ 429246 h 523875"/>
                  <a:gd name="connsiteX19" fmla="*/ 438630 w 495300"/>
                  <a:gd name="connsiteY19" fmla="*/ 324471 h 523875"/>
                  <a:gd name="connsiteX20" fmla="*/ 420533 w 495300"/>
                  <a:gd name="connsiteY20" fmla="*/ 305421 h 523875"/>
                  <a:gd name="connsiteX21" fmla="*/ 419580 w 495300"/>
                  <a:gd name="connsiteY21" fmla="*/ 305421 h 523875"/>
                  <a:gd name="connsiteX22" fmla="*/ 257655 w 495300"/>
                  <a:gd name="connsiteY22" fmla="*/ 305421 h 523875"/>
                  <a:gd name="connsiteX23" fmla="*/ 257655 w 495300"/>
                  <a:gd name="connsiteY23" fmla="*/ 429246 h 523875"/>
                  <a:gd name="connsiteX24" fmla="*/ 276705 w 495300"/>
                  <a:gd name="connsiteY24" fmla="*/ 429246 h 523875"/>
                  <a:gd name="connsiteX25" fmla="*/ 295755 w 495300"/>
                  <a:gd name="connsiteY25" fmla="*/ 448296 h 523875"/>
                  <a:gd name="connsiteX26" fmla="*/ 295755 w 495300"/>
                  <a:gd name="connsiteY26" fmla="*/ 505446 h 523875"/>
                  <a:gd name="connsiteX27" fmla="*/ 276705 w 495300"/>
                  <a:gd name="connsiteY27" fmla="*/ 524496 h 523875"/>
                  <a:gd name="connsiteX28" fmla="*/ 219555 w 495300"/>
                  <a:gd name="connsiteY28" fmla="*/ 524496 h 523875"/>
                  <a:gd name="connsiteX29" fmla="*/ 200505 w 495300"/>
                  <a:gd name="connsiteY29" fmla="*/ 505446 h 523875"/>
                  <a:gd name="connsiteX30" fmla="*/ 200505 w 495300"/>
                  <a:gd name="connsiteY30" fmla="*/ 448296 h 523875"/>
                  <a:gd name="connsiteX31" fmla="*/ 219555 w 495300"/>
                  <a:gd name="connsiteY31" fmla="*/ 429246 h 523875"/>
                  <a:gd name="connsiteX32" fmla="*/ 238605 w 495300"/>
                  <a:gd name="connsiteY32" fmla="*/ 429246 h 523875"/>
                  <a:gd name="connsiteX33" fmla="*/ 238605 w 495300"/>
                  <a:gd name="connsiteY33" fmla="*/ 305421 h 523875"/>
                  <a:gd name="connsiteX34" fmla="*/ 76680 w 495300"/>
                  <a:gd name="connsiteY34" fmla="*/ 305421 h 523875"/>
                  <a:gd name="connsiteX35" fmla="*/ 57630 w 495300"/>
                  <a:gd name="connsiteY35" fmla="*/ 323519 h 523875"/>
                  <a:gd name="connsiteX36" fmla="*/ 57630 w 495300"/>
                  <a:gd name="connsiteY36" fmla="*/ 324471 h 523875"/>
                  <a:gd name="connsiteX37" fmla="*/ 57630 w 495300"/>
                  <a:gd name="connsiteY37" fmla="*/ 429246 h 523875"/>
                  <a:gd name="connsiteX38" fmla="*/ 76680 w 495300"/>
                  <a:gd name="connsiteY38" fmla="*/ 429246 h 523875"/>
                  <a:gd name="connsiteX39" fmla="*/ 95730 w 495300"/>
                  <a:gd name="connsiteY39" fmla="*/ 448296 h 523875"/>
                  <a:gd name="connsiteX40" fmla="*/ 95730 w 495300"/>
                  <a:gd name="connsiteY40" fmla="*/ 505446 h 523875"/>
                  <a:gd name="connsiteX41" fmla="*/ 76680 w 495300"/>
                  <a:gd name="connsiteY41" fmla="*/ 524496 h 523875"/>
                  <a:gd name="connsiteX42" fmla="*/ 19530 w 495300"/>
                  <a:gd name="connsiteY42" fmla="*/ 524496 h 523875"/>
                  <a:gd name="connsiteX43" fmla="*/ 480 w 495300"/>
                  <a:gd name="connsiteY43" fmla="*/ 505446 h 523875"/>
                  <a:gd name="connsiteX44" fmla="*/ 480 w 495300"/>
                  <a:gd name="connsiteY44" fmla="*/ 448296 h 523875"/>
                  <a:gd name="connsiteX45" fmla="*/ 19530 w 495300"/>
                  <a:gd name="connsiteY45" fmla="*/ 429246 h 523875"/>
                  <a:gd name="connsiteX46" fmla="*/ 38580 w 495300"/>
                  <a:gd name="connsiteY46" fmla="*/ 429246 h 523875"/>
                  <a:gd name="connsiteX47" fmla="*/ 38580 w 495300"/>
                  <a:gd name="connsiteY47" fmla="*/ 324471 h 523875"/>
                  <a:gd name="connsiteX48" fmla="*/ 74775 w 495300"/>
                  <a:gd name="connsiteY48" fmla="*/ 286371 h 523875"/>
                  <a:gd name="connsiteX49" fmla="*/ 76680 w 495300"/>
                  <a:gd name="connsiteY49" fmla="*/ 286371 h 523875"/>
                  <a:gd name="connsiteX50" fmla="*/ 238605 w 495300"/>
                  <a:gd name="connsiteY50" fmla="*/ 286371 h 523875"/>
                  <a:gd name="connsiteX51" fmla="*/ 238605 w 495300"/>
                  <a:gd name="connsiteY51" fmla="*/ 162546 h 523875"/>
                  <a:gd name="connsiteX52" fmla="*/ 124305 w 495300"/>
                  <a:gd name="connsiteY52" fmla="*/ 162546 h 523875"/>
                  <a:gd name="connsiteX53" fmla="*/ 95730 w 495300"/>
                  <a:gd name="connsiteY53" fmla="*/ 133971 h 523875"/>
                  <a:gd name="connsiteX54" fmla="*/ 95730 w 495300"/>
                  <a:gd name="connsiteY54" fmla="*/ 29196 h 523875"/>
                  <a:gd name="connsiteX55" fmla="*/ 124305 w 495300"/>
                  <a:gd name="connsiteY55" fmla="*/ 621 h 523875"/>
                  <a:gd name="connsiteX56" fmla="*/ 371955 w 495300"/>
                  <a:gd name="connsiteY56" fmla="*/ 621 h 523875"/>
                  <a:gd name="connsiteX57" fmla="*/ 148118 w 495300"/>
                  <a:gd name="connsiteY57" fmla="*/ 95871 h 523875"/>
                  <a:gd name="connsiteX58" fmla="*/ 133830 w 495300"/>
                  <a:gd name="connsiteY58" fmla="*/ 110159 h 523875"/>
                  <a:gd name="connsiteX59" fmla="*/ 148118 w 495300"/>
                  <a:gd name="connsiteY59" fmla="*/ 124446 h 523875"/>
                  <a:gd name="connsiteX60" fmla="*/ 162405 w 495300"/>
                  <a:gd name="connsiteY60" fmla="*/ 110159 h 523875"/>
                  <a:gd name="connsiteX61" fmla="*/ 148118 w 495300"/>
                  <a:gd name="connsiteY61" fmla="*/ 95871 h 523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</a:cxnLst>
                <a:rect l="l" t="t" r="r" b="b"/>
                <a:pathLst>
                  <a:path w="495300" h="523875">
                    <a:moveTo>
                      <a:pt x="371955" y="621"/>
                    </a:moveTo>
                    <a:cubicBezTo>
                      <a:pt x="388148" y="621"/>
                      <a:pt x="400530" y="13004"/>
                      <a:pt x="400530" y="29196"/>
                    </a:cubicBezTo>
                    <a:lnTo>
                      <a:pt x="400530" y="133971"/>
                    </a:lnTo>
                    <a:cubicBezTo>
                      <a:pt x="400530" y="150164"/>
                      <a:pt x="388148" y="162546"/>
                      <a:pt x="371955" y="162546"/>
                    </a:cubicBezTo>
                    <a:lnTo>
                      <a:pt x="257655" y="162546"/>
                    </a:lnTo>
                    <a:lnTo>
                      <a:pt x="257655" y="286371"/>
                    </a:lnTo>
                    <a:lnTo>
                      <a:pt x="419580" y="286371"/>
                    </a:lnTo>
                    <a:cubicBezTo>
                      <a:pt x="439583" y="286371"/>
                      <a:pt x="456727" y="302564"/>
                      <a:pt x="457680" y="322566"/>
                    </a:cubicBezTo>
                    <a:lnTo>
                      <a:pt x="457680" y="324471"/>
                    </a:lnTo>
                    <a:lnTo>
                      <a:pt x="457680" y="429246"/>
                    </a:lnTo>
                    <a:lnTo>
                      <a:pt x="476730" y="429246"/>
                    </a:lnTo>
                    <a:cubicBezTo>
                      <a:pt x="487208" y="429246"/>
                      <a:pt x="495780" y="437819"/>
                      <a:pt x="495780" y="448296"/>
                    </a:cubicBezTo>
                    <a:lnTo>
                      <a:pt x="495780" y="505446"/>
                    </a:lnTo>
                    <a:cubicBezTo>
                      <a:pt x="495780" y="515924"/>
                      <a:pt x="487208" y="524496"/>
                      <a:pt x="476730" y="524496"/>
                    </a:cubicBezTo>
                    <a:lnTo>
                      <a:pt x="419580" y="524496"/>
                    </a:lnTo>
                    <a:cubicBezTo>
                      <a:pt x="409102" y="524496"/>
                      <a:pt x="400530" y="515924"/>
                      <a:pt x="400530" y="505446"/>
                    </a:cubicBezTo>
                    <a:lnTo>
                      <a:pt x="400530" y="448296"/>
                    </a:lnTo>
                    <a:cubicBezTo>
                      <a:pt x="400530" y="437819"/>
                      <a:pt x="409102" y="429246"/>
                      <a:pt x="419580" y="429246"/>
                    </a:cubicBezTo>
                    <a:lnTo>
                      <a:pt x="438630" y="429246"/>
                    </a:lnTo>
                    <a:lnTo>
                      <a:pt x="438630" y="324471"/>
                    </a:lnTo>
                    <a:cubicBezTo>
                      <a:pt x="438630" y="313994"/>
                      <a:pt x="431010" y="306374"/>
                      <a:pt x="420533" y="305421"/>
                    </a:cubicBezTo>
                    <a:lnTo>
                      <a:pt x="419580" y="305421"/>
                    </a:lnTo>
                    <a:lnTo>
                      <a:pt x="257655" y="305421"/>
                    </a:lnTo>
                    <a:lnTo>
                      <a:pt x="257655" y="429246"/>
                    </a:lnTo>
                    <a:lnTo>
                      <a:pt x="276705" y="429246"/>
                    </a:lnTo>
                    <a:cubicBezTo>
                      <a:pt x="287183" y="429246"/>
                      <a:pt x="295755" y="437819"/>
                      <a:pt x="295755" y="448296"/>
                    </a:cubicBezTo>
                    <a:lnTo>
                      <a:pt x="295755" y="505446"/>
                    </a:lnTo>
                    <a:cubicBezTo>
                      <a:pt x="295755" y="515924"/>
                      <a:pt x="287183" y="524496"/>
                      <a:pt x="276705" y="524496"/>
                    </a:cubicBezTo>
                    <a:lnTo>
                      <a:pt x="219555" y="524496"/>
                    </a:lnTo>
                    <a:cubicBezTo>
                      <a:pt x="209077" y="524496"/>
                      <a:pt x="200505" y="515924"/>
                      <a:pt x="200505" y="505446"/>
                    </a:cubicBezTo>
                    <a:lnTo>
                      <a:pt x="200505" y="448296"/>
                    </a:lnTo>
                    <a:cubicBezTo>
                      <a:pt x="200505" y="437819"/>
                      <a:pt x="209077" y="429246"/>
                      <a:pt x="219555" y="429246"/>
                    </a:cubicBezTo>
                    <a:lnTo>
                      <a:pt x="238605" y="429246"/>
                    </a:lnTo>
                    <a:lnTo>
                      <a:pt x="238605" y="305421"/>
                    </a:lnTo>
                    <a:lnTo>
                      <a:pt x="76680" y="305421"/>
                    </a:lnTo>
                    <a:cubicBezTo>
                      <a:pt x="66202" y="305421"/>
                      <a:pt x="58583" y="313041"/>
                      <a:pt x="57630" y="323519"/>
                    </a:cubicBezTo>
                    <a:lnTo>
                      <a:pt x="57630" y="324471"/>
                    </a:lnTo>
                    <a:lnTo>
                      <a:pt x="57630" y="429246"/>
                    </a:lnTo>
                    <a:lnTo>
                      <a:pt x="76680" y="429246"/>
                    </a:lnTo>
                    <a:cubicBezTo>
                      <a:pt x="87158" y="429246"/>
                      <a:pt x="95730" y="437819"/>
                      <a:pt x="95730" y="448296"/>
                    </a:cubicBezTo>
                    <a:lnTo>
                      <a:pt x="95730" y="505446"/>
                    </a:lnTo>
                    <a:cubicBezTo>
                      <a:pt x="95730" y="515924"/>
                      <a:pt x="87158" y="524496"/>
                      <a:pt x="76680" y="524496"/>
                    </a:cubicBezTo>
                    <a:lnTo>
                      <a:pt x="19530" y="524496"/>
                    </a:lnTo>
                    <a:cubicBezTo>
                      <a:pt x="9052" y="524496"/>
                      <a:pt x="480" y="515924"/>
                      <a:pt x="480" y="505446"/>
                    </a:cubicBezTo>
                    <a:lnTo>
                      <a:pt x="480" y="448296"/>
                    </a:lnTo>
                    <a:cubicBezTo>
                      <a:pt x="480" y="437819"/>
                      <a:pt x="9052" y="429246"/>
                      <a:pt x="19530" y="429246"/>
                    </a:cubicBezTo>
                    <a:lnTo>
                      <a:pt x="38580" y="429246"/>
                    </a:lnTo>
                    <a:lnTo>
                      <a:pt x="38580" y="324471"/>
                    </a:lnTo>
                    <a:cubicBezTo>
                      <a:pt x="38580" y="304469"/>
                      <a:pt x="54773" y="287324"/>
                      <a:pt x="74775" y="286371"/>
                    </a:cubicBezTo>
                    <a:lnTo>
                      <a:pt x="76680" y="286371"/>
                    </a:lnTo>
                    <a:lnTo>
                      <a:pt x="238605" y="286371"/>
                    </a:lnTo>
                    <a:lnTo>
                      <a:pt x="238605" y="162546"/>
                    </a:lnTo>
                    <a:lnTo>
                      <a:pt x="124305" y="162546"/>
                    </a:lnTo>
                    <a:cubicBezTo>
                      <a:pt x="108112" y="162546"/>
                      <a:pt x="95730" y="150164"/>
                      <a:pt x="95730" y="133971"/>
                    </a:cubicBezTo>
                    <a:lnTo>
                      <a:pt x="95730" y="29196"/>
                    </a:lnTo>
                    <a:cubicBezTo>
                      <a:pt x="95730" y="13004"/>
                      <a:pt x="108112" y="621"/>
                      <a:pt x="124305" y="621"/>
                    </a:cubicBezTo>
                    <a:lnTo>
                      <a:pt x="371955" y="621"/>
                    </a:lnTo>
                    <a:close/>
                    <a:moveTo>
                      <a:pt x="148118" y="95871"/>
                    </a:moveTo>
                    <a:cubicBezTo>
                      <a:pt x="140498" y="95871"/>
                      <a:pt x="133830" y="102539"/>
                      <a:pt x="133830" y="110159"/>
                    </a:cubicBezTo>
                    <a:cubicBezTo>
                      <a:pt x="133830" y="117779"/>
                      <a:pt x="140498" y="124446"/>
                      <a:pt x="148118" y="124446"/>
                    </a:cubicBezTo>
                    <a:cubicBezTo>
                      <a:pt x="155737" y="124446"/>
                      <a:pt x="162405" y="117779"/>
                      <a:pt x="162405" y="110159"/>
                    </a:cubicBezTo>
                    <a:cubicBezTo>
                      <a:pt x="162405" y="102539"/>
                      <a:pt x="155737" y="95871"/>
                      <a:pt x="148118" y="9587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 anchorCtr="0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</a:p>
            </p:txBody>
          </p:sp>
        </p:grpSp>
        <p:cxnSp>
          <p:nvCxnSpPr>
            <p:cNvPr id="146" name="直线连接符 145" descr="8cb9305a-bfe4-4f38-99c9-93605bd5d6b9"/>
            <p:cNvCxnSpPr/>
            <p:nvPr>
              <p:custDataLst>
                <p:tags r:id="rId13"/>
              </p:custDataLst>
            </p:nvPr>
          </p:nvCxnSpPr>
          <p:spPr>
            <a:xfrm flipH="1">
              <a:off x="3640601" y="4493446"/>
              <a:ext cx="2" cy="975455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3" descr="4823d7a4-bb55-4904-a05b-64e728e9a7db"/>
            <p:cNvSpPr/>
            <p:nvPr>
              <p:custDataLst>
                <p:tags r:id="rId14"/>
              </p:custDataLst>
            </p:nvPr>
          </p:nvSpPr>
          <p:spPr>
            <a:xfrm>
              <a:off x="5785604" y="3850730"/>
              <a:ext cx="2475142" cy="613662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60000"/>
                    <a:lumOff val="40000"/>
                  </a:schemeClr>
                </a:gs>
                <a:gs pos="75000">
                  <a:schemeClr val="accent3"/>
                </a:gs>
              </a:gsLst>
              <a:lin ang="2700000" scaled="1"/>
              <a:tileRect/>
            </a:gradFill>
            <a:ln w="12700">
              <a:noFill/>
            </a:ln>
            <a:effectLst>
              <a:outerShdw blurRad="127000" dist="63500" dir="2700000" algn="tl" rotWithShape="0">
                <a:schemeClr val="accent3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 anchorCtr="0">
              <a:noAutofit/>
            </a:bodyPr>
            <a:lstStyle/>
            <a:p>
              <a:pPr algn="ctr"/>
              <a:r>
                <a:rPr lang="en-US" sz="3200" b="1" i="0" u="none">
                  <a:solidFill>
                    <a:srgbClr val="FFFFFF"/>
                  </a:solidFill>
                  <a:latin typeface="Arial" panose="020B0604020202020204"/>
                </a:rPr>
                <a:t>03</a:t>
              </a:r>
              <a:endParaRPr lang="en-US" sz="3200" b="1" i="0" u="none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124" name="矩形: 圆顶角 1" descr="28b3753f-b01a-4b10-ba4f-64ac5d56ee55"/>
            <p:cNvSpPr/>
            <p:nvPr>
              <p:custDataLst>
                <p:tags r:id="rId15"/>
              </p:custDataLst>
            </p:nvPr>
          </p:nvSpPr>
          <p:spPr>
            <a:xfrm flipH="1">
              <a:off x="6618284" y="1981356"/>
              <a:ext cx="2385583" cy="1529156"/>
            </a:xfrm>
            <a:prstGeom prst="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12700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 anchorCtr="0">
              <a:noAutofit/>
            </a:bodyPr>
            <a:lstStyle/>
            <a:p>
              <a:pPr algn="l"/>
            </a:p>
          </p:txBody>
        </p:sp>
        <p:grpSp>
          <p:nvGrpSpPr>
            <p:cNvPr id="8" name="组合 7" descr="0a5e5381-4bdd-4082-95d0-983306a862c9"/>
            <p:cNvGrpSpPr/>
            <p:nvPr/>
          </p:nvGrpSpPr>
          <p:grpSpPr>
            <a:xfrm>
              <a:off x="5828526" y="2148816"/>
              <a:ext cx="3060350" cy="957496"/>
              <a:chOff x="5828526" y="2148816"/>
              <a:chExt cx="3060350" cy="957496"/>
            </a:xfrm>
          </p:grpSpPr>
          <p:sp>
            <p:nvSpPr>
              <p:cNvPr id="125" name="Bullet3" descr="130dd81a-628b-4232-ac0e-03f426054180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6733282" y="2148816"/>
                <a:ext cx="2155594" cy="9574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/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00" b="1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横向比对：演变轨迹的量化印证</a:t>
                </a:r>
                <a:endParaRPr lang="en-US" sz="1800" b="1" i="0" u="none" strike="noStrik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4" name="IconBackground3" descr="4b0c4573-1607-46ed-afa2-d2ce0bacc083"/>
              <p:cNvSpPr txBox="1">
                <a:spLocks noChangeAspect="1"/>
              </p:cNvSpPr>
              <p:nvPr>
                <p:custDataLst>
                  <p:tags r:id="rId17"/>
                </p:custDataLst>
              </p:nvPr>
            </p:nvSpPr>
            <p:spPr>
              <a:xfrm>
                <a:off x="5828526" y="2188241"/>
                <a:ext cx="681223" cy="681223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lumMod val="60000"/>
                      <a:lumOff val="40000"/>
                    </a:schemeClr>
                  </a:gs>
                  <a:gs pos="75000">
                    <a:schemeClr val="accent3"/>
                  </a:gs>
                </a:gsLst>
                <a:lin ang="2700000" scaled="1"/>
                <a:tileRect/>
              </a:gradFill>
              <a:ln w="12700">
                <a:solidFill>
                  <a:schemeClr val="accent3"/>
                </a:solidFill>
              </a:ln>
              <a:effectLst>
                <a:outerShdw blurRad="127000" dist="63500" dir="2700000" algn="tl" rotWithShape="0">
                  <a:schemeClr val="accent3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 anchorCtr="0">
                <a:normAutofit/>
              </a:bodyPr>
              <a:lstStyle>
                <a:defPPr>
                  <a:defRPr lang="en-US"/>
                </a:defPPr>
                <a:lvl1pPr algn="ctr">
                  <a:defRPr b="1">
                    <a:solidFill>
                      <a:srgbClr val="FFFFFF"/>
                    </a:solidFill>
                    <a:cs typeface="+mn-ea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13" name="Icon3" descr="20402f96-3ab1-4cfa-afdc-dbf12cee9d2a"/>
              <p:cNvSpPr/>
              <p:nvPr>
                <p:custDataLst>
                  <p:tags r:id="rId18"/>
                </p:custDataLst>
              </p:nvPr>
            </p:nvSpPr>
            <p:spPr>
              <a:xfrm>
                <a:off x="6026440" y="2388706"/>
                <a:ext cx="285393" cy="280294"/>
              </a:xfrm>
              <a:custGeom>
                <a:avLst/>
                <a:gdLst>
                  <a:gd name="connsiteX0" fmla="*/ 343764 w 533400"/>
                  <a:gd name="connsiteY0" fmla="*/ 276846 h 523875"/>
                  <a:gd name="connsiteX1" fmla="*/ 372339 w 533400"/>
                  <a:gd name="connsiteY1" fmla="*/ 305421 h 523875"/>
                  <a:gd name="connsiteX2" fmla="*/ 372339 w 533400"/>
                  <a:gd name="connsiteY2" fmla="*/ 495921 h 523875"/>
                  <a:gd name="connsiteX3" fmla="*/ 343764 w 533400"/>
                  <a:gd name="connsiteY3" fmla="*/ 524496 h 523875"/>
                  <a:gd name="connsiteX4" fmla="*/ 191364 w 533400"/>
                  <a:gd name="connsiteY4" fmla="*/ 524496 h 523875"/>
                  <a:gd name="connsiteX5" fmla="*/ 162789 w 533400"/>
                  <a:gd name="connsiteY5" fmla="*/ 495921 h 523875"/>
                  <a:gd name="connsiteX6" fmla="*/ 162789 w 533400"/>
                  <a:gd name="connsiteY6" fmla="*/ 305421 h 523875"/>
                  <a:gd name="connsiteX7" fmla="*/ 191364 w 533400"/>
                  <a:gd name="connsiteY7" fmla="*/ 276846 h 523875"/>
                  <a:gd name="connsiteX8" fmla="*/ 343764 w 533400"/>
                  <a:gd name="connsiteY8" fmla="*/ 276846 h 523875"/>
                  <a:gd name="connsiteX9" fmla="*/ 143739 w 533400"/>
                  <a:gd name="connsiteY9" fmla="*/ 114921 h 523875"/>
                  <a:gd name="connsiteX10" fmla="*/ 179934 w 533400"/>
                  <a:gd name="connsiteY10" fmla="*/ 153021 h 523875"/>
                  <a:gd name="connsiteX11" fmla="*/ 181839 w 533400"/>
                  <a:gd name="connsiteY11" fmla="*/ 153021 h 523875"/>
                  <a:gd name="connsiteX12" fmla="*/ 353289 w 533400"/>
                  <a:gd name="connsiteY12" fmla="*/ 153021 h 523875"/>
                  <a:gd name="connsiteX13" fmla="*/ 391389 w 533400"/>
                  <a:gd name="connsiteY13" fmla="*/ 116826 h 523875"/>
                  <a:gd name="connsiteX14" fmla="*/ 391389 w 533400"/>
                  <a:gd name="connsiteY14" fmla="*/ 114921 h 523875"/>
                  <a:gd name="connsiteX15" fmla="*/ 505689 w 533400"/>
                  <a:gd name="connsiteY15" fmla="*/ 114921 h 523875"/>
                  <a:gd name="connsiteX16" fmla="*/ 534264 w 533400"/>
                  <a:gd name="connsiteY16" fmla="*/ 143496 h 523875"/>
                  <a:gd name="connsiteX17" fmla="*/ 534264 w 533400"/>
                  <a:gd name="connsiteY17" fmla="*/ 381621 h 523875"/>
                  <a:gd name="connsiteX18" fmla="*/ 505689 w 533400"/>
                  <a:gd name="connsiteY18" fmla="*/ 410196 h 523875"/>
                  <a:gd name="connsiteX19" fmla="*/ 391389 w 533400"/>
                  <a:gd name="connsiteY19" fmla="*/ 410196 h 523875"/>
                  <a:gd name="connsiteX20" fmla="*/ 391389 w 533400"/>
                  <a:gd name="connsiteY20" fmla="*/ 295896 h 523875"/>
                  <a:gd name="connsiteX21" fmla="*/ 355194 w 533400"/>
                  <a:gd name="connsiteY21" fmla="*/ 257796 h 523875"/>
                  <a:gd name="connsiteX22" fmla="*/ 353289 w 533400"/>
                  <a:gd name="connsiteY22" fmla="*/ 257796 h 523875"/>
                  <a:gd name="connsiteX23" fmla="*/ 181839 w 533400"/>
                  <a:gd name="connsiteY23" fmla="*/ 257796 h 523875"/>
                  <a:gd name="connsiteX24" fmla="*/ 143739 w 533400"/>
                  <a:gd name="connsiteY24" fmla="*/ 293991 h 523875"/>
                  <a:gd name="connsiteX25" fmla="*/ 143739 w 533400"/>
                  <a:gd name="connsiteY25" fmla="*/ 295896 h 523875"/>
                  <a:gd name="connsiteX26" fmla="*/ 143739 w 533400"/>
                  <a:gd name="connsiteY26" fmla="*/ 410196 h 523875"/>
                  <a:gd name="connsiteX27" fmla="*/ 29439 w 533400"/>
                  <a:gd name="connsiteY27" fmla="*/ 410196 h 523875"/>
                  <a:gd name="connsiteX28" fmla="*/ 864 w 533400"/>
                  <a:gd name="connsiteY28" fmla="*/ 381621 h 523875"/>
                  <a:gd name="connsiteX29" fmla="*/ 864 w 533400"/>
                  <a:gd name="connsiteY29" fmla="*/ 201599 h 523875"/>
                  <a:gd name="connsiteX30" fmla="*/ 11342 w 533400"/>
                  <a:gd name="connsiteY30" fmla="*/ 175881 h 523875"/>
                  <a:gd name="connsiteX31" fmla="*/ 56109 w 533400"/>
                  <a:gd name="connsiteY31" fmla="*/ 127304 h 523875"/>
                  <a:gd name="connsiteX32" fmla="*/ 83732 w 533400"/>
                  <a:gd name="connsiteY32" fmla="*/ 114921 h 523875"/>
                  <a:gd name="connsiteX33" fmla="*/ 143739 w 533400"/>
                  <a:gd name="connsiteY33" fmla="*/ 114921 h 523875"/>
                  <a:gd name="connsiteX34" fmla="*/ 462827 w 533400"/>
                  <a:gd name="connsiteY34" fmla="*/ 172071 h 523875"/>
                  <a:gd name="connsiteX35" fmla="*/ 448539 w 533400"/>
                  <a:gd name="connsiteY35" fmla="*/ 186359 h 523875"/>
                  <a:gd name="connsiteX36" fmla="*/ 462827 w 533400"/>
                  <a:gd name="connsiteY36" fmla="*/ 200646 h 523875"/>
                  <a:gd name="connsiteX37" fmla="*/ 477114 w 533400"/>
                  <a:gd name="connsiteY37" fmla="*/ 186359 h 523875"/>
                  <a:gd name="connsiteX38" fmla="*/ 462827 w 533400"/>
                  <a:gd name="connsiteY38" fmla="*/ 172071 h 523875"/>
                  <a:gd name="connsiteX39" fmla="*/ 343764 w 533400"/>
                  <a:gd name="connsiteY39" fmla="*/ 621 h 523875"/>
                  <a:gd name="connsiteX40" fmla="*/ 372339 w 533400"/>
                  <a:gd name="connsiteY40" fmla="*/ 29196 h 523875"/>
                  <a:gd name="connsiteX41" fmla="*/ 372339 w 533400"/>
                  <a:gd name="connsiteY41" fmla="*/ 105396 h 523875"/>
                  <a:gd name="connsiteX42" fmla="*/ 343764 w 533400"/>
                  <a:gd name="connsiteY42" fmla="*/ 133971 h 523875"/>
                  <a:gd name="connsiteX43" fmla="*/ 191364 w 533400"/>
                  <a:gd name="connsiteY43" fmla="*/ 133971 h 523875"/>
                  <a:gd name="connsiteX44" fmla="*/ 162789 w 533400"/>
                  <a:gd name="connsiteY44" fmla="*/ 105396 h 523875"/>
                  <a:gd name="connsiteX45" fmla="*/ 162789 w 533400"/>
                  <a:gd name="connsiteY45" fmla="*/ 29196 h 523875"/>
                  <a:gd name="connsiteX46" fmla="*/ 191364 w 533400"/>
                  <a:gd name="connsiteY46" fmla="*/ 621 h 523875"/>
                  <a:gd name="connsiteX47" fmla="*/ 343764 w 533400"/>
                  <a:gd name="connsiteY47" fmla="*/ 621 h 523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533400" h="523875">
                    <a:moveTo>
                      <a:pt x="343764" y="276846"/>
                    </a:moveTo>
                    <a:cubicBezTo>
                      <a:pt x="359957" y="276846"/>
                      <a:pt x="372339" y="289229"/>
                      <a:pt x="372339" y="305421"/>
                    </a:cubicBezTo>
                    <a:lnTo>
                      <a:pt x="372339" y="495921"/>
                    </a:lnTo>
                    <a:cubicBezTo>
                      <a:pt x="372339" y="512114"/>
                      <a:pt x="359957" y="524496"/>
                      <a:pt x="343764" y="524496"/>
                    </a:cubicBezTo>
                    <a:lnTo>
                      <a:pt x="191364" y="524496"/>
                    </a:lnTo>
                    <a:cubicBezTo>
                      <a:pt x="175171" y="524496"/>
                      <a:pt x="162789" y="512114"/>
                      <a:pt x="162789" y="495921"/>
                    </a:cubicBezTo>
                    <a:lnTo>
                      <a:pt x="162789" y="305421"/>
                    </a:lnTo>
                    <a:cubicBezTo>
                      <a:pt x="162789" y="289229"/>
                      <a:pt x="175171" y="276846"/>
                      <a:pt x="191364" y="276846"/>
                    </a:cubicBezTo>
                    <a:lnTo>
                      <a:pt x="343764" y="276846"/>
                    </a:lnTo>
                    <a:close/>
                    <a:moveTo>
                      <a:pt x="143739" y="114921"/>
                    </a:moveTo>
                    <a:cubicBezTo>
                      <a:pt x="143739" y="134924"/>
                      <a:pt x="159932" y="152069"/>
                      <a:pt x="179934" y="153021"/>
                    </a:cubicBezTo>
                    <a:lnTo>
                      <a:pt x="181839" y="153021"/>
                    </a:lnTo>
                    <a:lnTo>
                      <a:pt x="353289" y="153021"/>
                    </a:lnTo>
                    <a:cubicBezTo>
                      <a:pt x="373292" y="153021"/>
                      <a:pt x="390436" y="136829"/>
                      <a:pt x="391389" y="116826"/>
                    </a:cubicBezTo>
                    <a:lnTo>
                      <a:pt x="391389" y="114921"/>
                    </a:lnTo>
                    <a:lnTo>
                      <a:pt x="505689" y="114921"/>
                    </a:lnTo>
                    <a:cubicBezTo>
                      <a:pt x="521882" y="114921"/>
                      <a:pt x="534264" y="127304"/>
                      <a:pt x="534264" y="143496"/>
                    </a:cubicBezTo>
                    <a:lnTo>
                      <a:pt x="534264" y="381621"/>
                    </a:lnTo>
                    <a:cubicBezTo>
                      <a:pt x="534264" y="397814"/>
                      <a:pt x="521882" y="410196"/>
                      <a:pt x="505689" y="410196"/>
                    </a:cubicBezTo>
                    <a:lnTo>
                      <a:pt x="391389" y="410196"/>
                    </a:lnTo>
                    <a:lnTo>
                      <a:pt x="391389" y="295896"/>
                    </a:lnTo>
                    <a:cubicBezTo>
                      <a:pt x="391389" y="275894"/>
                      <a:pt x="375196" y="258749"/>
                      <a:pt x="355194" y="257796"/>
                    </a:cubicBezTo>
                    <a:lnTo>
                      <a:pt x="353289" y="257796"/>
                    </a:lnTo>
                    <a:lnTo>
                      <a:pt x="181839" y="257796"/>
                    </a:lnTo>
                    <a:cubicBezTo>
                      <a:pt x="161836" y="257796"/>
                      <a:pt x="144692" y="273989"/>
                      <a:pt x="143739" y="293991"/>
                    </a:cubicBezTo>
                    <a:lnTo>
                      <a:pt x="143739" y="295896"/>
                    </a:lnTo>
                    <a:lnTo>
                      <a:pt x="143739" y="410196"/>
                    </a:lnTo>
                    <a:lnTo>
                      <a:pt x="29439" y="410196"/>
                    </a:lnTo>
                    <a:cubicBezTo>
                      <a:pt x="13246" y="410196"/>
                      <a:pt x="864" y="397814"/>
                      <a:pt x="864" y="381621"/>
                    </a:cubicBezTo>
                    <a:lnTo>
                      <a:pt x="864" y="201599"/>
                    </a:lnTo>
                    <a:cubicBezTo>
                      <a:pt x="864" y="192074"/>
                      <a:pt x="4674" y="182549"/>
                      <a:pt x="11342" y="175881"/>
                    </a:cubicBezTo>
                    <a:lnTo>
                      <a:pt x="56109" y="127304"/>
                    </a:lnTo>
                    <a:cubicBezTo>
                      <a:pt x="63729" y="119684"/>
                      <a:pt x="73254" y="114921"/>
                      <a:pt x="83732" y="114921"/>
                    </a:cubicBezTo>
                    <a:lnTo>
                      <a:pt x="143739" y="114921"/>
                    </a:lnTo>
                    <a:close/>
                    <a:moveTo>
                      <a:pt x="462827" y="172071"/>
                    </a:moveTo>
                    <a:cubicBezTo>
                      <a:pt x="455207" y="172071"/>
                      <a:pt x="448539" y="178739"/>
                      <a:pt x="448539" y="186359"/>
                    </a:cubicBezTo>
                    <a:cubicBezTo>
                      <a:pt x="448539" y="193979"/>
                      <a:pt x="455207" y="200646"/>
                      <a:pt x="462827" y="200646"/>
                    </a:cubicBezTo>
                    <a:cubicBezTo>
                      <a:pt x="470446" y="200646"/>
                      <a:pt x="477114" y="193979"/>
                      <a:pt x="477114" y="186359"/>
                    </a:cubicBezTo>
                    <a:cubicBezTo>
                      <a:pt x="477114" y="178739"/>
                      <a:pt x="470446" y="172071"/>
                      <a:pt x="462827" y="172071"/>
                    </a:cubicBezTo>
                    <a:close/>
                    <a:moveTo>
                      <a:pt x="343764" y="621"/>
                    </a:moveTo>
                    <a:cubicBezTo>
                      <a:pt x="359957" y="621"/>
                      <a:pt x="372339" y="13004"/>
                      <a:pt x="372339" y="29196"/>
                    </a:cubicBezTo>
                    <a:lnTo>
                      <a:pt x="372339" y="105396"/>
                    </a:lnTo>
                    <a:cubicBezTo>
                      <a:pt x="372339" y="121589"/>
                      <a:pt x="359957" y="133971"/>
                      <a:pt x="343764" y="133971"/>
                    </a:cubicBezTo>
                    <a:lnTo>
                      <a:pt x="191364" y="133971"/>
                    </a:lnTo>
                    <a:cubicBezTo>
                      <a:pt x="175171" y="133971"/>
                      <a:pt x="162789" y="121589"/>
                      <a:pt x="162789" y="105396"/>
                    </a:cubicBezTo>
                    <a:lnTo>
                      <a:pt x="162789" y="29196"/>
                    </a:lnTo>
                    <a:cubicBezTo>
                      <a:pt x="162789" y="13004"/>
                      <a:pt x="175171" y="621"/>
                      <a:pt x="191364" y="621"/>
                    </a:cubicBezTo>
                    <a:lnTo>
                      <a:pt x="343764" y="62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 anchorCtr="0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</a:p>
            </p:txBody>
          </p:sp>
        </p:grpSp>
        <p:cxnSp>
          <p:nvCxnSpPr>
            <p:cNvPr id="147" name="直线连接符 146" descr="7c29dd1e-bc44-4b2b-9c81-24db20d3ce16"/>
            <p:cNvCxnSpPr/>
            <p:nvPr>
              <p:custDataLst>
                <p:tags r:id="rId19"/>
              </p:custDataLst>
            </p:nvPr>
          </p:nvCxnSpPr>
          <p:spPr>
            <a:xfrm flipH="1">
              <a:off x="6169136" y="2890708"/>
              <a:ext cx="2" cy="975455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4" descr="f7b62c4c-f69f-4111-905d-452ed863a42c"/>
            <p:cNvSpPr/>
            <p:nvPr>
              <p:custDataLst>
                <p:tags r:id="rId20"/>
              </p:custDataLst>
            </p:nvPr>
          </p:nvSpPr>
          <p:spPr>
            <a:xfrm>
              <a:off x="8357061" y="3850730"/>
              <a:ext cx="2475142" cy="613662"/>
            </a:xfrm>
            <a:prstGeom prst="rect">
              <a:avLst/>
            </a:prstGeom>
            <a:gradFill flip="none" rotWithShape="1">
              <a:gsLst>
                <a:gs pos="0">
                  <a:schemeClr val="accent4">
                    <a:lumMod val="60000"/>
                    <a:lumOff val="40000"/>
                  </a:schemeClr>
                </a:gs>
                <a:gs pos="75000">
                  <a:schemeClr val="accent4"/>
                </a:gs>
              </a:gsLst>
              <a:lin ang="2700000" scaled="1"/>
              <a:tileRect/>
            </a:gradFill>
            <a:ln w="12700">
              <a:noFill/>
            </a:ln>
            <a:effectLst>
              <a:outerShdw blurRad="127000" dist="63500" dir="2700000" algn="tl" rotWithShape="0">
                <a:schemeClr val="accent4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 anchorCtr="0">
              <a:noAutofit/>
            </a:bodyPr>
            <a:lstStyle/>
            <a:p>
              <a:pPr algn="ctr"/>
              <a:r>
                <a:rPr lang="en-US" sz="3200" b="1" i="0" u="none">
                  <a:solidFill>
                    <a:srgbClr val="FFFFFF"/>
                  </a:solidFill>
                  <a:latin typeface="Arial" panose="020B0604020202020204"/>
                </a:rPr>
                <a:t>04</a:t>
              </a:r>
              <a:endParaRPr lang="en-US" sz="3200" b="1" i="0" u="none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136" name="矩形: 圆顶角 39" descr="59b24f36-097b-4690-8696-662c005ca6b3"/>
            <p:cNvSpPr/>
            <p:nvPr>
              <p:custDataLst>
                <p:tags r:id="rId21"/>
              </p:custDataLst>
            </p:nvPr>
          </p:nvSpPr>
          <p:spPr>
            <a:xfrm flipH="1">
              <a:off x="9149952" y="4812073"/>
              <a:ext cx="2385583" cy="1529156"/>
            </a:xfrm>
            <a:prstGeom prst="rect">
              <a:avLst/>
            </a:prstGeom>
            <a:gradFill flip="none" rotWithShape="1">
              <a:gsLst>
                <a:gs pos="24000">
                  <a:schemeClr val="bg1"/>
                </a:gs>
                <a:gs pos="100000">
                  <a:schemeClr val="bg1">
                    <a:alpha val="62000"/>
                  </a:schemeClr>
                </a:gs>
              </a:gsLst>
              <a:lin ang="5400000" scaled="1"/>
              <a:tileRect/>
            </a:gradFill>
            <a:ln w="12700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24000"/>
                    </a:schemeClr>
                  </a:gs>
                </a:gsLst>
                <a:lin ang="16200000" scaled="1"/>
                <a:tileRect/>
              </a:gradFill>
            </a:ln>
            <a:effectLst>
              <a:outerShdw blurRad="533400" dist="508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</a:p>
          </p:txBody>
        </p:sp>
        <p:grpSp>
          <p:nvGrpSpPr>
            <p:cNvPr id="9" name="组合 8" descr="4fb389ae-5d3a-4d39-823f-a5ccb8ff1780"/>
            <p:cNvGrpSpPr/>
            <p:nvPr/>
          </p:nvGrpSpPr>
          <p:grpSpPr>
            <a:xfrm>
              <a:off x="8357061" y="4979534"/>
              <a:ext cx="3063483" cy="1147178"/>
              <a:chOff x="8357061" y="4979534"/>
              <a:chExt cx="3063483" cy="1147178"/>
            </a:xfrm>
          </p:grpSpPr>
          <p:sp>
            <p:nvSpPr>
              <p:cNvPr id="137" name="Bullet4" descr="42e91b6d-4685-42ab-80aa-0455c0b10f7d"/>
              <p:cNvSpPr txBox="1"/>
              <p:nvPr>
                <p:custDataLst>
                  <p:tags r:id="rId22"/>
                </p:custDataLst>
              </p:nvPr>
            </p:nvSpPr>
            <p:spPr>
              <a:xfrm>
                <a:off x="9264950" y="4979534"/>
                <a:ext cx="2155594" cy="9574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00" b="1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综合结论与人文阐释</a:t>
                </a:r>
                <a:endParaRPr lang="en-US" sz="1800" b="1" i="0" u="none" strike="noStrik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90" name="IconBackground4" descr="59006763-6d42-48b4-a1f0-56c7f0864b0c"/>
              <p:cNvSpPr txBox="1">
                <a:spLocks noChangeAspect="1"/>
              </p:cNvSpPr>
              <p:nvPr>
                <p:custDataLst>
                  <p:tags r:id="rId23"/>
                </p:custDataLst>
              </p:nvPr>
            </p:nvSpPr>
            <p:spPr>
              <a:xfrm>
                <a:off x="8357061" y="5445489"/>
                <a:ext cx="681223" cy="681223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4">
                      <a:lumMod val="60000"/>
                      <a:lumOff val="40000"/>
                    </a:schemeClr>
                  </a:gs>
                  <a:gs pos="75000">
                    <a:schemeClr val="accent4"/>
                  </a:gs>
                </a:gsLst>
                <a:lin ang="2700000" scaled="1"/>
                <a:tileRect/>
              </a:gradFill>
              <a:ln w="12700">
                <a:solidFill>
                  <a:schemeClr val="accent4"/>
                </a:solidFill>
              </a:ln>
              <a:effectLst>
                <a:outerShdw blurRad="127000" dist="63500" dir="2700000" algn="tl" rotWithShape="0">
                  <a:schemeClr val="accent4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 anchorCtr="0">
                <a:normAutofit/>
              </a:bodyPr>
              <a:lstStyle>
                <a:defPPr>
                  <a:defRPr lang="en-US"/>
                </a:defPPr>
                <a:lvl1pPr algn="ctr">
                  <a:defRPr b="1">
                    <a:solidFill>
                      <a:srgbClr val="FFFFFF"/>
                    </a:solidFill>
                    <a:cs typeface="+mn-ea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19" name="Icon4" descr="7f44411a-6200-4bb7-b8ca-303ccbfbcff5"/>
              <p:cNvSpPr/>
              <p:nvPr>
                <p:custDataLst>
                  <p:tags r:id="rId24"/>
                </p:custDataLst>
              </p:nvPr>
            </p:nvSpPr>
            <p:spPr>
              <a:xfrm>
                <a:off x="8554975" y="5666469"/>
                <a:ext cx="285393" cy="239261"/>
              </a:xfrm>
              <a:custGeom>
                <a:avLst/>
                <a:gdLst>
                  <a:gd name="T0" fmla="*/ 2623 w 2768"/>
                  <a:gd name="T1" fmla="*/ 1207 h 2324"/>
                  <a:gd name="T2" fmla="*/ 2529 w 2768"/>
                  <a:gd name="T3" fmla="*/ 2116 h 2324"/>
                  <a:gd name="T4" fmla="*/ 2298 w 2768"/>
                  <a:gd name="T5" fmla="*/ 2324 h 2324"/>
                  <a:gd name="T6" fmla="*/ 470 w 2768"/>
                  <a:gd name="T7" fmla="*/ 2324 h 2324"/>
                  <a:gd name="T8" fmla="*/ 239 w 2768"/>
                  <a:gd name="T9" fmla="*/ 2116 h 2324"/>
                  <a:gd name="T10" fmla="*/ 145 w 2768"/>
                  <a:gd name="T11" fmla="*/ 1207 h 2324"/>
                  <a:gd name="T12" fmla="*/ 170 w 2768"/>
                  <a:gd name="T13" fmla="*/ 1130 h 2324"/>
                  <a:gd name="T14" fmla="*/ 244 w 2768"/>
                  <a:gd name="T15" fmla="*/ 1097 h 2324"/>
                  <a:gd name="T16" fmla="*/ 2524 w 2768"/>
                  <a:gd name="T17" fmla="*/ 1097 h 2324"/>
                  <a:gd name="T18" fmla="*/ 2598 w 2768"/>
                  <a:gd name="T19" fmla="*/ 1130 h 2324"/>
                  <a:gd name="T20" fmla="*/ 2623 w 2768"/>
                  <a:gd name="T21" fmla="*/ 1207 h 2324"/>
                  <a:gd name="T22" fmla="*/ 2762 w 2768"/>
                  <a:gd name="T23" fmla="*/ 588 h 2324"/>
                  <a:gd name="T24" fmla="*/ 2722 w 2768"/>
                  <a:gd name="T25" fmla="*/ 814 h 2324"/>
                  <a:gd name="T26" fmla="*/ 2624 w 2768"/>
                  <a:gd name="T27" fmla="*/ 897 h 2324"/>
                  <a:gd name="T28" fmla="*/ 157 w 2768"/>
                  <a:gd name="T29" fmla="*/ 897 h 2324"/>
                  <a:gd name="T30" fmla="*/ 60 w 2768"/>
                  <a:gd name="T31" fmla="*/ 820 h 2324"/>
                  <a:gd name="T32" fmla="*/ 7 w 2768"/>
                  <a:gd name="T33" fmla="*/ 593 h 2324"/>
                  <a:gd name="T34" fmla="*/ 26 w 2768"/>
                  <a:gd name="T35" fmla="*/ 508 h 2324"/>
                  <a:gd name="T36" fmla="*/ 104 w 2768"/>
                  <a:gd name="T37" fmla="*/ 470 h 2324"/>
                  <a:gd name="T38" fmla="*/ 904 w 2768"/>
                  <a:gd name="T39" fmla="*/ 470 h 2324"/>
                  <a:gd name="T40" fmla="*/ 904 w 2768"/>
                  <a:gd name="T41" fmla="*/ 100 h 2324"/>
                  <a:gd name="T42" fmla="*/ 1004 w 2768"/>
                  <a:gd name="T43" fmla="*/ 0 h 2324"/>
                  <a:gd name="T44" fmla="*/ 1764 w 2768"/>
                  <a:gd name="T45" fmla="*/ 0 h 2324"/>
                  <a:gd name="T46" fmla="*/ 1864 w 2768"/>
                  <a:gd name="T47" fmla="*/ 100 h 2324"/>
                  <a:gd name="T48" fmla="*/ 1864 w 2768"/>
                  <a:gd name="T49" fmla="*/ 470 h 2324"/>
                  <a:gd name="T50" fmla="*/ 2664 w 2768"/>
                  <a:gd name="T51" fmla="*/ 470 h 2324"/>
                  <a:gd name="T52" fmla="*/ 2741 w 2768"/>
                  <a:gd name="T53" fmla="*/ 506 h 2324"/>
                  <a:gd name="T54" fmla="*/ 2762 w 2768"/>
                  <a:gd name="T55" fmla="*/ 588 h 2324"/>
                  <a:gd name="T56" fmla="*/ 1104 w 2768"/>
                  <a:gd name="T57" fmla="*/ 470 h 2324"/>
                  <a:gd name="T58" fmla="*/ 1664 w 2768"/>
                  <a:gd name="T59" fmla="*/ 470 h 2324"/>
                  <a:gd name="T60" fmla="*/ 1664 w 2768"/>
                  <a:gd name="T61" fmla="*/ 200 h 2324"/>
                  <a:gd name="T62" fmla="*/ 1104 w 2768"/>
                  <a:gd name="T63" fmla="*/ 200 h 2324"/>
                  <a:gd name="T64" fmla="*/ 1104 w 2768"/>
                  <a:gd name="T65" fmla="*/ 470 h 23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768" h="2324">
                    <a:moveTo>
                      <a:pt x="2623" y="1207"/>
                    </a:moveTo>
                    <a:lnTo>
                      <a:pt x="2529" y="2116"/>
                    </a:lnTo>
                    <a:cubicBezTo>
                      <a:pt x="2517" y="2234"/>
                      <a:pt x="2418" y="2324"/>
                      <a:pt x="2298" y="2324"/>
                    </a:cubicBezTo>
                    <a:lnTo>
                      <a:pt x="470" y="2324"/>
                    </a:lnTo>
                    <a:cubicBezTo>
                      <a:pt x="350" y="2324"/>
                      <a:pt x="251" y="2234"/>
                      <a:pt x="239" y="2116"/>
                    </a:cubicBezTo>
                    <a:lnTo>
                      <a:pt x="145" y="1207"/>
                    </a:lnTo>
                    <a:cubicBezTo>
                      <a:pt x="142" y="1179"/>
                      <a:pt x="151" y="1151"/>
                      <a:pt x="170" y="1130"/>
                    </a:cubicBezTo>
                    <a:cubicBezTo>
                      <a:pt x="189" y="1109"/>
                      <a:pt x="216" y="1097"/>
                      <a:pt x="244" y="1097"/>
                    </a:cubicBezTo>
                    <a:lnTo>
                      <a:pt x="2524" y="1097"/>
                    </a:lnTo>
                    <a:cubicBezTo>
                      <a:pt x="2552" y="1097"/>
                      <a:pt x="2579" y="1109"/>
                      <a:pt x="2598" y="1130"/>
                    </a:cubicBezTo>
                    <a:cubicBezTo>
                      <a:pt x="2617" y="1151"/>
                      <a:pt x="2626" y="1179"/>
                      <a:pt x="2623" y="1207"/>
                    </a:cubicBezTo>
                    <a:close/>
                    <a:moveTo>
                      <a:pt x="2762" y="588"/>
                    </a:moveTo>
                    <a:lnTo>
                      <a:pt x="2722" y="814"/>
                    </a:lnTo>
                    <a:cubicBezTo>
                      <a:pt x="2714" y="862"/>
                      <a:pt x="2673" y="897"/>
                      <a:pt x="2624" y="897"/>
                    </a:cubicBezTo>
                    <a:lnTo>
                      <a:pt x="157" y="897"/>
                    </a:lnTo>
                    <a:cubicBezTo>
                      <a:pt x="111" y="897"/>
                      <a:pt x="71" y="865"/>
                      <a:pt x="60" y="820"/>
                    </a:cubicBezTo>
                    <a:lnTo>
                      <a:pt x="7" y="593"/>
                    </a:lnTo>
                    <a:cubicBezTo>
                      <a:pt x="0" y="564"/>
                      <a:pt x="7" y="532"/>
                      <a:pt x="26" y="508"/>
                    </a:cubicBezTo>
                    <a:cubicBezTo>
                      <a:pt x="45" y="484"/>
                      <a:pt x="73" y="470"/>
                      <a:pt x="104" y="470"/>
                    </a:cubicBezTo>
                    <a:lnTo>
                      <a:pt x="904" y="470"/>
                    </a:lnTo>
                    <a:lnTo>
                      <a:pt x="904" y="100"/>
                    </a:lnTo>
                    <a:cubicBezTo>
                      <a:pt x="904" y="45"/>
                      <a:pt x="949" y="0"/>
                      <a:pt x="1004" y="0"/>
                    </a:cubicBezTo>
                    <a:lnTo>
                      <a:pt x="1764" y="0"/>
                    </a:lnTo>
                    <a:cubicBezTo>
                      <a:pt x="1819" y="0"/>
                      <a:pt x="1864" y="45"/>
                      <a:pt x="1864" y="100"/>
                    </a:cubicBezTo>
                    <a:lnTo>
                      <a:pt x="1864" y="470"/>
                    </a:lnTo>
                    <a:lnTo>
                      <a:pt x="2664" y="470"/>
                    </a:lnTo>
                    <a:cubicBezTo>
                      <a:pt x="2694" y="470"/>
                      <a:pt x="2722" y="483"/>
                      <a:pt x="2741" y="506"/>
                    </a:cubicBezTo>
                    <a:cubicBezTo>
                      <a:pt x="2760" y="529"/>
                      <a:pt x="2768" y="559"/>
                      <a:pt x="2762" y="588"/>
                    </a:cubicBezTo>
                    <a:close/>
                    <a:moveTo>
                      <a:pt x="1104" y="470"/>
                    </a:moveTo>
                    <a:lnTo>
                      <a:pt x="1664" y="470"/>
                    </a:lnTo>
                    <a:lnTo>
                      <a:pt x="1664" y="200"/>
                    </a:lnTo>
                    <a:lnTo>
                      <a:pt x="1104" y="200"/>
                    </a:lnTo>
                    <a:lnTo>
                      <a:pt x="1104" y="47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</a:p>
            </p:txBody>
          </p:sp>
        </p:grpSp>
        <p:cxnSp>
          <p:nvCxnSpPr>
            <p:cNvPr id="148" name="直线连接符 147" descr="1f68bdc0-20cb-4d2e-8556-9ea53b956b58"/>
            <p:cNvCxnSpPr/>
            <p:nvPr>
              <p:custDataLst>
                <p:tags r:id="rId25"/>
              </p:custDataLst>
            </p:nvPr>
          </p:nvCxnSpPr>
          <p:spPr>
            <a:xfrm flipH="1">
              <a:off x="8697669" y="4475323"/>
              <a:ext cx="2" cy="975455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标题 4" descr="6e191eb5-7da3-4a4d-bdfb-9524e0e49c7c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2F2F2F"/>
                </a:solidFill>
                <a:ea typeface="微软雅黑" panose="020B0503020204020204" charset="-122"/>
              </a:rPr>
              <a:t>目录</a:t>
            </a:r>
            <a:endParaRPr lang="en-US" sz="2800" b="1" i="0" u="none">
              <a:solidFill>
                <a:srgbClr val="2F2F2F"/>
              </a:solidFill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 descr="83080c70-41ea-40d2-8fde-221379addbe5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r">
              <a:lnSpc>
                <a:spcPct val="100000"/>
              </a:lnSpc>
              <a:spcBef>
                <a:spcPct val="0"/>
              </a:spcBef>
            </a:pPr>
            <a:r>
              <a:rPr lang="zh-CN" altLang="en-US" sz="3200" b="1" i="0" u="none">
                <a:solidFill>
                  <a:srgbClr val="FFFFFF"/>
                </a:solidFill>
                <a:ea typeface="微软雅黑" panose="020B0503020204020204" charset="-122"/>
              </a:rPr>
              <a:t>研究缘起与数字</a:t>
            </a:r>
            <a:r>
              <a:rPr lang="zh-CN" altLang="en-US" sz="3200" b="1" i="0" u="none">
                <a:solidFill>
                  <a:srgbClr val="FFFFFF"/>
                </a:solidFill>
                <a:ea typeface="微软雅黑" panose="020B0503020204020204" charset="-122"/>
              </a:rPr>
              <a:t>切入</a:t>
            </a:r>
            <a:endParaRPr lang="zh-CN" altLang="en-US" sz="3200" b="1" i="0" u="none">
              <a:solidFill>
                <a:srgbClr val="FFFFFF"/>
              </a:solidFill>
              <a:ea typeface="微软雅黑" panose="020B0503020204020204" charset="-122"/>
            </a:endParaRPr>
          </a:p>
        </p:txBody>
      </p:sp>
      <p:sp>
        <p:nvSpPr>
          <p:cNvPr id="25" name="文本占位符 24" descr="9652841f-892c-4d47-8897-2571d348380e"/>
          <p:cNvSpPr>
            <a:spLocks noGrp="1"/>
          </p:cNvSpPr>
          <p:nvPr>
            <p:ph type="body" sz="quarter" idx="1" hasCustomPrompt="1"/>
          </p:nvPr>
        </p:nvSpPr>
        <p:spPr/>
        <p:txBody>
          <a:bodyPr anchorCtr="0"/>
          <a:lstStyle/>
          <a:p>
            <a:pPr algn="r">
              <a:lnSpc>
                <a:spcPct val="120000"/>
              </a:lnSpc>
              <a:spcBef>
                <a:spcPts val="1000"/>
              </a:spcBef>
            </a:pPr>
            <a:r>
              <a:rPr lang="en-US" sz="2000" b="0" i="0" u="none">
                <a:solidFill>
                  <a:srgbClr val="FFFFFF"/>
                </a:solidFill>
                <a:ea typeface="微软雅黑" panose="020B0503020204020204" charset="-122"/>
              </a:rPr>
              <a:t>从问题提出到分析框架的构建</a:t>
            </a:r>
            <a:endParaRPr lang="en-US" sz="2000" b="0" i="0" u="none">
              <a:solidFill>
                <a:srgbClr val="FFFFFF"/>
              </a:solidFill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e5bed833-6d36-48e3-b086-44f1bd744d82.source.3.zh-Hans.pptx" descr="d86a7928-090e-4a91-9f97-9113ded5a963"/>
          <p:cNvGrpSpPr/>
          <p:nvPr/>
        </p:nvGrpSpPr>
        <p:grpSpPr>
          <a:xfrm>
            <a:off x="669926" y="1140685"/>
            <a:ext cx="10840233" cy="5717315"/>
            <a:chOff x="669926" y="1140685"/>
            <a:chExt cx="10840233" cy="5717315"/>
          </a:xfrm>
        </p:grpSpPr>
        <p:cxnSp>
          <p:nvCxnSpPr>
            <p:cNvPr id="2" name="直接连接符 1" descr="8d96d284-e32f-40de-90f5-89aabce34185"/>
            <p:cNvCxnSpPr/>
            <p:nvPr/>
          </p:nvCxnSpPr>
          <p:spPr>
            <a:xfrm>
              <a:off x="778342" y="2676653"/>
              <a:ext cx="6707" cy="4181347"/>
            </a:xfrm>
            <a:prstGeom prst="line">
              <a:avLst/>
            </a:prstGeom>
            <a:ln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直接连接符 2" descr="0341a3cf-70ba-43fe-9d08-91076dba23d5"/>
            <p:cNvCxnSpPr/>
            <p:nvPr/>
          </p:nvCxnSpPr>
          <p:spPr>
            <a:xfrm>
              <a:off x="778342" y="2676653"/>
              <a:ext cx="6707" cy="4181347"/>
            </a:xfrm>
            <a:prstGeom prst="line">
              <a:avLst/>
            </a:prstGeom>
            <a:ln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Title" descr="ad404355-d5e0-4ddf-9d21-a7f68e4b6800"/>
            <p:cNvSpPr txBox="1"/>
            <p:nvPr/>
          </p:nvSpPr>
          <p:spPr>
            <a:xfrm>
              <a:off x="669926" y="1140685"/>
              <a:ext cx="10836269" cy="724303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>
              <a:normAutofit/>
            </a:bodyPr>
            <a:lstStyle>
              <a:defPPr>
                <a:defRPr lang="en-US"/>
              </a:defPPr>
              <a:lvl1pPr>
                <a:defRPr sz="2400" b="1"/>
              </a:lvl1pPr>
            </a:lstStyle>
            <a:p>
              <a:pPr algn="l"/>
              <a:r>
                <a:rPr lang="en-US" sz="2400" b="1" i="0" u="none">
                  <a:solidFill>
                    <a:srgbClr val="2F2F2F"/>
                  </a:solidFill>
                  <a:ea typeface="微软雅黑" panose="020B0503020204020204" charset="-122"/>
                </a:rPr>
                <a:t>明确研究方向与预期结果</a:t>
              </a:r>
              <a:endParaRPr lang="en-US" sz="2400" b="1" i="0" u="none">
                <a:solidFill>
                  <a:srgbClr val="2F2F2F"/>
                </a:solidFill>
                <a:ea typeface="微软雅黑" panose="020B0503020204020204" charset="-122"/>
              </a:endParaRPr>
            </a:p>
          </p:txBody>
        </p:sp>
        <p:grpSp>
          <p:nvGrpSpPr>
            <p:cNvPr id="22" name="组合 21" descr="6461e78f-92ef-45d6-9cb3-8cfac49a3f52"/>
            <p:cNvGrpSpPr/>
            <p:nvPr/>
          </p:nvGrpSpPr>
          <p:grpSpPr>
            <a:xfrm>
              <a:off x="675279" y="2173469"/>
              <a:ext cx="10830915" cy="1250347"/>
              <a:chOff x="675279" y="2173469"/>
              <a:chExt cx="10830915" cy="1250347"/>
            </a:xfrm>
          </p:grpSpPr>
          <p:sp>
            <p:nvSpPr>
              <p:cNvPr id="6" name="Icon1" descr="bd15fb55-26f0-4f6e-8ac8-761b0599f599"/>
              <p:cNvSpPr/>
              <p:nvPr/>
            </p:nvSpPr>
            <p:spPr>
              <a:xfrm>
                <a:off x="675279" y="2461940"/>
                <a:ext cx="219540" cy="219155"/>
              </a:xfrm>
              <a:custGeom>
                <a:avLst/>
                <a:gdLst>
                  <a:gd name="T0" fmla="*/ 2200 w 4400"/>
                  <a:gd name="T1" fmla="*/ 0 h 4400"/>
                  <a:gd name="T2" fmla="*/ 0 w 4400"/>
                  <a:gd name="T3" fmla="*/ 2200 h 4400"/>
                  <a:gd name="T4" fmla="*/ 2200 w 4400"/>
                  <a:gd name="T5" fmla="*/ 4400 h 4400"/>
                  <a:gd name="T6" fmla="*/ 4400 w 4400"/>
                  <a:gd name="T7" fmla="*/ 2200 h 4400"/>
                  <a:gd name="T8" fmla="*/ 2200 w 4400"/>
                  <a:gd name="T9" fmla="*/ 0 h 4400"/>
                  <a:gd name="T10" fmla="*/ 3408 w 4400"/>
                  <a:gd name="T11" fmla="*/ 1941 h 4400"/>
                  <a:gd name="T12" fmla="*/ 2341 w 4400"/>
                  <a:gd name="T13" fmla="*/ 3008 h 4400"/>
                  <a:gd name="T14" fmla="*/ 2200 w 4400"/>
                  <a:gd name="T15" fmla="*/ 3067 h 4400"/>
                  <a:gd name="T16" fmla="*/ 2059 w 4400"/>
                  <a:gd name="T17" fmla="*/ 3008 h 4400"/>
                  <a:gd name="T18" fmla="*/ 992 w 4400"/>
                  <a:gd name="T19" fmla="*/ 1941 h 4400"/>
                  <a:gd name="T20" fmla="*/ 992 w 4400"/>
                  <a:gd name="T21" fmla="*/ 1659 h 4400"/>
                  <a:gd name="T22" fmla="*/ 1275 w 4400"/>
                  <a:gd name="T23" fmla="*/ 1659 h 4400"/>
                  <a:gd name="T24" fmla="*/ 2200 w 4400"/>
                  <a:gd name="T25" fmla="*/ 2584 h 4400"/>
                  <a:gd name="T26" fmla="*/ 3125 w 4400"/>
                  <a:gd name="T27" fmla="*/ 1659 h 4400"/>
                  <a:gd name="T28" fmla="*/ 3408 w 4400"/>
                  <a:gd name="T29" fmla="*/ 1659 h 4400"/>
                  <a:gd name="T30" fmla="*/ 3408 w 4400"/>
                  <a:gd name="T31" fmla="*/ 1941 h 44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400" h="4400">
                    <a:moveTo>
                      <a:pt x="2200" y="0"/>
                    </a:moveTo>
                    <a:cubicBezTo>
                      <a:pt x="987" y="0"/>
                      <a:pt x="0" y="987"/>
                      <a:pt x="0" y="2200"/>
                    </a:cubicBezTo>
                    <a:cubicBezTo>
                      <a:pt x="0" y="3413"/>
                      <a:pt x="987" y="4400"/>
                      <a:pt x="2200" y="4400"/>
                    </a:cubicBezTo>
                    <a:cubicBezTo>
                      <a:pt x="3413" y="4400"/>
                      <a:pt x="4400" y="3413"/>
                      <a:pt x="4400" y="2200"/>
                    </a:cubicBezTo>
                    <a:cubicBezTo>
                      <a:pt x="4400" y="987"/>
                      <a:pt x="3413" y="0"/>
                      <a:pt x="2200" y="0"/>
                    </a:cubicBezTo>
                    <a:close/>
                    <a:moveTo>
                      <a:pt x="3408" y="1941"/>
                    </a:moveTo>
                    <a:lnTo>
                      <a:pt x="2341" y="3008"/>
                    </a:lnTo>
                    <a:cubicBezTo>
                      <a:pt x="2304" y="3046"/>
                      <a:pt x="2253" y="3067"/>
                      <a:pt x="2200" y="3067"/>
                    </a:cubicBezTo>
                    <a:cubicBezTo>
                      <a:pt x="2147" y="3067"/>
                      <a:pt x="2096" y="3046"/>
                      <a:pt x="2059" y="3008"/>
                    </a:cubicBezTo>
                    <a:lnTo>
                      <a:pt x="992" y="1941"/>
                    </a:lnTo>
                    <a:cubicBezTo>
                      <a:pt x="914" y="1863"/>
                      <a:pt x="914" y="1737"/>
                      <a:pt x="992" y="1659"/>
                    </a:cubicBezTo>
                    <a:cubicBezTo>
                      <a:pt x="1070" y="1580"/>
                      <a:pt x="1197" y="1580"/>
                      <a:pt x="1275" y="1659"/>
                    </a:cubicBezTo>
                    <a:lnTo>
                      <a:pt x="2200" y="2584"/>
                    </a:lnTo>
                    <a:lnTo>
                      <a:pt x="3125" y="1659"/>
                    </a:lnTo>
                    <a:cubicBezTo>
                      <a:pt x="3203" y="1580"/>
                      <a:pt x="3330" y="1580"/>
                      <a:pt x="3408" y="1659"/>
                    </a:cubicBezTo>
                    <a:cubicBezTo>
                      <a:pt x="3486" y="1737"/>
                      <a:pt x="3486" y="1863"/>
                      <a:pt x="3408" y="194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7" name="Bullet1" descr="b7c92c6e-5558-476e-9c63-34f9d1cb5068"/>
              <p:cNvSpPr/>
              <p:nvPr/>
            </p:nvSpPr>
            <p:spPr>
              <a:xfrm flipH="1">
                <a:off x="982804" y="2173469"/>
                <a:ext cx="10523390" cy="398049"/>
              </a:xfrm>
              <a:prstGeom prst="roundRect">
                <a:avLst>
                  <a:gd name="adj" fmla="val 0"/>
                </a:avLst>
              </a:prstGeom>
              <a:noFill/>
              <a:ln w="12700" cap="rnd">
                <a:noFill/>
                <a:prstDash val="solid"/>
                <a:round/>
              </a:ln>
              <a:effectLst>
                <a:outerShdw blurRad="254000" dist="127000" algn="ctr" rotWithShape="0">
                  <a:schemeClr val="bg1">
                    <a:lumMod val="65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 anchorCtr="0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800" b="1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核心问题</a:t>
                </a:r>
                <a:endParaRPr lang="en-US" sz="1800" b="1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8" name="Text1" descr="f778acbc-8a5a-4da3-978f-de1a70397e3d"/>
              <p:cNvSpPr txBox="1"/>
              <p:nvPr/>
            </p:nvSpPr>
            <p:spPr>
              <a:xfrm flipH="1">
                <a:off x="982804" y="2681095"/>
                <a:ext cx="10523390" cy="742721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如何用数据客观描绘宫崎骏40年创作中“人文内核”的演变？</a:t>
                </a:r>
                <a:endParaRPr lang="en-US" sz="12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23" name="组合 22" descr="e63ac6cd-d2fc-4fbe-9ec2-653fd47f86b6"/>
            <p:cNvGrpSpPr/>
            <p:nvPr/>
          </p:nvGrpSpPr>
          <p:grpSpPr>
            <a:xfrm>
              <a:off x="675279" y="3528610"/>
              <a:ext cx="10830919" cy="1250347"/>
              <a:chOff x="675279" y="3528610"/>
              <a:chExt cx="10830919" cy="1250347"/>
            </a:xfrm>
          </p:grpSpPr>
          <p:sp>
            <p:nvSpPr>
              <p:cNvPr id="10" name="Icon2" descr="35c106e3-4b66-4708-bb05-4445dfb9a560"/>
              <p:cNvSpPr/>
              <p:nvPr/>
            </p:nvSpPr>
            <p:spPr>
              <a:xfrm>
                <a:off x="675279" y="3817082"/>
                <a:ext cx="219540" cy="219155"/>
              </a:xfrm>
              <a:custGeom>
                <a:avLst/>
                <a:gdLst>
                  <a:gd name="T0" fmla="*/ 2200 w 4400"/>
                  <a:gd name="T1" fmla="*/ 0 h 4400"/>
                  <a:gd name="T2" fmla="*/ 0 w 4400"/>
                  <a:gd name="T3" fmla="*/ 2200 h 4400"/>
                  <a:gd name="T4" fmla="*/ 2200 w 4400"/>
                  <a:gd name="T5" fmla="*/ 4400 h 4400"/>
                  <a:gd name="T6" fmla="*/ 4400 w 4400"/>
                  <a:gd name="T7" fmla="*/ 2200 h 4400"/>
                  <a:gd name="T8" fmla="*/ 2200 w 4400"/>
                  <a:gd name="T9" fmla="*/ 0 h 4400"/>
                  <a:gd name="T10" fmla="*/ 3408 w 4400"/>
                  <a:gd name="T11" fmla="*/ 1941 h 4400"/>
                  <a:gd name="T12" fmla="*/ 2341 w 4400"/>
                  <a:gd name="T13" fmla="*/ 3008 h 4400"/>
                  <a:gd name="T14" fmla="*/ 2200 w 4400"/>
                  <a:gd name="T15" fmla="*/ 3067 h 4400"/>
                  <a:gd name="T16" fmla="*/ 2059 w 4400"/>
                  <a:gd name="T17" fmla="*/ 3008 h 4400"/>
                  <a:gd name="T18" fmla="*/ 992 w 4400"/>
                  <a:gd name="T19" fmla="*/ 1941 h 4400"/>
                  <a:gd name="T20" fmla="*/ 992 w 4400"/>
                  <a:gd name="T21" fmla="*/ 1659 h 4400"/>
                  <a:gd name="T22" fmla="*/ 1275 w 4400"/>
                  <a:gd name="T23" fmla="*/ 1659 h 4400"/>
                  <a:gd name="T24" fmla="*/ 2200 w 4400"/>
                  <a:gd name="T25" fmla="*/ 2584 h 4400"/>
                  <a:gd name="T26" fmla="*/ 3125 w 4400"/>
                  <a:gd name="T27" fmla="*/ 1659 h 4400"/>
                  <a:gd name="T28" fmla="*/ 3408 w 4400"/>
                  <a:gd name="T29" fmla="*/ 1659 h 4400"/>
                  <a:gd name="T30" fmla="*/ 3408 w 4400"/>
                  <a:gd name="T31" fmla="*/ 1941 h 44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400" h="4400">
                    <a:moveTo>
                      <a:pt x="2200" y="0"/>
                    </a:moveTo>
                    <a:cubicBezTo>
                      <a:pt x="987" y="0"/>
                      <a:pt x="0" y="987"/>
                      <a:pt x="0" y="2200"/>
                    </a:cubicBezTo>
                    <a:cubicBezTo>
                      <a:pt x="0" y="3413"/>
                      <a:pt x="987" y="4400"/>
                      <a:pt x="2200" y="4400"/>
                    </a:cubicBezTo>
                    <a:cubicBezTo>
                      <a:pt x="3413" y="4400"/>
                      <a:pt x="4400" y="3413"/>
                      <a:pt x="4400" y="2200"/>
                    </a:cubicBezTo>
                    <a:cubicBezTo>
                      <a:pt x="4400" y="987"/>
                      <a:pt x="3413" y="0"/>
                      <a:pt x="2200" y="0"/>
                    </a:cubicBezTo>
                    <a:close/>
                    <a:moveTo>
                      <a:pt x="3408" y="1941"/>
                    </a:moveTo>
                    <a:lnTo>
                      <a:pt x="2341" y="3008"/>
                    </a:lnTo>
                    <a:cubicBezTo>
                      <a:pt x="2304" y="3046"/>
                      <a:pt x="2253" y="3067"/>
                      <a:pt x="2200" y="3067"/>
                    </a:cubicBezTo>
                    <a:cubicBezTo>
                      <a:pt x="2147" y="3067"/>
                      <a:pt x="2096" y="3046"/>
                      <a:pt x="2059" y="3008"/>
                    </a:cubicBezTo>
                    <a:lnTo>
                      <a:pt x="992" y="1941"/>
                    </a:lnTo>
                    <a:cubicBezTo>
                      <a:pt x="914" y="1863"/>
                      <a:pt x="914" y="1737"/>
                      <a:pt x="992" y="1659"/>
                    </a:cubicBezTo>
                    <a:cubicBezTo>
                      <a:pt x="1070" y="1580"/>
                      <a:pt x="1197" y="1580"/>
                      <a:pt x="1275" y="1659"/>
                    </a:cubicBezTo>
                    <a:lnTo>
                      <a:pt x="2200" y="2584"/>
                    </a:lnTo>
                    <a:lnTo>
                      <a:pt x="3125" y="1659"/>
                    </a:lnTo>
                    <a:cubicBezTo>
                      <a:pt x="3203" y="1580"/>
                      <a:pt x="3330" y="1580"/>
                      <a:pt x="3408" y="1659"/>
                    </a:cubicBezTo>
                    <a:cubicBezTo>
                      <a:pt x="3486" y="1737"/>
                      <a:pt x="3486" y="1863"/>
                      <a:pt x="3408" y="194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11" name="Bullet2" descr="fe35763c-1c91-4313-8032-a19a76c19058"/>
              <p:cNvSpPr/>
              <p:nvPr/>
            </p:nvSpPr>
            <p:spPr>
              <a:xfrm flipH="1">
                <a:off x="982808" y="3528610"/>
                <a:ext cx="10523390" cy="398049"/>
              </a:xfrm>
              <a:prstGeom prst="roundRect">
                <a:avLst>
                  <a:gd name="adj" fmla="val 0"/>
                </a:avLst>
              </a:prstGeom>
              <a:noFill/>
              <a:ln w="12700" cap="rnd">
                <a:noFill/>
                <a:prstDash val="solid"/>
                <a:round/>
              </a:ln>
              <a:effectLst>
                <a:outerShdw blurRad="254000" dist="127000" algn="ctr" rotWithShape="0">
                  <a:schemeClr val="bg1">
                    <a:lumMod val="65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 anchorCtr="0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800" b="1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研究假设</a:t>
                </a:r>
                <a:endParaRPr lang="en-US" sz="1800" b="1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2" name="Text2" descr="b91e1195-9914-4ec9-80a3-e13d60fb041e"/>
              <p:cNvSpPr txBox="1"/>
              <p:nvPr/>
            </p:nvSpPr>
            <p:spPr>
              <a:xfrm flipH="1">
                <a:off x="982808" y="4036236"/>
                <a:ext cx="10523390" cy="742721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数字分析将揭示其台词情感从积极转向复杂内敛，主题从理想共生演变为现实承担。</a:t>
                </a:r>
                <a:endParaRPr lang="en-US" sz="12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24" name="组合 23" descr="10041e39-e37d-4494-84e4-8c3d1d19be4f"/>
            <p:cNvGrpSpPr/>
            <p:nvPr/>
          </p:nvGrpSpPr>
          <p:grpSpPr>
            <a:xfrm>
              <a:off x="675279" y="4883752"/>
              <a:ext cx="10834880" cy="1250347"/>
              <a:chOff x="675279" y="4883752"/>
              <a:chExt cx="10834880" cy="1250347"/>
            </a:xfrm>
          </p:grpSpPr>
          <p:sp>
            <p:nvSpPr>
              <p:cNvPr id="14" name="Icon3" descr="2432057f-9f18-496f-950d-990a6c6c3de7"/>
              <p:cNvSpPr/>
              <p:nvPr/>
            </p:nvSpPr>
            <p:spPr>
              <a:xfrm>
                <a:off x="675279" y="5172224"/>
                <a:ext cx="219540" cy="219155"/>
              </a:xfrm>
              <a:custGeom>
                <a:avLst/>
                <a:gdLst>
                  <a:gd name="T0" fmla="*/ 2200 w 4400"/>
                  <a:gd name="T1" fmla="*/ 0 h 4400"/>
                  <a:gd name="T2" fmla="*/ 0 w 4400"/>
                  <a:gd name="T3" fmla="*/ 2200 h 4400"/>
                  <a:gd name="T4" fmla="*/ 2200 w 4400"/>
                  <a:gd name="T5" fmla="*/ 4400 h 4400"/>
                  <a:gd name="T6" fmla="*/ 4400 w 4400"/>
                  <a:gd name="T7" fmla="*/ 2200 h 4400"/>
                  <a:gd name="T8" fmla="*/ 2200 w 4400"/>
                  <a:gd name="T9" fmla="*/ 0 h 4400"/>
                  <a:gd name="T10" fmla="*/ 3408 w 4400"/>
                  <a:gd name="T11" fmla="*/ 1941 h 4400"/>
                  <a:gd name="T12" fmla="*/ 2341 w 4400"/>
                  <a:gd name="T13" fmla="*/ 3008 h 4400"/>
                  <a:gd name="T14" fmla="*/ 2200 w 4400"/>
                  <a:gd name="T15" fmla="*/ 3067 h 4400"/>
                  <a:gd name="T16" fmla="*/ 2059 w 4400"/>
                  <a:gd name="T17" fmla="*/ 3008 h 4400"/>
                  <a:gd name="T18" fmla="*/ 992 w 4400"/>
                  <a:gd name="T19" fmla="*/ 1941 h 4400"/>
                  <a:gd name="T20" fmla="*/ 992 w 4400"/>
                  <a:gd name="T21" fmla="*/ 1659 h 4400"/>
                  <a:gd name="T22" fmla="*/ 1275 w 4400"/>
                  <a:gd name="T23" fmla="*/ 1659 h 4400"/>
                  <a:gd name="T24" fmla="*/ 2200 w 4400"/>
                  <a:gd name="T25" fmla="*/ 2584 h 4400"/>
                  <a:gd name="T26" fmla="*/ 3125 w 4400"/>
                  <a:gd name="T27" fmla="*/ 1659 h 4400"/>
                  <a:gd name="T28" fmla="*/ 3408 w 4400"/>
                  <a:gd name="T29" fmla="*/ 1659 h 4400"/>
                  <a:gd name="T30" fmla="*/ 3408 w 4400"/>
                  <a:gd name="T31" fmla="*/ 1941 h 44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400" h="4400">
                    <a:moveTo>
                      <a:pt x="2200" y="0"/>
                    </a:moveTo>
                    <a:cubicBezTo>
                      <a:pt x="987" y="0"/>
                      <a:pt x="0" y="987"/>
                      <a:pt x="0" y="2200"/>
                    </a:cubicBezTo>
                    <a:cubicBezTo>
                      <a:pt x="0" y="3413"/>
                      <a:pt x="987" y="4400"/>
                      <a:pt x="2200" y="4400"/>
                    </a:cubicBezTo>
                    <a:cubicBezTo>
                      <a:pt x="3413" y="4400"/>
                      <a:pt x="4400" y="3413"/>
                      <a:pt x="4400" y="2200"/>
                    </a:cubicBezTo>
                    <a:cubicBezTo>
                      <a:pt x="4400" y="987"/>
                      <a:pt x="3413" y="0"/>
                      <a:pt x="2200" y="0"/>
                    </a:cubicBezTo>
                    <a:close/>
                    <a:moveTo>
                      <a:pt x="3408" y="1941"/>
                    </a:moveTo>
                    <a:lnTo>
                      <a:pt x="2341" y="3008"/>
                    </a:lnTo>
                    <a:cubicBezTo>
                      <a:pt x="2304" y="3046"/>
                      <a:pt x="2253" y="3067"/>
                      <a:pt x="2200" y="3067"/>
                    </a:cubicBezTo>
                    <a:cubicBezTo>
                      <a:pt x="2147" y="3067"/>
                      <a:pt x="2096" y="3046"/>
                      <a:pt x="2059" y="3008"/>
                    </a:cubicBezTo>
                    <a:lnTo>
                      <a:pt x="992" y="1941"/>
                    </a:lnTo>
                    <a:cubicBezTo>
                      <a:pt x="914" y="1863"/>
                      <a:pt x="914" y="1737"/>
                      <a:pt x="992" y="1659"/>
                    </a:cubicBezTo>
                    <a:cubicBezTo>
                      <a:pt x="1070" y="1580"/>
                      <a:pt x="1197" y="1580"/>
                      <a:pt x="1275" y="1659"/>
                    </a:cubicBezTo>
                    <a:lnTo>
                      <a:pt x="2200" y="2584"/>
                    </a:lnTo>
                    <a:lnTo>
                      <a:pt x="3125" y="1659"/>
                    </a:lnTo>
                    <a:cubicBezTo>
                      <a:pt x="3203" y="1580"/>
                      <a:pt x="3330" y="1580"/>
                      <a:pt x="3408" y="1659"/>
                    </a:cubicBezTo>
                    <a:cubicBezTo>
                      <a:pt x="3486" y="1737"/>
                      <a:pt x="3486" y="1863"/>
                      <a:pt x="3408" y="194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15" name="Bullet3" descr="47a2264c-21c5-4a7e-85e3-0547f0d0b759"/>
              <p:cNvSpPr/>
              <p:nvPr/>
            </p:nvSpPr>
            <p:spPr>
              <a:xfrm flipH="1">
                <a:off x="986769" y="4883752"/>
                <a:ext cx="10523390" cy="398049"/>
              </a:xfrm>
              <a:prstGeom prst="roundRect">
                <a:avLst>
                  <a:gd name="adj" fmla="val 0"/>
                </a:avLst>
              </a:prstGeom>
              <a:noFill/>
              <a:ln w="12700" cap="rnd">
                <a:noFill/>
                <a:prstDash val="solid"/>
                <a:round/>
              </a:ln>
              <a:effectLst>
                <a:outerShdw blurRad="254000" dist="127000" algn="ctr" rotWithShape="0">
                  <a:schemeClr val="bg1">
                    <a:lumMod val="65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 anchorCtr="0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800" b="1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分析价值</a:t>
                </a:r>
                <a:endParaRPr lang="en-US" sz="1800" b="1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6" name="Text3" descr="228d2d86-81e4-414d-8f56-eee6a386317f"/>
              <p:cNvSpPr txBox="1"/>
              <p:nvPr/>
            </p:nvSpPr>
            <p:spPr>
              <a:xfrm flipH="1">
                <a:off x="986769" y="5391378"/>
                <a:ext cx="10523390" cy="742721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为感性艺术评论提供可验证的量化证据，丰富对宫崎骏作品的研究视角。</a:t>
                </a:r>
                <a:endParaRPr lang="en-US" sz="12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9" name="标题 8" descr="6e191eb5-7da3-4a4d-bdfb-9524e0e49c7c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2F2F2F"/>
                </a:solidFill>
                <a:ea typeface="微软雅黑" panose="020B0503020204020204" charset="-122"/>
              </a:rPr>
              <a:t>研究问题与核心假设</a:t>
            </a:r>
            <a:endParaRPr lang="en-US" sz="2800" b="1" i="0" u="none">
              <a:solidFill>
                <a:srgbClr val="2F2F2F"/>
              </a:solidFill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6d649ebf-74bc-446c-add3-cfd664cd660c.source.3.zh-Hans.pptx" descr="a7a007fb-4878-4e9f-a2db-476968d4baf7"/>
          <p:cNvGrpSpPr/>
          <p:nvPr>
            <p:custDataLst>
              <p:tags r:id="rId1"/>
            </p:custDataLst>
          </p:nvPr>
        </p:nvGrpSpPr>
        <p:grpSpPr>
          <a:xfrm>
            <a:off x="1" y="1130300"/>
            <a:ext cx="12191999" cy="5727700"/>
            <a:chOff x="1" y="1130300"/>
            <a:chExt cx="12191999" cy="5727700"/>
          </a:xfrm>
        </p:grpSpPr>
        <p:sp>
          <p:nvSpPr>
            <p:cNvPr id="65" name="PictureMisc1" descr="dc327a52-86fb-4b64-ad19-b0575044ce86"/>
            <p:cNvSpPr/>
            <p:nvPr/>
          </p:nvSpPr>
          <p:spPr>
            <a:xfrm>
              <a:off x="1" y="4454604"/>
              <a:ext cx="12191999" cy="2403396"/>
            </a:xfrm>
            <a:prstGeom prst="rect">
              <a:avLst/>
            </a:prstGeom>
            <a:blipFill rotWithShape="1">
              <a:blip r:embed="rId2"/>
              <a:srcRect/>
              <a:stretch>
                <a:fillRect t="-5341" b="-184535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</a:p>
          </p:txBody>
        </p:sp>
        <p:sp>
          <p:nvSpPr>
            <p:cNvPr id="10" name="c" descr="57f825d6-94cb-4389-abad-10a642d23543"/>
            <p:cNvSpPr/>
            <p:nvPr>
              <p:custDataLst>
                <p:tags r:id="rId3"/>
              </p:custDataLst>
            </p:nvPr>
          </p:nvSpPr>
          <p:spPr>
            <a:xfrm>
              <a:off x="598591" y="1824048"/>
              <a:ext cx="10994819" cy="4310052"/>
            </a:xfrm>
            <a:prstGeom prst="roundRect">
              <a:avLst>
                <a:gd name="adj" fmla="val 3015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alpha val="90000"/>
                  </a:schemeClr>
                </a:gs>
              </a:gsLst>
              <a:lin ang="5400000" scaled="1"/>
              <a:tileRect/>
            </a:gradFill>
            <a:ln w="6350">
              <a:gradFill flip="none" rotWithShape="1">
                <a:gsLst>
                  <a:gs pos="0">
                    <a:schemeClr val="tx1">
                      <a:alpha val="50000"/>
                    </a:schemeClr>
                  </a:gs>
                  <a:gs pos="100000">
                    <a:schemeClr val="tx1">
                      <a:alpha val="0"/>
                    </a:schemeClr>
                  </a:gs>
                </a:gsLst>
                <a:lin ang="16200000" scaled="1"/>
                <a:tileRect/>
              </a:gra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 anchorCtr="0">
              <a:normAutofit/>
            </a:bodyPr>
            <a:lstStyle/>
            <a:p>
              <a:pPr algn="ctr">
                <a:lnSpc>
                  <a:spcPct val="120000"/>
                </a:lnSpc>
              </a:pPr>
            </a:p>
          </p:txBody>
        </p:sp>
        <p:cxnSp>
          <p:nvCxnSpPr>
            <p:cNvPr id="226" name="直接连接符 225" descr="dac5d439-7eda-4656-8a7c-1d735399ae92"/>
            <p:cNvCxnSpPr>
              <a:stCxn id="72" idx="3"/>
              <a:endCxn id="76" idx="1"/>
            </p:cNvCxnSpPr>
            <p:nvPr>
              <p:custDataLst>
                <p:tags r:id="rId4"/>
              </p:custDataLst>
            </p:nvPr>
          </p:nvCxnSpPr>
          <p:spPr>
            <a:xfrm>
              <a:off x="3771398" y="2158127"/>
              <a:ext cx="4756171" cy="0"/>
            </a:xfrm>
            <a:prstGeom prst="line">
              <a:avLst/>
            </a:prstGeom>
            <a:ln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8" name="Title" descr="46a4605b-a720-439c-a1b1-159a778ec22b"/>
            <p:cNvSpPr/>
            <p:nvPr/>
          </p:nvSpPr>
          <p:spPr>
            <a:xfrm>
              <a:off x="660399" y="1130300"/>
              <a:ext cx="10858500" cy="608093"/>
            </a:xfrm>
            <a:prstGeom prst="rect">
              <a:avLst/>
            </a:prstGeom>
            <a:noFill/>
            <a:ln w="762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 anchorCtr="0">
              <a:normAutofit/>
            </a:bodyPr>
            <a:lstStyle/>
            <a:p>
              <a:pPr algn="l"/>
              <a:r>
                <a:rPr lang="en-US" sz="2400" b="1" i="0" u="none">
                  <a:solidFill>
                    <a:srgbClr val="2F2F2F"/>
                  </a:solidFill>
                  <a:ea typeface="微软雅黑" panose="020B0503020204020204" charset="-122"/>
                </a:rPr>
                <a:t>了解分析流程与数据概况</a:t>
              </a:r>
              <a:endParaRPr lang="en-US" sz="2400" b="1" i="0" u="none">
                <a:solidFill>
                  <a:srgbClr val="2F2F2F"/>
                </a:solidFill>
                <a:ea typeface="微软雅黑" panose="020B0503020204020204" charset="-122"/>
              </a:endParaRPr>
            </a:p>
          </p:txBody>
        </p:sp>
        <p:grpSp>
          <p:nvGrpSpPr>
            <p:cNvPr id="2" name="组合 1" descr="fc306c34-b247-48d3-a181-bc496b2e9dce"/>
            <p:cNvGrpSpPr/>
            <p:nvPr/>
          </p:nvGrpSpPr>
          <p:grpSpPr>
            <a:xfrm>
              <a:off x="666750" y="2008394"/>
              <a:ext cx="5306495" cy="2437130"/>
              <a:chOff x="666750" y="2008394"/>
              <a:chExt cx="5306495" cy="2437130"/>
            </a:xfrm>
          </p:grpSpPr>
          <p:sp>
            <p:nvSpPr>
              <p:cNvPr id="95" name="Bullet1" descr="d6a79fb6-7846-4c78-a1e1-77663588a57e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666750" y="2428129"/>
                <a:ext cx="5306495" cy="6579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00" b="1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图表展示</a:t>
                </a:r>
                <a:endParaRPr lang="en-US" sz="1800" b="1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96" name="Text1" descr="e17ed25b-e645-4acf-a310-50eddc656dc2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666750" y="3085989"/>
                <a:ext cx="1240790" cy="13595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 lnSpcReduction="10000"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呈现12部作品的时间轴，每部的总台词数、总词数，清晰展现作品</a:t>
                </a:r>
                <a:r>
                  <a:rPr lang="zh-CN" altLang="en-US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文本数据</a:t>
                </a:r>
                <a:r>
                  <a:rPr lang="en-US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。</a:t>
                </a:r>
                <a:endParaRPr lang="en-US" sz="1200" b="0" i="0" u="none" strike="noStrik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72" name="Number1" descr="ecd8c741-42f9-48b5-a544-2783cb87ac08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2868596" y="2008394"/>
                <a:ext cx="902802" cy="299465"/>
              </a:xfrm>
              <a:prstGeom prst="chevron">
                <a:avLst>
                  <a:gd name="adj" fmla="val 37840"/>
                </a:avLst>
              </a:prstGeom>
              <a:solidFill>
                <a:schemeClr val="bg1"/>
              </a:solidFill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 anchorCtr="0">
                <a:normAutofit/>
              </a:bodyPr>
              <a:lstStyle>
                <a:defPPr>
                  <a:defRPr lang="en-US"/>
                </a:defPPr>
                <a:lvl1pPr algn="ctr">
                  <a:defRPr sz="1000" b="1">
                    <a:solidFill>
                      <a:schemeClr val="accent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lang="en-US" sz="1200" b="1" i="0" u="none">
                    <a:solidFill>
                      <a:srgbClr val="00A8F5"/>
                    </a:solidFill>
                    <a:latin typeface="Arial" panose="020B0604020202020204"/>
                  </a:rPr>
                  <a:t>1</a:t>
                </a:r>
                <a:endParaRPr lang="en-US" sz="1200" b="1" i="0" u="none">
                  <a:solidFill>
                    <a:srgbClr val="00A8F5"/>
                  </a:solidFill>
                  <a:latin typeface="Arial" panose="020B0604020202020204"/>
                </a:endParaRPr>
              </a:p>
            </p:txBody>
          </p:sp>
        </p:grpSp>
        <p:grpSp>
          <p:nvGrpSpPr>
            <p:cNvPr id="3" name="组合 2" descr="dc0132b2-887b-4342-b4ed-c33bffd7a45f"/>
            <p:cNvGrpSpPr/>
            <p:nvPr/>
          </p:nvGrpSpPr>
          <p:grpSpPr>
            <a:xfrm>
              <a:off x="6212405" y="2008394"/>
              <a:ext cx="5306495" cy="1985305"/>
              <a:chOff x="6212405" y="2008394"/>
              <a:chExt cx="5306495" cy="1985305"/>
            </a:xfrm>
          </p:grpSpPr>
          <p:sp>
            <p:nvSpPr>
              <p:cNvPr id="77" name="Bullet2" descr="09fbd46d-031f-4d60-b0c6-5abeca306fe6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6212405" y="2428129"/>
                <a:ext cx="5306495" cy="6579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00" b="1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核心方法</a:t>
                </a:r>
                <a:endParaRPr lang="en-US" sz="1800" b="1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78" name="Text2" descr="9d3cdd36-9cfd-4008-9dcf-29c5aee76dac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6212405" y="3086096"/>
                <a:ext cx="5306495" cy="9076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将获取文本填入使用</a:t>
                </a:r>
                <a:r>
                  <a:rPr lang="en-US" altLang="zh-CN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python</a:t>
                </a:r>
                <a:r>
                  <a:rPr lang="zh-CN" altLang="en-US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所构建的模型，完成</a:t>
                </a:r>
                <a:r>
                  <a:rPr lang="en-US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情感分析、主题建模、聚类分析、词汇统计四大</a:t>
                </a:r>
                <a:r>
                  <a:rPr lang="zh-CN" altLang="en-US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关键部分</a:t>
                </a:r>
                <a:r>
                  <a:rPr lang="en-US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。</a:t>
                </a:r>
                <a:endParaRPr lang="en-US" sz="1200" b="0" i="0" u="none" strike="noStrik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76" name="Number2" descr="048a3013-2ca6-49f4-b6b5-ee9106f83404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8414251" y="2008394"/>
                <a:ext cx="902802" cy="299465"/>
              </a:xfrm>
              <a:prstGeom prst="chevron">
                <a:avLst>
                  <a:gd name="adj" fmla="val 37840"/>
                </a:avLst>
              </a:prstGeom>
              <a:solidFill>
                <a:schemeClr val="bg1"/>
              </a:solidFill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 anchorCtr="0">
                <a:normAutofit/>
              </a:bodyPr>
              <a:lstStyle>
                <a:defPPr>
                  <a:defRPr lang="en-US"/>
                </a:defPPr>
                <a:lvl1pPr algn="ctr">
                  <a:defRPr sz="1000" b="1">
                    <a:solidFill>
                      <a:schemeClr val="accent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lang="en-US" sz="1200" b="1" i="0" u="none">
                    <a:solidFill>
                      <a:srgbClr val="00A8F5"/>
                    </a:solidFill>
                    <a:latin typeface="Arial" panose="020B0604020202020204"/>
                  </a:rPr>
                  <a:t>2</a:t>
                </a:r>
                <a:endParaRPr lang="en-US" sz="1200" b="1" i="0" u="none">
                  <a:solidFill>
                    <a:srgbClr val="00A8F5"/>
                  </a:solidFill>
                  <a:latin typeface="Arial" panose="020B0604020202020204"/>
                </a:endParaRPr>
              </a:p>
            </p:txBody>
          </p:sp>
        </p:grpSp>
        <p:sp>
          <p:nvSpPr>
            <p:cNvPr id="240" name="Bullet3" descr="7967fa0a-3bee-4a5c-8ad1-ea84465d394a"/>
            <p:cNvSpPr txBox="1"/>
            <p:nvPr>
              <p:custDataLst>
                <p:tags r:id="rId11"/>
              </p:custDataLst>
            </p:nvPr>
          </p:nvSpPr>
          <p:spPr>
            <a:xfrm>
              <a:off x="666749" y="4445874"/>
              <a:ext cx="10858500" cy="65796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en-US"/>
              </a:defPPr>
              <a:lvl1pPr marR="0" lvl="0" indent="0" defTabSz="913765" fontAlgn="auto"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 kumimoji="0" b="1" i="0" u="none" strike="noStrike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</a:defRPr>
              </a:lvl2pPr>
              <a:lvl3pPr>
                <a:defRPr>
                  <a:solidFill>
                    <a:schemeClr val="tx1"/>
                  </a:solidFill>
                </a:defRPr>
              </a:lvl3pPr>
              <a:lvl4pPr>
                <a:defRPr>
                  <a:solidFill>
                    <a:schemeClr val="tx1"/>
                  </a:solidFill>
                </a:defRPr>
              </a:lvl4pPr>
              <a:lvl5pPr>
                <a:defRPr>
                  <a:solidFill>
                    <a:schemeClr val="tx1"/>
                  </a:solidFill>
                </a:defRPr>
              </a:lvl5pPr>
              <a:lvl6pPr>
                <a:defRPr>
                  <a:solidFill>
                    <a:schemeClr val="tx1"/>
                  </a:solidFill>
                </a:defRPr>
              </a:lvl6pPr>
              <a:lvl7pPr>
                <a:defRPr>
                  <a:solidFill>
                    <a:schemeClr val="tx1"/>
                  </a:solidFill>
                </a:defRPr>
              </a:lvl7pPr>
              <a:lvl8pPr>
                <a:defRPr>
                  <a:solidFill>
                    <a:schemeClr val="tx1"/>
                  </a:solidFill>
                </a:defRPr>
              </a:lvl8pPr>
              <a:lvl9pPr>
                <a:defRPr>
                  <a:solidFill>
                    <a:schemeClr val="tx1"/>
                  </a:solidFill>
                </a:defRPr>
              </a:lvl9pPr>
            </a:lstStyle>
            <a:p>
              <a:pPr algn="l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800" b="1" i="0" u="none">
                <a:solidFill>
                  <a:srgbClr val="2F2F2F"/>
                </a:solidFill>
                <a:ea typeface="微软雅黑" panose="020B0503020204020204" charset="-122"/>
              </a:endParaRPr>
            </a:p>
          </p:txBody>
        </p:sp>
      </p:grpSp>
      <p:sp>
        <p:nvSpPr>
          <p:cNvPr id="6" name="标题 5" descr="6e191eb5-7da3-4a4d-bdfb-9524e0e49c7c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2F2F2F"/>
                </a:solidFill>
                <a:ea typeface="微软雅黑" panose="020B0503020204020204" charset="-122"/>
              </a:rPr>
              <a:t>分析框架与数据全景</a:t>
            </a:r>
            <a:endParaRPr lang="en-US" sz="2800" b="1" i="0" u="none">
              <a:solidFill>
                <a:srgbClr val="2F2F2F"/>
              </a:solidFill>
              <a:ea typeface="微软雅黑" panose="020B050302020402020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07540" y="2687320"/>
            <a:ext cx="4144645" cy="241617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31db00da-9fb8-423b-a3b5-3fab5170efcf.source.2.zh-Hans.pptx" descr="e735ad37-0690-4da2-978a-c8d75cb3bcae"/>
          <p:cNvGrpSpPr/>
          <p:nvPr/>
        </p:nvGrpSpPr>
        <p:grpSpPr>
          <a:xfrm>
            <a:off x="660192" y="1130300"/>
            <a:ext cx="10858708" cy="5251879"/>
            <a:chOff x="660192" y="1130300"/>
            <a:chExt cx="10858708" cy="5251879"/>
          </a:xfrm>
        </p:grpSpPr>
        <p:sp>
          <p:nvSpPr>
            <p:cNvPr id="15" name="Title" descr="b1d378ec-34d0-40d9-b5b0-6a6cb65a67e1"/>
            <p:cNvSpPr txBox="1"/>
            <p:nvPr/>
          </p:nvSpPr>
          <p:spPr>
            <a:xfrm>
              <a:off x="684322" y="1130300"/>
              <a:ext cx="10834578" cy="881380"/>
            </a:xfrm>
            <a:prstGeom prst="rect">
              <a:avLst/>
            </a:prstGeom>
            <a:noFill/>
          </p:spPr>
          <p:txBody>
            <a:bodyPr vert="horz" wrap="square" rtlCol="0" anchor="t" anchorCtr="1">
              <a:normAutofit/>
            </a:bodyPr>
            <a:lstStyle/>
            <a:p>
              <a:pPr algn="ctr"/>
              <a:r>
                <a:rPr lang="en-US" sz="2400" b="1" i="0" u="none">
                  <a:solidFill>
                    <a:srgbClr val="2F2F2F"/>
                  </a:solidFill>
                  <a:ea typeface="微软雅黑" panose="020B0503020204020204" charset="-122"/>
                </a:rPr>
                <a:t>认识分析工具</a:t>
              </a:r>
              <a:endParaRPr lang="en-US" sz="2400" b="1" i="0" u="none">
                <a:solidFill>
                  <a:srgbClr val="2F2F2F"/>
                </a:solidFill>
                <a:ea typeface="微软雅黑" panose="020B0503020204020204" charset="-122"/>
              </a:endParaRPr>
            </a:p>
          </p:txBody>
        </p:sp>
        <p:sp>
          <p:nvSpPr>
            <p:cNvPr id="3" name="Bullet1" descr="458b9f59-e62a-4af6-8d00-dca6a5c148eb"/>
            <p:cNvSpPr/>
            <p:nvPr/>
          </p:nvSpPr>
          <p:spPr bwMode="auto">
            <a:xfrm>
              <a:off x="660192" y="1737789"/>
              <a:ext cx="5142582" cy="497567"/>
            </a:xfrm>
            <a:prstGeom prst="rect">
              <a:avLst/>
            </a:prstGeom>
            <a:solidFill>
              <a:schemeClr val="accent1"/>
            </a:solidFill>
            <a:ln w="3175" algn="ctr">
              <a:solidFill>
                <a:schemeClr val="accent1"/>
              </a:solidFill>
              <a:round/>
            </a:ln>
          </p:spPr>
          <p:txBody>
            <a:bodyPr wrap="square" lIns="91440" tIns="45720" rIns="91440" bIns="45720" anchor="ctr" anchorCtr="0">
              <a:normAutofit/>
            </a:bodyPr>
            <a:lstStyle/>
            <a:p>
              <a:pPr algn="ctr"/>
              <a:r>
                <a:rPr lang="zh-CN" altLang="en-US" sz="1800" b="1" i="0" u="none">
                  <a:solidFill>
                    <a:srgbClr val="FFFFFF"/>
                  </a:solidFill>
                  <a:ea typeface="微软雅黑" panose="020B0503020204020204" charset="-122"/>
                </a:rPr>
                <a:t>九</a:t>
              </a:r>
              <a:r>
                <a:rPr lang="en-US" sz="1800" b="1" i="0" u="none">
                  <a:solidFill>
                    <a:srgbClr val="FFFFFF"/>
                  </a:solidFill>
                  <a:ea typeface="微软雅黑" panose="020B0503020204020204" charset="-122"/>
                </a:rPr>
                <a:t>类图表列举</a:t>
              </a:r>
              <a:r>
                <a:rPr lang="zh-CN" altLang="en-US" sz="1800" b="1" i="0" u="none">
                  <a:solidFill>
                    <a:srgbClr val="FFFFFF"/>
                  </a:solidFill>
                  <a:ea typeface="微软雅黑" panose="020B0503020204020204" charset="-122"/>
                </a:rPr>
                <a:t>（以龙猫为例）</a:t>
              </a:r>
              <a:endParaRPr lang="zh-CN" altLang="en-US" sz="1800" b="1" i="0" u="none">
                <a:solidFill>
                  <a:srgbClr val="FFFFFF"/>
                </a:solidFill>
                <a:ea typeface="微软雅黑" panose="020B0503020204020204" charset="-122"/>
              </a:endParaRPr>
            </a:p>
          </p:txBody>
        </p:sp>
        <p:grpSp>
          <p:nvGrpSpPr>
            <p:cNvPr id="20" name="组合 19" descr="71bd9299-b6e3-4665-9050-939086cf29cb"/>
            <p:cNvGrpSpPr/>
            <p:nvPr/>
          </p:nvGrpSpPr>
          <p:grpSpPr>
            <a:xfrm>
              <a:off x="6376318" y="1737154"/>
              <a:ext cx="5142582" cy="4645025"/>
              <a:chOff x="6376318" y="1737154"/>
              <a:chExt cx="5142582" cy="4645025"/>
            </a:xfrm>
          </p:grpSpPr>
          <p:sp>
            <p:nvSpPr>
              <p:cNvPr id="4" name="Bullet2" descr="df906b67-5a85-4419-82cc-fc7dddd1e1a9"/>
              <p:cNvSpPr/>
              <p:nvPr/>
            </p:nvSpPr>
            <p:spPr bwMode="auto">
              <a:xfrm>
                <a:off x="6376318" y="1737154"/>
                <a:ext cx="5142582" cy="497567"/>
              </a:xfrm>
              <a:prstGeom prst="rect">
                <a:avLst/>
              </a:prstGeom>
              <a:solidFill>
                <a:schemeClr val="accent1"/>
              </a:solidFill>
              <a:ln w="3175" algn="ctr">
                <a:solidFill>
                  <a:schemeClr val="accent1"/>
                </a:solidFill>
                <a:round/>
              </a:ln>
            </p:spPr>
            <p:txBody>
              <a:bodyPr wrap="square" lIns="91440" tIns="45720" rIns="91440" bIns="45720" anchor="ctr" anchorCtr="0">
                <a:normAutofit/>
              </a:bodyPr>
              <a:lstStyle/>
              <a:p>
                <a:pPr algn="ctr"/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每项图表作用说明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8" name="Text2" descr="89425ed8-a6e3-4b59-a8f6-57989ff648c5"/>
              <p:cNvSpPr/>
              <p:nvPr/>
            </p:nvSpPr>
            <p:spPr bwMode="auto">
              <a:xfrm>
                <a:off x="6449978" y="2322624"/>
                <a:ext cx="4995545" cy="40595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1">
                <a:normAutofit fontScale="8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280000"/>
                  </a:lnSpc>
                </a:pPr>
                <a:r>
                  <a:rPr lang="en-US" altLang="zh-CN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1.</a:t>
                </a:r>
                <a:r>
                  <a:rPr lang="zh-CN" alt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情感叙事曲线</a:t>
                </a:r>
                <a:endParaRPr lang="zh-CN" altLang="en-US" sz="12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  <a:p>
                <a:pPr algn="ctr">
                  <a:lnSpc>
                    <a:spcPct val="280000"/>
                  </a:lnSpc>
                </a:pPr>
                <a:r>
                  <a:rPr lang="en-US" altLang="zh-CN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2.</a:t>
                </a:r>
                <a:r>
                  <a:rPr lang="zh-CN" alt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情感分布直方图</a:t>
                </a:r>
                <a:endParaRPr lang="zh-CN" altLang="en-US" sz="12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  <a:p>
                <a:pPr algn="ctr">
                  <a:lnSpc>
                    <a:spcPct val="280000"/>
                  </a:lnSpc>
                </a:pPr>
                <a:r>
                  <a:rPr lang="en-US" altLang="zh-CN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3.</a:t>
                </a:r>
                <a:r>
                  <a:rPr lang="zh-CN" alt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台词长度分布</a:t>
                </a:r>
                <a:endParaRPr lang="zh-CN" altLang="en-US" sz="12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  <a:p>
                <a:pPr algn="ctr">
                  <a:lnSpc>
                    <a:spcPct val="280000"/>
                  </a:lnSpc>
                </a:pPr>
                <a:r>
                  <a:rPr lang="en-US" altLang="zh-CN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4.</a:t>
                </a:r>
                <a:r>
                  <a:rPr lang="zh-CN" alt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主题随时间分布</a:t>
                </a:r>
                <a:endParaRPr lang="zh-CN" altLang="en-US" sz="12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  <a:p>
                <a:pPr algn="ctr">
                  <a:lnSpc>
                    <a:spcPct val="280000"/>
                  </a:lnSpc>
                </a:pPr>
                <a:r>
                  <a:rPr lang="en-US" altLang="zh-CN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5.</a:t>
                </a:r>
                <a:r>
                  <a:rPr lang="zh-CN" alt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主题</a:t>
                </a:r>
                <a:r>
                  <a:rPr lang="en-US" altLang="zh-CN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-</a:t>
                </a:r>
                <a:r>
                  <a:rPr lang="zh-CN" alt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情感关系</a:t>
                </a:r>
                <a:endParaRPr lang="zh-CN" altLang="en-US" sz="12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  <a:p>
                <a:pPr algn="ctr">
                  <a:lnSpc>
                    <a:spcPct val="280000"/>
                  </a:lnSpc>
                </a:pPr>
                <a:r>
                  <a:rPr lang="en-US" altLang="zh-CN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6.</a:t>
                </a:r>
                <a:r>
                  <a:rPr lang="zh-CN" alt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高频词条形图</a:t>
                </a:r>
                <a:endParaRPr lang="zh-CN" altLang="en-US" sz="12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  <a:p>
                <a:pPr algn="ctr">
                  <a:lnSpc>
                    <a:spcPct val="280000"/>
                  </a:lnSpc>
                </a:pPr>
                <a:r>
                  <a:rPr lang="en-US" altLang="zh-CN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7.</a:t>
                </a:r>
                <a:r>
                  <a:rPr lang="zh-CN" alt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主题情感箱线图</a:t>
                </a:r>
                <a:endParaRPr lang="zh-CN" altLang="en-US" sz="12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  <a:p>
                <a:pPr algn="ctr">
                  <a:lnSpc>
                    <a:spcPct val="280000"/>
                  </a:lnSpc>
                </a:pPr>
                <a:r>
                  <a:rPr lang="en-US" altLang="zh-CN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8.</a:t>
                </a:r>
                <a:r>
                  <a:rPr lang="zh-CN" alt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主题置信度分布</a:t>
                </a:r>
                <a:endParaRPr lang="zh-CN" altLang="en-US" sz="12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  <a:p>
                <a:pPr algn="ctr">
                  <a:lnSpc>
                    <a:spcPct val="280000"/>
                  </a:lnSpc>
                </a:pPr>
                <a:r>
                  <a:rPr lang="en-US" altLang="zh-CN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9.</a:t>
                </a:r>
                <a:r>
                  <a:rPr lang="zh-CN" alt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情感分类饼图</a:t>
                </a:r>
                <a:endParaRPr lang="zh-CN" altLang="en-US" sz="12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  <a:p>
                <a:pPr algn="ctr">
                  <a:lnSpc>
                    <a:spcPct val="120000"/>
                  </a:lnSpc>
                </a:pPr>
                <a:endParaRPr lang="en-US" altLang="zh-CN" sz="12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  <a:p>
                <a:pPr algn="ctr">
                  <a:lnSpc>
                    <a:spcPct val="120000"/>
                  </a:lnSpc>
                </a:pPr>
                <a:endParaRPr lang="en-US" altLang="zh-CN" sz="12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" name="标题 1" descr="6e191eb5-7da3-4a4d-bdfb-9524e0e49c7c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2800" b="1" i="0" u="none">
                <a:solidFill>
                  <a:srgbClr val="2F2F2F"/>
                </a:solidFill>
                <a:ea typeface="微软雅黑" panose="020B0503020204020204" charset="-122"/>
              </a:rPr>
              <a:t>九</a:t>
            </a:r>
            <a:r>
              <a:rPr lang="en-US" sz="2800" b="1" i="0" u="none">
                <a:solidFill>
                  <a:srgbClr val="2F2F2F"/>
                </a:solidFill>
                <a:ea typeface="微软雅黑" panose="020B0503020204020204" charset="-122"/>
              </a:rPr>
              <a:t>把“数据透镜”介绍</a:t>
            </a:r>
            <a:endParaRPr lang="en-US" sz="2800" b="1" i="0" u="none">
              <a:solidFill>
                <a:srgbClr val="2F2F2F"/>
              </a:solidFill>
              <a:ea typeface="微软雅黑" panose="020B0503020204020204" charset="-122"/>
            </a:endParaRPr>
          </a:p>
        </p:txBody>
      </p:sp>
      <p:pic>
        <p:nvPicPr>
          <p:cNvPr id="7" name="图片 6" descr="anime_dialogue_analysis_english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400" y="2322830"/>
            <a:ext cx="5141595" cy="405955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 descr="83080c70-41ea-40d2-8fde-221379addbe5"/>
          <p:cNvSpPr>
            <a:spLocks noGrp="1"/>
          </p:cNvSpPr>
          <p:nvPr>
            <p:ph type="title" hasCustomPrompt="1"/>
          </p:nvPr>
        </p:nvSpPr>
        <p:spPr/>
        <p:txBody>
          <a:bodyPr anchorCtr="0">
            <a:normAutofit fontScale="90000"/>
          </a:bodyPr>
          <a:lstStyle/>
          <a:p>
            <a:pPr algn="r">
              <a:lnSpc>
                <a:spcPct val="100000"/>
              </a:lnSpc>
              <a:spcBef>
                <a:spcPct val="0"/>
              </a:spcBef>
            </a:pPr>
            <a:r>
              <a:rPr lang="zh-CN" altLang="en-US" sz="3200" b="1" i="0" u="none">
                <a:solidFill>
                  <a:srgbClr val="FFFFFF"/>
                </a:solidFill>
                <a:ea typeface="微软雅黑" panose="020B0503020204020204" charset="-122"/>
              </a:rPr>
              <a:t>早、中、晚三个时期代表作剖析</a:t>
            </a:r>
            <a:endParaRPr lang="zh-CN" altLang="en-US" sz="3200" b="1" i="0" u="none">
              <a:solidFill>
                <a:srgbClr val="FFFFFF"/>
              </a:solidFill>
              <a:ea typeface="微软雅黑" panose="020B0503020204020204" charset="-122"/>
            </a:endParaRPr>
          </a:p>
        </p:txBody>
      </p:sp>
      <p:sp>
        <p:nvSpPr>
          <p:cNvPr id="25" name="文本占位符 24" descr="9652841f-892c-4d47-8897-2571d348380e"/>
          <p:cNvSpPr>
            <a:spLocks noGrp="1"/>
          </p:cNvSpPr>
          <p:nvPr>
            <p:ph type="body" sz="quarter" idx="1" hasCustomPrompt="1"/>
          </p:nvPr>
        </p:nvSpPr>
        <p:spPr/>
        <p:txBody>
          <a:bodyPr anchorCtr="0"/>
          <a:lstStyle/>
          <a:p>
            <a:pPr algn="r">
              <a:lnSpc>
                <a:spcPct val="120000"/>
              </a:lnSpc>
              <a:spcBef>
                <a:spcPts val="1000"/>
              </a:spcBef>
            </a:pPr>
            <a:r>
              <a:rPr lang="zh-CN" altLang="en-US" sz="2000" b="0" i="0" u="none">
                <a:solidFill>
                  <a:srgbClr val="FFFFFF"/>
                </a:solidFill>
                <a:ea typeface="微软雅黑" panose="020B0503020204020204" charset="-122"/>
              </a:rPr>
              <a:t>通过构建的模型细致解剖宫崎骏</a:t>
            </a:r>
            <a:endParaRPr lang="zh-CN" altLang="en-US" sz="2000" b="0" i="0" u="none">
              <a:solidFill>
                <a:srgbClr val="FFFFFF"/>
              </a:solidFill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33c9eead-9f78-49dc-89c7-149710d9762c.source.2.zh-Hans.pptx" descr="31aec807-4bc3-4665-87c3-9f6a410b04b8"/>
          <p:cNvGrpSpPr/>
          <p:nvPr>
            <p:custDataLst>
              <p:tags r:id="rId1"/>
            </p:custDataLst>
          </p:nvPr>
        </p:nvGrpSpPr>
        <p:grpSpPr>
          <a:xfrm>
            <a:off x="0" y="1086636"/>
            <a:ext cx="12192000" cy="4947579"/>
            <a:chOff x="0" y="1086636"/>
            <a:chExt cx="12192000" cy="4947579"/>
          </a:xfrm>
        </p:grpSpPr>
        <p:sp>
          <p:nvSpPr>
            <p:cNvPr id="35" name="任意多边形 34" descr="c0a71d96-bd3a-4f9c-a94e-e1e615ec650a"/>
            <p:cNvSpPr/>
            <p:nvPr/>
          </p:nvSpPr>
          <p:spPr>
            <a:xfrm>
              <a:off x="0" y="1086636"/>
              <a:ext cx="2342356" cy="4684728"/>
            </a:xfrm>
            <a:custGeom>
              <a:avLst/>
              <a:gdLst>
                <a:gd name="connsiteX0" fmla="*/ 0 w 2342356"/>
                <a:gd name="connsiteY0" fmla="*/ 0 h 4684728"/>
                <a:gd name="connsiteX1" fmla="*/ 2342356 w 2342356"/>
                <a:gd name="connsiteY1" fmla="*/ 2342364 h 4684728"/>
                <a:gd name="connsiteX2" fmla="*/ 0 w 2342356"/>
                <a:gd name="connsiteY2" fmla="*/ 4684728 h 468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42356" h="4684728">
                  <a:moveTo>
                    <a:pt x="0" y="0"/>
                  </a:moveTo>
                  <a:cubicBezTo>
                    <a:pt x="1293647" y="0"/>
                    <a:pt x="2342356" y="1048712"/>
                    <a:pt x="2342356" y="2342364"/>
                  </a:cubicBezTo>
                  <a:cubicBezTo>
                    <a:pt x="2342356" y="3636016"/>
                    <a:pt x="1293647" y="4684728"/>
                    <a:pt x="0" y="4684728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 anchorCtr="0">
              <a:noAutofit/>
            </a:bodyPr>
            <a:lstStyle/>
            <a:p>
              <a:pPr algn="ctr">
                <a:lnSpc>
                  <a:spcPct val="150000"/>
                </a:lnSpc>
              </a:pPr>
            </a:p>
          </p:txBody>
        </p:sp>
        <p:sp>
          <p:nvSpPr>
            <p:cNvPr id="33" name="任意多边形 32" descr="8e33bc6e-a204-4c33-bd4f-303d82c5a879"/>
            <p:cNvSpPr/>
            <p:nvPr/>
          </p:nvSpPr>
          <p:spPr>
            <a:xfrm>
              <a:off x="1" y="2530392"/>
              <a:ext cx="898605" cy="1797216"/>
            </a:xfrm>
            <a:custGeom>
              <a:avLst/>
              <a:gdLst>
                <a:gd name="connsiteX0" fmla="*/ 0 w 898605"/>
                <a:gd name="connsiteY0" fmla="*/ 0 h 1797216"/>
                <a:gd name="connsiteX1" fmla="*/ 898605 w 898605"/>
                <a:gd name="connsiteY1" fmla="*/ 898608 h 1797216"/>
                <a:gd name="connsiteX2" fmla="*/ 0 w 898605"/>
                <a:gd name="connsiteY2" fmla="*/ 1797216 h 1797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98605" h="1797216">
                  <a:moveTo>
                    <a:pt x="0" y="0"/>
                  </a:moveTo>
                  <a:cubicBezTo>
                    <a:pt x="496286" y="0"/>
                    <a:pt x="898605" y="402321"/>
                    <a:pt x="898605" y="898608"/>
                  </a:cubicBezTo>
                  <a:cubicBezTo>
                    <a:pt x="898605" y="1394895"/>
                    <a:pt x="496286" y="1797216"/>
                    <a:pt x="0" y="1797216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 anchorCtr="0"/>
            <a:lstStyle/>
            <a:p>
              <a:pPr algn="ctr"/>
            </a:p>
          </p:txBody>
        </p:sp>
        <p:cxnSp>
          <p:nvCxnSpPr>
            <p:cNvPr id="7" name="直接连接符 6" descr="39f3a24c-146e-4d34-92b1-07709974cdc7"/>
            <p:cNvCxnSpPr/>
            <p:nvPr/>
          </p:nvCxnSpPr>
          <p:spPr>
            <a:xfrm>
              <a:off x="2342356" y="3429000"/>
              <a:ext cx="1956858" cy="0"/>
            </a:xfrm>
            <a:prstGeom prst="line">
              <a:avLst/>
            </a:prstGeom>
            <a:noFill/>
            <a:ln w="12700">
              <a:solidFill>
                <a:schemeClr val="tx2">
                  <a:alpha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" name="直接连接符 8" descr="b0a4c4eb-eb14-4df6-ac76-4089bd7258d1"/>
            <p:cNvCxnSpPr/>
            <p:nvPr>
              <p:custDataLst>
                <p:tags r:id="rId2"/>
              </p:custDataLst>
            </p:nvPr>
          </p:nvCxnSpPr>
          <p:spPr>
            <a:xfrm>
              <a:off x="5379214" y="3429000"/>
              <a:ext cx="2889481" cy="0"/>
            </a:xfrm>
            <a:prstGeom prst="line">
              <a:avLst/>
            </a:prstGeom>
            <a:noFill/>
            <a:ln w="12700">
              <a:solidFill>
                <a:schemeClr val="tx2">
                  <a:alpha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" name="直接连接符 10" descr="4b83325f-897a-43f9-9fc5-3eef6cb0fb0d"/>
            <p:cNvCxnSpPr/>
            <p:nvPr/>
          </p:nvCxnSpPr>
          <p:spPr>
            <a:xfrm>
              <a:off x="9348695" y="3429000"/>
              <a:ext cx="2843305" cy="1"/>
            </a:xfrm>
            <a:prstGeom prst="line">
              <a:avLst/>
            </a:prstGeom>
            <a:noFill/>
            <a:ln w="12700">
              <a:solidFill>
                <a:schemeClr val="tx2">
                  <a:alpha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" name="Title" descr="c7071740-c2d1-41f8-b148-fcd1618764e4"/>
            <p:cNvSpPr txBox="1"/>
            <p:nvPr/>
          </p:nvSpPr>
          <p:spPr>
            <a:xfrm>
              <a:off x="2450122" y="1125538"/>
              <a:ext cx="9068777" cy="1261533"/>
            </a:xfrm>
            <a:prstGeom prst="rect">
              <a:avLst/>
            </a:prstGeom>
            <a:noFill/>
          </p:spPr>
          <p:txBody>
            <a:bodyPr vert="horz" wrap="square" rtlCol="0" anchor="ctr" anchorCtr="1">
              <a:normAutofit/>
            </a:bodyPr>
            <a:lstStyle/>
            <a:p>
              <a:pPr algn="ctr"/>
              <a:r>
                <a:rPr lang="en-US" sz="2400" b="1" i="0" u="none">
                  <a:solidFill>
                    <a:srgbClr val="2F2F2F"/>
                  </a:solidFill>
                  <a:ea typeface="微软雅黑" panose="020B0503020204020204" charset="-122"/>
                </a:rPr>
                <a:t>感受理想启航之作</a:t>
              </a:r>
              <a:endParaRPr lang="en-US" sz="2400" b="1" i="0" u="none">
                <a:solidFill>
                  <a:srgbClr val="2F2F2F"/>
                </a:solidFill>
                <a:ea typeface="微软雅黑" panose="020B0503020204020204" charset="-122"/>
              </a:endParaRPr>
            </a:p>
          </p:txBody>
        </p:sp>
        <p:grpSp>
          <p:nvGrpSpPr>
            <p:cNvPr id="5" name="组合 4" descr="5c2fea9f-4b2d-4ed6-91df-abbc3a8fc4ea"/>
            <p:cNvGrpSpPr/>
            <p:nvPr/>
          </p:nvGrpSpPr>
          <p:grpSpPr>
            <a:xfrm>
              <a:off x="3264100" y="2889000"/>
              <a:ext cx="3231217" cy="3145215"/>
              <a:chOff x="3264100" y="2889000"/>
              <a:chExt cx="3231217" cy="3145215"/>
            </a:xfrm>
          </p:grpSpPr>
          <p:sp>
            <p:nvSpPr>
              <p:cNvPr id="16" name="Bullet1" descr="49ec402c-3504-4d65-b4e8-bdfa6a223655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3264100" y="4208587"/>
                <a:ext cx="3231217" cy="516154"/>
              </a:xfrm>
              <a:prstGeom prst="rect">
                <a:avLst/>
              </a:prstGeom>
              <a:noFill/>
            </p:spPr>
            <p:txBody>
              <a:bodyPr wrap="square" rtlCol="0" anchor="b" anchorCtr="1">
                <a:normAutofit/>
              </a:bodyPr>
              <a:lstStyle/>
              <a:p>
                <a:pPr algn="ctr"/>
                <a:r>
                  <a:rPr lang="en-US" sz="1800" b="1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核心论断</a:t>
                </a:r>
                <a:endParaRPr lang="en-US" sz="1800" b="1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7" name="Text1" descr="642a8a96-ccd6-444f-a7bb-4b756f48e40e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3264100" y="4868062"/>
                <a:ext cx="3231217" cy="1166153"/>
              </a:xfrm>
              <a:prstGeom prst="rect">
                <a:avLst/>
              </a:prstGeom>
              <a:noFill/>
            </p:spPr>
            <p:txBody>
              <a:bodyPr wrap="square" rtlCol="0" anchor="t" anchorCtr="1">
                <a:normAutofit lnSpcReduction="10000"/>
              </a:bodyPr>
              <a:lstStyle/>
              <a:p>
                <a:pPr lvl="0" algn="ctr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《龙猫》的</a:t>
                </a:r>
                <a:r>
                  <a:rPr lang="zh-CN" altLang="en-US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核心情感基调以</a:t>
                </a:r>
                <a:r>
                  <a:rPr lang="en-US" altLang="zh-CN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 “</a:t>
                </a:r>
                <a:r>
                  <a:rPr lang="zh-CN" altLang="en-US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亲情关怀、自然敬畏</a:t>
                </a:r>
                <a:r>
                  <a:rPr lang="en-US" altLang="zh-CN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” </a:t>
                </a:r>
                <a:r>
                  <a:rPr lang="zh-CN" altLang="en-US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为核心，无负面冲突，是</a:t>
                </a:r>
                <a:r>
                  <a:rPr lang="en-US" altLang="zh-CN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 “</a:t>
                </a:r>
                <a:r>
                  <a:rPr lang="zh-CN" altLang="en-US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积极主导</a:t>
                </a:r>
                <a:r>
                  <a:rPr lang="en-US" altLang="zh-CN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” </a:t>
                </a:r>
                <a:r>
                  <a:rPr lang="zh-CN" altLang="en-US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的典型代表。</a:t>
                </a:r>
                <a:r>
                  <a:rPr lang="zh-CN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展示一种纯粹无瑕、积极昂扬的情感与鲜明主题模式，就此正式开启宫崎骏的创作奇幻之旅。</a:t>
                </a:r>
                <a:endParaRPr lang="zh-CN" altLang="en-US" sz="1200" b="0" i="0" u="none" strike="noStrik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8" name="Number1" descr="f40e3a5d-12cc-4a96-9b1c-8cfab84d9bfd"/>
              <p:cNvSpPr/>
              <p:nvPr>
                <p:custDataLst>
                  <p:tags r:id="rId5"/>
                </p:custDataLst>
              </p:nvPr>
            </p:nvSpPr>
            <p:spPr>
              <a:xfrm>
                <a:off x="4339708" y="2889000"/>
                <a:ext cx="1080000" cy="1080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 anchorCtr="0"/>
              <a:lstStyle/>
              <a:p>
                <a:pPr algn="ctr"/>
                <a:r>
                  <a:rPr lang="en-US" sz="2000" b="1" i="0" u="none">
                    <a:solidFill>
                      <a:srgbClr val="FFFFFF"/>
                    </a:solidFill>
                    <a:latin typeface="Arial" panose="020B0604020202020204"/>
                  </a:rPr>
                  <a:t>01</a:t>
                </a:r>
                <a:endParaRPr lang="en-US" sz="20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</p:grpSp>
        <p:grpSp>
          <p:nvGrpSpPr>
            <p:cNvPr id="6" name="组合 5" descr="a22633b0-df13-4caa-9486-030fcc0f3c60"/>
            <p:cNvGrpSpPr/>
            <p:nvPr/>
          </p:nvGrpSpPr>
          <p:grpSpPr>
            <a:xfrm>
              <a:off x="7233581" y="2889000"/>
              <a:ext cx="3231217" cy="3145215"/>
              <a:chOff x="7233581" y="2889000"/>
              <a:chExt cx="3231217" cy="3145215"/>
            </a:xfrm>
          </p:grpSpPr>
          <p:sp>
            <p:nvSpPr>
              <p:cNvPr id="14" name="Bullet2" descr="900347fa-1079-490a-a632-35d6584b6221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7233581" y="4208587"/>
                <a:ext cx="3231217" cy="516154"/>
              </a:xfrm>
              <a:prstGeom prst="rect">
                <a:avLst/>
              </a:prstGeom>
              <a:noFill/>
            </p:spPr>
            <p:txBody>
              <a:bodyPr wrap="square" rtlCol="0" anchor="b" anchorCtr="1">
                <a:normAutofit/>
              </a:bodyPr>
              <a:lstStyle/>
              <a:p>
                <a:pPr algn="ctr"/>
                <a:r>
                  <a:rPr lang="zh-CN" altLang="en-US" sz="1800" b="1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结合时间节点</a:t>
                </a:r>
                <a:endParaRPr lang="zh-CN" altLang="en-US" sz="1800" b="1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5" name="Text2" descr="10079045-a759-4ea6-b58b-0bd2058f34a8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7233581" y="4868062"/>
                <a:ext cx="3231217" cy="1166153"/>
              </a:xfrm>
              <a:prstGeom prst="rect">
                <a:avLst/>
              </a:prstGeom>
              <a:noFill/>
            </p:spPr>
            <p:txBody>
              <a:bodyPr wrap="square" rtlCol="0" anchor="t" anchorCtr="1">
                <a:normAutofit/>
              </a:bodyPr>
              <a:lstStyle/>
              <a:p>
                <a:pPr algn="ctr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47 </a:t>
                </a:r>
                <a:r>
                  <a:rPr lang="zh-CN" altLang="en-US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岁的宫崎骏处于吉卜力初创期，对动画创作充满热情，作品情感映射出</a:t>
                </a:r>
                <a:r>
                  <a:rPr lang="en-US" altLang="zh-CN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 “</a:t>
                </a:r>
                <a:r>
                  <a:rPr lang="zh-CN" altLang="en-US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用童真对抗现实</a:t>
                </a:r>
                <a:r>
                  <a:rPr lang="en-US" altLang="zh-CN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” </a:t>
                </a:r>
                <a:r>
                  <a:rPr lang="zh-CN" altLang="en-US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的理想信念，而图表</a:t>
                </a:r>
                <a:r>
                  <a:rPr lang="en-US" altLang="zh-CN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 “</a:t>
                </a:r>
                <a:r>
                  <a:rPr lang="zh-CN" altLang="en-US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无负向情感数据</a:t>
                </a:r>
                <a:r>
                  <a:rPr lang="en-US" altLang="zh-CN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” </a:t>
                </a:r>
                <a:r>
                  <a:rPr lang="zh-CN" altLang="en-US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的特征，正是这种理想信念的可视化呈现。</a:t>
                </a:r>
                <a:endParaRPr lang="zh-CN" altLang="en-US" sz="1200" b="0" i="0" u="none" strike="noStrik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9" name="Number2" descr="3e00289b-7de0-40b2-968c-94f3b0376644"/>
              <p:cNvSpPr/>
              <p:nvPr>
                <p:custDataLst>
                  <p:tags r:id="rId8"/>
                </p:custDataLst>
              </p:nvPr>
            </p:nvSpPr>
            <p:spPr>
              <a:xfrm>
                <a:off x="8309189" y="2889000"/>
                <a:ext cx="1080000" cy="1080000"/>
              </a:xfrm>
              <a:prstGeom prst="ellipse">
                <a:avLst/>
              </a:prstGeom>
              <a:solidFill>
                <a:schemeClr val="accent1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 anchorCtr="0">
                <a:no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2000" b="1" i="0" u="none">
                    <a:solidFill>
                      <a:srgbClr val="2F2F2F"/>
                    </a:solidFill>
                    <a:latin typeface="Arial" panose="020B0604020202020204"/>
                  </a:rPr>
                  <a:t>02</a:t>
                </a:r>
                <a:endParaRPr lang="en-US" sz="2000" b="1" i="0" u="none">
                  <a:solidFill>
                    <a:srgbClr val="2F2F2F"/>
                  </a:solidFill>
                  <a:latin typeface="Arial" panose="020B0604020202020204"/>
                </a:endParaRPr>
              </a:p>
            </p:txBody>
          </p:sp>
        </p:grpSp>
      </p:grpSp>
      <p:sp>
        <p:nvSpPr>
          <p:cNvPr id="2" name="标题 1" descr="6e191eb5-7da3-4a4d-bdfb-9524e0e49c7c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2F2F2F"/>
                </a:solidFill>
                <a:ea typeface="微软雅黑" panose="020B0503020204020204" charset="-122"/>
              </a:rPr>
              <a:t>早期代表《</a:t>
            </a:r>
            <a:r>
              <a:rPr lang="zh-CN" altLang="en-US" sz="2800" b="1" i="0" u="none">
                <a:solidFill>
                  <a:srgbClr val="2F2F2F"/>
                </a:solidFill>
                <a:ea typeface="微软雅黑" panose="020B0503020204020204" charset="-122"/>
              </a:rPr>
              <a:t>龙猫</a:t>
            </a:r>
            <a:r>
              <a:rPr lang="en-US" sz="2800" b="1" i="0" u="none">
                <a:solidFill>
                  <a:srgbClr val="2F2F2F"/>
                </a:solidFill>
                <a:ea typeface="微软雅黑" panose="020B0503020204020204" charset="-122"/>
              </a:rPr>
              <a:t>》</a:t>
            </a:r>
            <a:endParaRPr lang="zh-CN" altLang="en-US" sz="2800" b="1" i="0" u="none">
              <a:solidFill>
                <a:srgbClr val="2F2F2F"/>
              </a:solidFill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455670" y="655320"/>
            <a:ext cx="5405755" cy="3733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——1988 </a:t>
            </a:r>
            <a:r>
              <a:rPr lang="zh-CN" altLang="en-US"/>
              <a:t>年（宫崎骏</a:t>
            </a:r>
            <a:r>
              <a:rPr lang="en-US" altLang="zh-CN"/>
              <a:t> 47 </a:t>
            </a:r>
            <a:r>
              <a:rPr lang="zh-CN" altLang="en-US"/>
              <a:t>岁，早期理想共生代表作）</a:t>
            </a:r>
            <a:endParaRPr lang="zh-CN" altLang="en-US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adf870f0-1acb-452c-bfb1-bb032befdf34.source.2.zh-Hans.pptx" descr="4bbf2e5f-318f-4ec6-bcff-8e9cd638f4ae"/>
          <p:cNvGrpSpPr/>
          <p:nvPr>
            <p:custDataLst>
              <p:tags r:id="rId1"/>
            </p:custDataLst>
          </p:nvPr>
        </p:nvGrpSpPr>
        <p:grpSpPr>
          <a:xfrm>
            <a:off x="4516120" y="777924"/>
            <a:ext cx="6209937" cy="5149917"/>
            <a:chOff x="4516120" y="827454"/>
            <a:chExt cx="6209937" cy="5149917"/>
          </a:xfrm>
        </p:grpSpPr>
        <p:sp>
          <p:nvSpPr>
            <p:cNvPr id="15" name="Title" descr="c1385a7c-e31c-47ec-9d61-285c375f023b"/>
            <p:cNvSpPr txBox="1"/>
            <p:nvPr/>
          </p:nvSpPr>
          <p:spPr>
            <a:xfrm>
              <a:off x="4516120" y="827454"/>
              <a:ext cx="3511550" cy="90233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l"/>
              <a:r>
                <a:rPr lang="en-US" sz="2400" b="1" i="0" u="none">
                  <a:solidFill>
                    <a:srgbClr val="2F2F2F"/>
                  </a:solidFill>
                  <a:ea typeface="微软雅黑" panose="020B0503020204020204" charset="-122"/>
                </a:rPr>
                <a:t>多维度解读早期作品</a:t>
              </a:r>
              <a:endParaRPr lang="en-US" sz="2400" b="1" i="0" u="none">
                <a:solidFill>
                  <a:srgbClr val="2F2F2F"/>
                </a:solidFill>
                <a:ea typeface="微软雅黑" panose="020B0503020204020204" charset="-122"/>
              </a:endParaRPr>
            </a:p>
          </p:txBody>
        </p:sp>
        <p:grpSp>
          <p:nvGrpSpPr>
            <p:cNvPr id="28" name="组合 27" descr="6b02a5ce-e7ad-4540-9592-0a4988271582"/>
            <p:cNvGrpSpPr/>
            <p:nvPr/>
          </p:nvGrpSpPr>
          <p:grpSpPr>
            <a:xfrm>
              <a:off x="4717141" y="2193339"/>
              <a:ext cx="6008916" cy="1379898"/>
              <a:chOff x="4717141" y="2193339"/>
              <a:chExt cx="6008916" cy="1379898"/>
            </a:xfrm>
          </p:grpSpPr>
          <p:sp>
            <p:nvSpPr>
              <p:cNvPr id="26" name="Text1" descr="7023698e-7aba-42fd-9e16-b37e983294ad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4717141" y="2710681"/>
                <a:ext cx="6008916" cy="86255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endParaRPr lang="en-US" sz="12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27" name="Bullet1" descr="1c2d2cda-b040-4e77-9e72-4af8bd084edb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4717141" y="2193339"/>
                <a:ext cx="6008916" cy="51734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endParaRPr lang="en-US" sz="1800" b="1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29" name="组合 28" descr="c448f7b5-7f02-4fdf-8bd0-712ac8524d94"/>
            <p:cNvGrpSpPr/>
            <p:nvPr/>
          </p:nvGrpSpPr>
          <p:grpSpPr>
            <a:xfrm>
              <a:off x="4717141" y="4597473"/>
              <a:ext cx="6008916" cy="1379898"/>
              <a:chOff x="4717141" y="4597473"/>
              <a:chExt cx="6008916" cy="1379898"/>
            </a:xfrm>
          </p:grpSpPr>
          <p:sp>
            <p:nvSpPr>
              <p:cNvPr id="23" name="Text2" descr="fa0d7f8b-94c4-44b9-8323-c5a4cd5e7456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4717141" y="5114815"/>
                <a:ext cx="6008916" cy="86255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endParaRPr lang="en-US" sz="12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24" name="Bullet2" descr="59a088d6-f0d4-4570-85d9-9bb50843f682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4717141" y="4597473"/>
                <a:ext cx="6008916" cy="51734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endParaRPr lang="en-US" sz="1800" b="1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" name="标题 1" descr="6e191eb5-7da3-4a4d-bdfb-9524e0e49c7c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2F2F2F"/>
                </a:solidFill>
                <a:ea typeface="微软雅黑" panose="020B0503020204020204" charset="-122"/>
              </a:rPr>
              <a:t>《</a:t>
            </a:r>
            <a:r>
              <a:rPr lang="zh-CN" altLang="en-US" sz="2800" b="1" i="0" u="none">
                <a:solidFill>
                  <a:srgbClr val="2F2F2F"/>
                </a:solidFill>
                <a:ea typeface="微软雅黑" panose="020B0503020204020204" charset="-122"/>
              </a:rPr>
              <a:t>龙猫</a:t>
            </a:r>
            <a:r>
              <a:rPr lang="en-US" sz="2800" b="1" i="0" u="none">
                <a:solidFill>
                  <a:srgbClr val="2F2F2F"/>
                </a:solidFill>
                <a:ea typeface="微软雅黑" panose="020B0503020204020204" charset="-122"/>
              </a:rPr>
              <a:t>》数据分析</a:t>
            </a:r>
            <a:r>
              <a:rPr lang="zh-CN" altLang="en-US" sz="2800" b="1" i="0" u="none">
                <a:solidFill>
                  <a:srgbClr val="2F2F2F"/>
                </a:solidFill>
                <a:ea typeface="微软雅黑" panose="020B0503020204020204" charset="-122"/>
              </a:rPr>
              <a:t>印证</a:t>
            </a:r>
            <a:endParaRPr lang="zh-CN" altLang="en-US" sz="2800" b="1" i="0" u="none">
              <a:solidFill>
                <a:srgbClr val="2F2F2F"/>
              </a:solidFill>
              <a:ea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660400" y="3477895"/>
            <a:ext cx="3006090" cy="22936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8525510" y="3477895"/>
            <a:ext cx="3141345" cy="23177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4516120" y="3477895"/>
            <a:ext cx="3159760" cy="2293620"/>
          </a:xfrm>
          <a:prstGeom prst="rect">
            <a:avLst/>
          </a:prstGeom>
        </p:spPr>
      </p:pic>
      <p:sp>
        <p:nvSpPr>
          <p:cNvPr id="8" name="文本框 7"/>
          <p:cNvSpPr txBox="1"/>
          <p:nvPr>
            <p:custDataLst>
              <p:tags r:id="rId12"/>
            </p:custDataLst>
          </p:nvPr>
        </p:nvSpPr>
        <p:spPr>
          <a:xfrm>
            <a:off x="511175" y="1680210"/>
            <a:ext cx="3395980" cy="14649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情感叙事曲线：红色曲线始终围绕</a:t>
            </a:r>
            <a:r>
              <a:rPr lang="en-US" altLang="zh-CN"/>
              <a:t> 0 </a:t>
            </a:r>
            <a:r>
              <a:rPr lang="zh-CN" altLang="en-US"/>
              <a:t>轴小幅波动，全程几乎处于正向区域，极少的负向波动，直观呈现</a:t>
            </a:r>
            <a:r>
              <a:rPr lang="en-US" altLang="zh-CN"/>
              <a:t> “</a:t>
            </a:r>
            <a:r>
              <a:rPr lang="zh-CN" altLang="en-US"/>
              <a:t>温和积极</a:t>
            </a:r>
            <a:r>
              <a:rPr lang="en-US" altLang="zh-CN"/>
              <a:t>” </a:t>
            </a:r>
            <a:r>
              <a:rPr lang="zh-CN" altLang="en-US"/>
              <a:t>的情感脉络，与《龙猫》</a:t>
            </a:r>
            <a:r>
              <a:rPr lang="en-US" altLang="zh-CN"/>
              <a:t>“</a:t>
            </a:r>
            <a:r>
              <a:rPr lang="zh-CN" altLang="en-US"/>
              <a:t>无沉重剧情</a:t>
            </a:r>
            <a:r>
              <a:rPr lang="en-US" altLang="zh-CN"/>
              <a:t>” </a:t>
            </a:r>
            <a:r>
              <a:rPr lang="zh-CN" altLang="en-US"/>
              <a:t>的观影体验完全一致</a:t>
            </a:r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13"/>
            </p:custDataLst>
          </p:nvPr>
        </p:nvSpPr>
        <p:spPr>
          <a:xfrm>
            <a:off x="4516120" y="1680210"/>
            <a:ext cx="3159125" cy="15195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情感强度分布：数据点高度聚集在</a:t>
            </a:r>
            <a:r>
              <a:rPr lang="en-US" altLang="zh-CN"/>
              <a:t> 0-0.25 </a:t>
            </a:r>
            <a:r>
              <a:rPr lang="zh-CN" altLang="en-US"/>
              <a:t>的弱积极区间，几乎无负向强度值，对应</a:t>
            </a:r>
            <a:r>
              <a:rPr lang="en-US" altLang="zh-CN"/>
              <a:t> “</a:t>
            </a:r>
            <a:r>
              <a:rPr lang="zh-CN" altLang="en-US"/>
              <a:t>消极台词占比</a:t>
            </a:r>
            <a:r>
              <a:rPr lang="en-US" altLang="zh-CN"/>
              <a:t> 8.1%” </a:t>
            </a:r>
            <a:r>
              <a:rPr lang="zh-CN" altLang="en-US"/>
              <a:t>的结论，说明情感表达以</a:t>
            </a:r>
            <a:r>
              <a:rPr lang="en-US" altLang="zh-CN"/>
              <a:t> “</a:t>
            </a:r>
            <a:r>
              <a:rPr lang="zh-CN" altLang="en-US"/>
              <a:t>日常温暖</a:t>
            </a:r>
            <a:r>
              <a:rPr lang="en-US" altLang="zh-CN"/>
              <a:t>” </a:t>
            </a:r>
            <a:r>
              <a:rPr lang="zh-CN" altLang="en-US"/>
              <a:t>为主，无激烈情绪冲击</a:t>
            </a:r>
            <a:endParaRPr lang="zh-CN" altLang="en-US"/>
          </a:p>
        </p:txBody>
      </p:sp>
      <p:sp>
        <p:nvSpPr>
          <p:cNvPr id="10" name="文本框 9"/>
          <p:cNvSpPr txBox="1"/>
          <p:nvPr>
            <p:custDataLst>
              <p:tags r:id="rId14"/>
            </p:custDataLst>
          </p:nvPr>
        </p:nvSpPr>
        <p:spPr>
          <a:xfrm>
            <a:off x="8525510" y="1680210"/>
            <a:ext cx="3142615" cy="17976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按主题的情感分布：</a:t>
            </a:r>
            <a:r>
              <a:rPr lang="en-US" altLang="zh-CN"/>
              <a:t>6 </a:t>
            </a:r>
            <a:r>
              <a:rPr lang="zh-CN" altLang="en-US"/>
              <a:t>个主题的情感箱线图均位于</a:t>
            </a:r>
            <a:r>
              <a:rPr lang="en-US" altLang="zh-CN"/>
              <a:t> 0 </a:t>
            </a:r>
            <a:r>
              <a:rPr lang="zh-CN" altLang="en-US"/>
              <a:t>轴以上，无任何负向情感主题，印证全片所有情节的情感基调高度统一</a:t>
            </a:r>
            <a:endParaRPr lang="zh-CN" altLang="en-US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3dc3bfb6-3673-4f48-81e3-b40d681ad6bd.source.2.zh-Hans.pptx" descr="99e5b432-638b-4b18-9105-bac3152bd4a7"/>
          <p:cNvGrpSpPr/>
          <p:nvPr>
            <p:custDataLst>
              <p:tags r:id="rId1"/>
            </p:custDataLst>
          </p:nvPr>
        </p:nvGrpSpPr>
        <p:grpSpPr>
          <a:xfrm>
            <a:off x="660400" y="1130300"/>
            <a:ext cx="10858500" cy="4854075"/>
            <a:chOff x="660400" y="1130300"/>
            <a:chExt cx="10858500" cy="4854075"/>
          </a:xfrm>
        </p:grpSpPr>
        <p:sp>
          <p:nvSpPr>
            <p:cNvPr id="23" name="Title" descr="21959ac9-b273-488f-88be-93296e3f362b"/>
            <p:cNvSpPr txBox="1"/>
            <p:nvPr/>
          </p:nvSpPr>
          <p:spPr>
            <a:xfrm>
              <a:off x="660400" y="1130300"/>
              <a:ext cx="10858500" cy="461665"/>
            </a:xfrm>
            <a:prstGeom prst="rect">
              <a:avLst/>
            </a:prstGeom>
            <a:noFill/>
          </p:spPr>
          <p:txBody>
            <a:bodyPr vert="horz" wrap="square" rtlCol="0" anchor="t" anchorCtr="1">
              <a:normAutofit/>
            </a:bodyPr>
            <a:lstStyle/>
            <a:p>
              <a:pPr algn="ctr"/>
              <a:r>
                <a:rPr lang="en-US" sz="2400" b="1" i="0" u="none">
                  <a:solidFill>
                    <a:srgbClr val="2F2F2F"/>
                  </a:solidFill>
                  <a:ea typeface="微软雅黑" panose="020B0503020204020204" charset="-122"/>
                </a:rPr>
                <a:t>探寻规则迷宫中的复杂情感</a:t>
              </a:r>
              <a:endParaRPr lang="en-US" sz="2400" b="1" i="0" u="none">
                <a:solidFill>
                  <a:srgbClr val="2F2F2F"/>
                </a:solidFill>
                <a:ea typeface="微软雅黑" panose="020B0503020204020204" charset="-122"/>
              </a:endParaRPr>
            </a:p>
          </p:txBody>
        </p:sp>
        <p:sp>
          <p:nvSpPr>
            <p:cNvPr id="10" name="圆角矩形 9" descr="31c00330-424e-43db-89c4-d8a796b3a1d5"/>
            <p:cNvSpPr/>
            <p:nvPr>
              <p:custDataLst>
                <p:tags r:id="rId2"/>
              </p:custDataLst>
            </p:nvPr>
          </p:nvSpPr>
          <p:spPr>
            <a:xfrm flipV="1">
              <a:off x="1604010" y="3141811"/>
              <a:ext cx="985144" cy="45719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/>
            <a:p>
              <a:pPr algn="ctr"/>
            </a:p>
          </p:txBody>
        </p:sp>
        <p:sp>
          <p:nvSpPr>
            <p:cNvPr id="11" name="圆角矩形 10" descr="3cf5f5d5-9685-4a2f-b3ec-b4be9156c493"/>
            <p:cNvSpPr/>
            <p:nvPr>
              <p:custDataLst>
                <p:tags r:id="rId3"/>
              </p:custDataLst>
            </p:nvPr>
          </p:nvSpPr>
          <p:spPr>
            <a:xfrm flipV="1">
              <a:off x="2810723" y="3141811"/>
              <a:ext cx="2796426" cy="45719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/>
            <a:p>
              <a:pPr algn="ctr"/>
            </a:p>
          </p:txBody>
        </p:sp>
        <p:sp>
          <p:nvSpPr>
            <p:cNvPr id="20" name="圆角矩形 19" descr="e9eb77f7-7441-457e-b7f0-399f2a737a57"/>
            <p:cNvSpPr/>
            <p:nvPr>
              <p:custDataLst>
                <p:tags r:id="rId4"/>
              </p:custDataLst>
            </p:nvPr>
          </p:nvSpPr>
          <p:spPr>
            <a:xfrm flipV="1">
              <a:off x="6711885" y="3141811"/>
              <a:ext cx="985144" cy="45719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/>
            <a:p>
              <a:pPr algn="ctr"/>
            </a:p>
          </p:txBody>
        </p:sp>
        <p:sp>
          <p:nvSpPr>
            <p:cNvPr id="21" name="圆角矩形 20" descr="3cf0231f-a288-449b-8089-f248d2d49028"/>
            <p:cNvSpPr/>
            <p:nvPr>
              <p:custDataLst>
                <p:tags r:id="rId5"/>
              </p:custDataLst>
            </p:nvPr>
          </p:nvSpPr>
          <p:spPr>
            <a:xfrm flipV="1">
              <a:off x="7918598" y="3141811"/>
              <a:ext cx="2796426" cy="45719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/>
            <a:p>
              <a:pPr algn="ctr"/>
            </a:p>
          </p:txBody>
        </p:sp>
        <p:grpSp>
          <p:nvGrpSpPr>
            <p:cNvPr id="30" name="组合 29" descr="eef35d12-e190-4fec-9542-5064a7d48deb"/>
            <p:cNvGrpSpPr/>
            <p:nvPr/>
          </p:nvGrpSpPr>
          <p:grpSpPr>
            <a:xfrm>
              <a:off x="1341202" y="1900145"/>
              <a:ext cx="4536594" cy="4084230"/>
              <a:chOff x="1341202" y="1900145"/>
              <a:chExt cx="4536594" cy="4084230"/>
            </a:xfrm>
          </p:grpSpPr>
          <p:sp>
            <p:nvSpPr>
              <p:cNvPr id="3" name="ComponentBackground1" descr="a3dc2022-4b8a-4116-be8a-62259eaa8095"/>
              <p:cNvSpPr/>
              <p:nvPr>
                <p:custDataLst>
                  <p:tags r:id="rId6"/>
                </p:custDataLst>
              </p:nvPr>
            </p:nvSpPr>
            <p:spPr>
              <a:xfrm>
                <a:off x="1341202" y="2382697"/>
                <a:ext cx="4536594" cy="3601678"/>
              </a:xfrm>
              <a:prstGeom prst="roundRect">
                <a:avLst>
                  <a:gd name="adj" fmla="val 6524"/>
                </a:avLst>
              </a:prstGeom>
              <a:solidFill>
                <a:schemeClr val="accent1">
                  <a:alpha val="15000"/>
                </a:schemeClr>
              </a:solidFill>
              <a:ln w="190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/>
              </a:p>
            </p:txBody>
          </p:sp>
          <p:sp>
            <p:nvSpPr>
              <p:cNvPr id="5" name="Bullet1" descr="d3abc629-eabd-49f1-baf1-4cb392f9cf47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1556212" y="2476347"/>
                <a:ext cx="4106575" cy="486621"/>
              </a:xfrm>
              <a:prstGeom prst="rect">
                <a:avLst/>
              </a:prstGeom>
              <a:noFill/>
              <a:effectLst/>
            </p:spPr>
            <p:txBody>
              <a:bodyPr wrap="square" rtlCol="0" anchor="b" anchorCtr="1">
                <a:normAutofit/>
              </a:bodyPr>
              <a:lstStyle>
                <a:defPPr>
                  <a:defRPr lang="zh-CN"/>
                </a:defPPr>
                <a:lvl1pPr>
                  <a:defRPr sz="2000" b="1" i="0"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60000">
                          <a:schemeClr val="accent1"/>
                        </a:gs>
                      </a:gsLst>
                      <a:lin ang="2700000" scaled="0"/>
                    </a:gradFill>
                    <a:effectLst>
                      <a:outerShdw blurRad="76200" dist="50800" dir="5400000" algn="ctr" rotWithShape="0">
                        <a:schemeClr val="accent1">
                          <a:alpha val="20000"/>
                        </a:schemeClr>
                      </a:outerShdw>
                    </a:effectLst>
                  </a:defRPr>
                </a:lvl1pPr>
              </a:lstStyle>
              <a:p>
                <a:pPr algn="ctr"/>
                <a:r>
                  <a:rPr lang="en-US" sz="1800" b="1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核心论断</a:t>
                </a:r>
                <a:endParaRPr lang="en-US" sz="1800" b="1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6" name="Number1" descr="4293ce4b-4187-4b92-b8b9-a105865ee8ec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3388926" y="1900145"/>
                <a:ext cx="441146" cy="369332"/>
              </a:xfrm>
              <a:prstGeom prst="rect">
                <a:avLst/>
              </a:prstGeom>
              <a:noFill/>
            </p:spPr>
            <p:txBody>
              <a:bodyPr wrap="none" rtlCol="0" anchor="ctr" anchorCtr="1">
                <a:spAutoFit/>
              </a:bodyPr>
              <a:lstStyle/>
              <a:p>
                <a:pPr algn="ctr"/>
                <a:r>
                  <a:rPr lang="en-US" sz="1800" b="1" i="0" u="none">
                    <a:solidFill>
                      <a:srgbClr val="00A8F5"/>
                    </a:solidFill>
                    <a:latin typeface="Arial" panose="020B0604020202020204"/>
                  </a:rPr>
                  <a:t>01</a:t>
                </a:r>
                <a:endParaRPr lang="en-US" sz="1800" b="1" i="0" u="none">
                  <a:solidFill>
                    <a:srgbClr val="00A8F5"/>
                  </a:solidFill>
                  <a:latin typeface="Arial" panose="020B0604020202020204"/>
                </a:endParaRPr>
              </a:p>
            </p:txBody>
          </p:sp>
          <p:sp>
            <p:nvSpPr>
              <p:cNvPr id="25" name="Text1" descr="ce381218-5c52-49c4-8b71-0dbfa79ad623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1556212" y="3282321"/>
                <a:ext cx="4106575" cy="2527467"/>
              </a:xfrm>
              <a:prstGeom prst="rect">
                <a:avLst/>
              </a:prstGeom>
              <a:noFill/>
              <a:effectLst/>
            </p:spPr>
            <p:txBody>
              <a:bodyPr wrap="square" rtlCol="0" anchor="t" anchorCtr="1">
                <a:normAutofit/>
              </a:bodyPr>
              <a:lstStyle>
                <a:defPPr>
                  <a:defRPr lang="zh-CN"/>
                </a:defPPr>
                <a:lvl1pPr>
                  <a:defRPr sz="2000" b="1" i="0"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60000">
                          <a:schemeClr val="accent1"/>
                        </a:gs>
                      </a:gsLst>
                      <a:lin ang="2700000" scaled="0"/>
                    </a:gradFill>
                    <a:effectLst>
                      <a:outerShdw blurRad="76200" dist="50800" dir="5400000" algn="ctr" rotWithShape="0">
                        <a:schemeClr val="accent1">
                          <a:alpha val="20000"/>
                        </a:schemeClr>
                      </a:outerShdw>
                    </a:effectLst>
                  </a:defRPr>
                </a:lvl1pPr>
              </a:lstStyle>
              <a:p>
                <a:pPr lvl="0" algn="ctr">
                  <a:lnSpc>
                    <a:spcPct val="120000"/>
                  </a:lnSpc>
                </a:pPr>
                <a:r>
                  <a:rPr lang="zh-CN" alt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核心情感基调以打破早期</a:t>
                </a:r>
                <a:r>
                  <a:rPr lang="en-US" altLang="zh-CN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 “</a:t>
                </a:r>
                <a:r>
                  <a:rPr lang="zh-CN" alt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纯粹积极</a:t>
                </a:r>
                <a:r>
                  <a:rPr lang="en-US" altLang="zh-CN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”</a:t>
                </a:r>
                <a:r>
                  <a:rPr lang="zh-CN" alt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，呈现</a:t>
                </a:r>
                <a:r>
                  <a:rPr lang="en-US" altLang="zh-CN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 “</a:t>
                </a:r>
                <a:r>
                  <a:rPr lang="zh-CN" alt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愤怒、恐惧、无奈</a:t>
                </a:r>
                <a:r>
                  <a:rPr lang="en-US" altLang="zh-CN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” </a:t>
                </a:r>
                <a:r>
                  <a:rPr lang="zh-CN" alt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的多重复杂情感。</a:t>
                </a:r>
                <a:r>
                  <a:rPr lang="zh-CN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深入展示情感与主题的复杂化与矛盾性交织，深刻反映社会现实的多面性。</a:t>
                </a:r>
                <a:endParaRPr lang="zh-CN" sz="12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31" name="组合 30" descr="b616e969-45f2-4127-9f45-ff167d755be5"/>
            <p:cNvGrpSpPr/>
            <p:nvPr/>
          </p:nvGrpSpPr>
          <p:grpSpPr>
            <a:xfrm>
              <a:off x="6449077" y="1900145"/>
              <a:ext cx="4536594" cy="4084230"/>
              <a:chOff x="6449077" y="1900145"/>
              <a:chExt cx="4536594" cy="4084230"/>
            </a:xfrm>
          </p:grpSpPr>
          <p:sp>
            <p:nvSpPr>
              <p:cNvPr id="13" name="ComponentBackground2" descr="325546ab-682d-44e8-a330-defee6dd63f1"/>
              <p:cNvSpPr/>
              <p:nvPr>
                <p:custDataLst>
                  <p:tags r:id="rId10"/>
                </p:custDataLst>
              </p:nvPr>
            </p:nvSpPr>
            <p:spPr>
              <a:xfrm>
                <a:off x="6449077" y="2382697"/>
                <a:ext cx="4536594" cy="3601678"/>
              </a:xfrm>
              <a:prstGeom prst="roundRect">
                <a:avLst>
                  <a:gd name="adj" fmla="val 6524"/>
                </a:avLst>
              </a:prstGeom>
              <a:solidFill>
                <a:schemeClr val="tx2">
                  <a:alpha val="15000"/>
                </a:schemeClr>
              </a:solidFill>
              <a:ln w="190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/>
              </a:p>
            </p:txBody>
          </p:sp>
          <p:sp>
            <p:nvSpPr>
              <p:cNvPr id="15" name="Bullet2" descr="ab1b043e-77c3-44bf-8434-daa0874ff1f2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6664087" y="2476347"/>
                <a:ext cx="4106575" cy="486621"/>
              </a:xfrm>
              <a:prstGeom prst="rect">
                <a:avLst/>
              </a:prstGeom>
              <a:noFill/>
              <a:effectLst/>
            </p:spPr>
            <p:txBody>
              <a:bodyPr wrap="square" rtlCol="0" anchor="b" anchorCtr="1">
                <a:normAutofit/>
              </a:bodyPr>
              <a:lstStyle>
                <a:defPPr>
                  <a:defRPr lang="zh-CN"/>
                </a:defPPr>
                <a:lvl1pPr>
                  <a:defRPr sz="2000" b="1" i="0"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60000">
                          <a:schemeClr val="accent1"/>
                        </a:gs>
                      </a:gsLst>
                      <a:lin ang="2700000" scaled="0"/>
                    </a:gradFill>
                    <a:effectLst>
                      <a:outerShdw blurRad="76200" dist="50800" dir="5400000" algn="ctr" rotWithShape="0">
                        <a:schemeClr val="accent1">
                          <a:alpha val="20000"/>
                        </a:schemeClr>
                      </a:outerShdw>
                    </a:effectLst>
                  </a:defRPr>
                </a:lvl1pPr>
              </a:lstStyle>
              <a:p>
                <a:pPr algn="ctr"/>
                <a:r>
                  <a:rPr lang="zh-CN" altLang="en-US" sz="1800" b="1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结合时间节点</a:t>
                </a:r>
                <a:endParaRPr lang="zh-CN" altLang="en-US" sz="1800" b="1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6" name="Number2" descr="8a121995-4cae-4f1d-bc5e-62af62053c49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8496801" y="1900145"/>
                <a:ext cx="441146" cy="369332"/>
              </a:xfrm>
              <a:prstGeom prst="rect">
                <a:avLst/>
              </a:prstGeom>
              <a:noFill/>
            </p:spPr>
            <p:txBody>
              <a:bodyPr wrap="none" rtlCol="0" anchor="ctr" anchorCtr="1">
                <a:spAutoFit/>
              </a:bodyPr>
              <a:lstStyle/>
              <a:p>
                <a:pPr algn="ctr"/>
                <a:r>
                  <a:rPr lang="en-US" sz="1800" b="1" i="0" u="none">
                    <a:solidFill>
                      <a:srgbClr val="2F2F2F"/>
                    </a:solidFill>
                    <a:latin typeface="Arial" panose="020B0604020202020204"/>
                  </a:rPr>
                  <a:t>02</a:t>
                </a:r>
                <a:endParaRPr lang="en-US" sz="1800" b="1" i="0" u="none">
                  <a:solidFill>
                    <a:srgbClr val="2F2F2F"/>
                  </a:solidFill>
                  <a:latin typeface="Arial" panose="020B0604020202020204"/>
                </a:endParaRPr>
              </a:p>
            </p:txBody>
          </p:sp>
          <p:sp>
            <p:nvSpPr>
              <p:cNvPr id="26" name="Text2" descr="293a6a07-38c4-4019-be36-a6043cfc85bd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6664087" y="3282321"/>
                <a:ext cx="4106575" cy="2527467"/>
              </a:xfrm>
              <a:prstGeom prst="rect">
                <a:avLst/>
              </a:prstGeom>
              <a:noFill/>
              <a:effectLst/>
            </p:spPr>
            <p:txBody>
              <a:bodyPr wrap="square" rtlCol="0" anchor="t" anchorCtr="1">
                <a:normAutofit/>
              </a:bodyPr>
              <a:lstStyle>
                <a:defPPr>
                  <a:defRPr lang="zh-CN"/>
                </a:defPPr>
                <a:lvl1pPr>
                  <a:defRPr sz="2000" b="1" i="0"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60000">
                          <a:schemeClr val="accent1"/>
                        </a:gs>
                      </a:gsLst>
                      <a:lin ang="2700000" scaled="0"/>
                    </a:gradFill>
                    <a:effectLst>
                      <a:outerShdw blurRad="76200" dist="50800" dir="5400000" algn="ctr" rotWithShape="0">
                        <a:schemeClr val="accent1">
                          <a:alpha val="20000"/>
                        </a:schemeClr>
                      </a:outerShdw>
                    </a:effectLst>
                  </a:defRPr>
                </a:lvl1pPr>
              </a:lstStyle>
              <a:p>
                <a:pPr algn="ctr">
                  <a:lnSpc>
                    <a:spcPct val="120000"/>
                  </a:lnSpc>
                </a:pPr>
                <a:r>
                  <a:rPr lang="en-US" altLang="zh-CN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56 </a:t>
                </a:r>
                <a:r>
                  <a:rPr lang="zh-CN" alt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岁的宫崎骏经历日本经济泡沫、动画行业工业化压力，见证</a:t>
                </a:r>
                <a:r>
                  <a:rPr lang="en-US" altLang="zh-CN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 “</a:t>
                </a:r>
                <a:r>
                  <a:rPr lang="zh-CN" alt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理想与现实的差距</a:t>
                </a:r>
                <a:r>
                  <a:rPr lang="en-US" altLang="zh-CN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”</a:t>
                </a:r>
                <a:r>
                  <a:rPr lang="zh-CN" alt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，图表中</a:t>
                </a:r>
                <a:r>
                  <a:rPr lang="en-US" altLang="zh-CN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 “</a:t>
                </a:r>
                <a:r>
                  <a:rPr lang="zh-CN" alt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情感剧烈波动</a:t>
                </a:r>
                <a:r>
                  <a:rPr lang="en-US" altLang="zh-CN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”“</a:t>
                </a:r>
                <a:r>
                  <a:rPr lang="zh-CN" alt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消极占比超积极</a:t>
                </a:r>
                <a:r>
                  <a:rPr lang="en-US" altLang="zh-CN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” </a:t>
                </a:r>
                <a:r>
                  <a:rPr lang="zh-CN" alt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的特征，正是他</a:t>
                </a:r>
                <a:r>
                  <a:rPr lang="en-US" altLang="zh-CN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 “</a:t>
                </a:r>
                <a:r>
                  <a:rPr lang="zh-CN" alt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成长是接受无能为力</a:t>
                </a:r>
                <a:r>
                  <a:rPr lang="en-US" altLang="zh-CN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” </a:t>
                </a:r>
                <a:r>
                  <a:rPr lang="zh-CN" alt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这一反思的文本可视化呈现。</a:t>
                </a:r>
                <a:endParaRPr lang="zh-CN" altLang="en-US" sz="12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" name="标题 1" descr="6e191eb5-7da3-4a4d-bdfb-9524e0e49c7c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2F2F2F"/>
                </a:solidFill>
                <a:ea typeface="微软雅黑" panose="020B0503020204020204" charset="-122"/>
              </a:rPr>
              <a:t>中期代表《</a:t>
            </a:r>
            <a:r>
              <a:rPr lang="zh-CN" altLang="en-US" sz="2800" b="1" i="0" u="none">
                <a:solidFill>
                  <a:srgbClr val="2F2F2F"/>
                </a:solidFill>
                <a:ea typeface="微软雅黑" panose="020B0503020204020204" charset="-122"/>
              </a:rPr>
              <a:t>幽灵公主</a:t>
            </a:r>
            <a:r>
              <a:rPr lang="en-US" sz="2800" b="1" i="0" u="none">
                <a:solidFill>
                  <a:srgbClr val="2F2F2F"/>
                </a:solidFill>
                <a:ea typeface="微软雅黑" panose="020B0503020204020204" charset="-122"/>
              </a:rPr>
              <a:t>》</a:t>
            </a:r>
            <a:endParaRPr lang="en-US" sz="2800" b="1" i="0" u="none">
              <a:solidFill>
                <a:srgbClr val="2F2F2F"/>
              </a:solidFill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296410" y="660400"/>
            <a:ext cx="6022340" cy="3670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——1997 </a:t>
            </a:r>
            <a:r>
              <a:rPr lang="zh-CN" altLang="en-US"/>
              <a:t>年（宫崎骏</a:t>
            </a:r>
            <a:r>
              <a:rPr lang="en-US" altLang="zh-CN"/>
              <a:t> 56 </a:t>
            </a:r>
            <a:r>
              <a:rPr lang="zh-CN" altLang="en-US"/>
              <a:t>岁，中期情感</a:t>
            </a:r>
            <a:r>
              <a:rPr lang="en-US" altLang="zh-CN"/>
              <a:t> / </a:t>
            </a:r>
            <a:r>
              <a:rPr lang="zh-CN" altLang="en-US"/>
              <a:t>主题转折核心）</a:t>
            </a:r>
            <a:endParaRPr lang="zh-CN" altLang="en-US"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3ecdd9c7-f63d-488c-9867-8f08aa335371.source.2.zh-Hans.pptx" descr="cef6f76f-88ab-417b-94e4-71c0fbd48b50"/>
          <p:cNvGrpSpPr/>
          <p:nvPr>
            <p:custDataLst>
              <p:tags r:id="rId1"/>
            </p:custDataLst>
          </p:nvPr>
        </p:nvGrpSpPr>
        <p:grpSpPr>
          <a:xfrm>
            <a:off x="660400" y="1130300"/>
            <a:ext cx="10858500" cy="3136900"/>
            <a:chOff x="660400" y="1130300"/>
            <a:chExt cx="10858500" cy="3136900"/>
          </a:xfrm>
        </p:grpSpPr>
        <p:sp>
          <p:nvSpPr>
            <p:cNvPr id="3" name="Title" descr="d0ce76c8-b106-4f2e-b81b-dda7b70a17f2"/>
            <p:cNvSpPr txBox="1"/>
            <p:nvPr/>
          </p:nvSpPr>
          <p:spPr>
            <a:xfrm>
              <a:off x="660400" y="1130300"/>
              <a:ext cx="10858500" cy="461665"/>
            </a:xfrm>
            <a:prstGeom prst="rect">
              <a:avLst/>
            </a:prstGeom>
            <a:noFill/>
          </p:spPr>
          <p:txBody>
            <a:bodyPr vert="horz" wrap="square" rtlCol="0" anchor="t" anchorCtr="1">
              <a:normAutofit/>
            </a:bodyPr>
            <a:lstStyle/>
            <a:p>
              <a:pPr algn="ctr"/>
              <a:r>
                <a:rPr lang="en-US" sz="2400" b="1" i="0" u="none">
                  <a:solidFill>
                    <a:srgbClr val="2F2F2F"/>
                  </a:solidFill>
                  <a:ea typeface="微软雅黑" panose="020B0503020204020204" charset="-122"/>
                </a:rPr>
                <a:t>深入挖掘中期作品特点</a:t>
              </a:r>
              <a:endParaRPr lang="en-US" sz="2400" b="1" i="0" u="none">
                <a:solidFill>
                  <a:srgbClr val="2F2F2F"/>
                </a:solidFill>
                <a:ea typeface="微软雅黑" panose="020B0503020204020204" charset="-122"/>
              </a:endParaRPr>
            </a:p>
          </p:txBody>
        </p:sp>
        <p:grpSp>
          <p:nvGrpSpPr>
            <p:cNvPr id="9" name="组合 8" descr="de2ae903-66a4-4b26-8bfd-829e6c8e502d"/>
            <p:cNvGrpSpPr/>
            <p:nvPr/>
          </p:nvGrpSpPr>
          <p:grpSpPr>
            <a:xfrm>
              <a:off x="3828704" y="2743200"/>
              <a:ext cx="1969192" cy="1524000"/>
              <a:chOff x="3828704" y="2743200"/>
              <a:chExt cx="1969192" cy="1524000"/>
            </a:xfrm>
          </p:grpSpPr>
          <p:sp>
            <p:nvSpPr>
              <p:cNvPr id="20" name="Bullet1" descr="21750f07-df13-49de-bec7-0ab6c85ca92e"/>
              <p:cNvSpPr/>
              <p:nvPr>
                <p:custDataLst>
                  <p:tags r:id="rId2"/>
                </p:custDataLst>
              </p:nvPr>
            </p:nvSpPr>
            <p:spPr>
              <a:xfrm>
                <a:off x="3828704" y="2743200"/>
                <a:ext cx="1969192" cy="66017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en-US" sz="1800" b="1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21" name="Text1" descr="15f8fe26-38dc-4472-aa61-9b762f25a381"/>
              <p:cNvSpPr/>
              <p:nvPr>
                <p:custDataLst>
                  <p:tags r:id="rId3"/>
                </p:custDataLst>
              </p:nvPr>
            </p:nvSpPr>
            <p:spPr>
              <a:xfrm>
                <a:off x="3828704" y="3403378"/>
                <a:ext cx="1969192" cy="86382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endParaRPr lang="en-US" sz="12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10" name="组合 9" descr="14b2f9f8-14c3-4e33-abc0-4baf0f7f79be"/>
            <p:cNvGrpSpPr/>
            <p:nvPr/>
          </p:nvGrpSpPr>
          <p:grpSpPr>
            <a:xfrm>
              <a:off x="6381404" y="2707903"/>
              <a:ext cx="1969192" cy="1524000"/>
              <a:chOff x="6381404" y="2707903"/>
              <a:chExt cx="1969192" cy="1524000"/>
            </a:xfrm>
          </p:grpSpPr>
          <p:sp>
            <p:nvSpPr>
              <p:cNvPr id="6" name="Bullet2" descr="1badcca2-bad3-4ec2-9f72-7e6b30c2018c"/>
              <p:cNvSpPr/>
              <p:nvPr>
                <p:custDataLst>
                  <p:tags r:id="rId4"/>
                </p:custDataLst>
              </p:nvPr>
            </p:nvSpPr>
            <p:spPr>
              <a:xfrm>
                <a:off x="6381404" y="2707903"/>
                <a:ext cx="1969192" cy="66017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en-US" sz="1800" b="1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7" name="Text2" descr="17643a40-8663-42c8-8000-39995c49a7b3"/>
              <p:cNvSpPr/>
              <p:nvPr>
                <p:custDataLst>
                  <p:tags r:id="rId5"/>
                </p:custDataLst>
              </p:nvPr>
            </p:nvSpPr>
            <p:spPr>
              <a:xfrm>
                <a:off x="6381404" y="3368081"/>
                <a:ext cx="1969192" cy="86382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endParaRPr lang="en-US" sz="12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" name="标题 1" descr="6e191eb5-7da3-4a4d-bdfb-9524e0e49c7c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2F2F2F"/>
                </a:solidFill>
                <a:ea typeface="微软雅黑" panose="020B0503020204020204" charset="-122"/>
              </a:rPr>
              <a:t>《</a:t>
            </a:r>
            <a:r>
              <a:rPr lang="zh-CN" altLang="en-US" sz="2800" b="1" i="0" u="none">
                <a:solidFill>
                  <a:srgbClr val="2F2F2F"/>
                </a:solidFill>
                <a:ea typeface="微软雅黑" panose="020B0503020204020204" charset="-122"/>
              </a:rPr>
              <a:t>幽灵公主</a:t>
            </a:r>
            <a:r>
              <a:rPr lang="en-US" sz="2800" b="1" i="0" u="none">
                <a:solidFill>
                  <a:srgbClr val="2F2F2F"/>
                </a:solidFill>
                <a:ea typeface="微软雅黑" panose="020B0503020204020204" charset="-122"/>
              </a:rPr>
              <a:t>》数据分析</a:t>
            </a:r>
            <a:r>
              <a:rPr lang="zh-CN" altLang="en-US" sz="2800" b="1" i="0" u="none">
                <a:solidFill>
                  <a:srgbClr val="2F2F2F"/>
                </a:solidFill>
                <a:ea typeface="微软雅黑" panose="020B0503020204020204" charset="-122"/>
              </a:rPr>
              <a:t>印证</a:t>
            </a:r>
            <a:endParaRPr lang="zh-CN" altLang="en-US" sz="2800" b="1" i="0" u="none">
              <a:solidFill>
                <a:srgbClr val="2F2F2F"/>
              </a:solidFill>
              <a:ea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400" y="4084320"/>
            <a:ext cx="2855595" cy="224663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60400" y="1891665"/>
            <a:ext cx="2855595" cy="15113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情感叙事曲线：红色曲线波动剧烈，在对话序列</a:t>
            </a:r>
            <a:r>
              <a:rPr lang="en-US" altLang="zh-CN"/>
              <a:t> 600 </a:t>
            </a:r>
            <a:r>
              <a:rPr lang="zh-CN" altLang="en-US"/>
              <a:t>附近（战争场景）大幅下沉至负向区域，与</a:t>
            </a:r>
            <a:r>
              <a:rPr lang="en-US" altLang="zh-CN"/>
              <a:t> “</a:t>
            </a:r>
            <a:r>
              <a:rPr lang="zh-CN" altLang="en-US"/>
              <a:t>森林被轰炸、角色伤亡</a:t>
            </a:r>
            <a:r>
              <a:rPr lang="en-US" altLang="zh-CN"/>
              <a:t>” </a:t>
            </a:r>
            <a:r>
              <a:rPr lang="zh-CN" altLang="en-US"/>
              <a:t>的剧情高度同步，直观呈现</a:t>
            </a:r>
            <a:r>
              <a:rPr lang="en-US" altLang="zh-CN"/>
              <a:t> “</a:t>
            </a:r>
            <a:r>
              <a:rPr lang="zh-CN" altLang="en-US"/>
              <a:t>情感冲突</a:t>
            </a:r>
            <a:r>
              <a:rPr lang="en-US" altLang="zh-CN"/>
              <a:t>” </a:t>
            </a:r>
            <a:r>
              <a:rPr lang="zh-CN" altLang="en-US"/>
              <a:t>的剧情关联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8662670" y="1891665"/>
            <a:ext cx="3000375" cy="19900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按主题的情感分布：主题</a:t>
            </a:r>
            <a:r>
              <a:rPr lang="en-US" altLang="zh-CN"/>
              <a:t> 2</a:t>
            </a:r>
            <a:r>
              <a:rPr lang="zh-CN" altLang="en-US"/>
              <a:t>（战争</a:t>
            </a:r>
            <a:r>
              <a:rPr lang="en-US" altLang="zh-CN"/>
              <a:t> / </a:t>
            </a:r>
            <a:r>
              <a:rPr lang="zh-CN" altLang="en-US"/>
              <a:t>杀戮）的箱线图延伸至</a:t>
            </a:r>
            <a:r>
              <a:rPr lang="en-US" altLang="zh-CN"/>
              <a:t> - 0.3 </a:t>
            </a:r>
            <a:r>
              <a:rPr lang="zh-CN" altLang="en-US"/>
              <a:t>的负向区域，与其他主题的正向情感形成鲜明对比，体现</a:t>
            </a:r>
            <a:r>
              <a:rPr lang="en-US" altLang="zh-CN"/>
              <a:t> “</a:t>
            </a:r>
            <a:r>
              <a:rPr lang="zh-CN" altLang="en-US"/>
              <a:t>情感分化</a:t>
            </a:r>
            <a:r>
              <a:rPr lang="en-US" altLang="zh-CN"/>
              <a:t>” </a:t>
            </a:r>
            <a:r>
              <a:rPr lang="zh-CN" altLang="en-US"/>
              <a:t>的中期特征。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578350" y="1891665"/>
            <a:ext cx="3021965" cy="19900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情感强度分布：数据点覆盖</a:t>
            </a:r>
            <a:r>
              <a:rPr lang="en-US" altLang="zh-CN"/>
              <a:t> “-0.5 </a:t>
            </a:r>
            <a:r>
              <a:rPr lang="zh-CN" altLang="en-US"/>
              <a:t>至</a:t>
            </a:r>
            <a:r>
              <a:rPr lang="en-US" altLang="zh-CN"/>
              <a:t> 0.5” </a:t>
            </a:r>
            <a:r>
              <a:rPr lang="zh-CN" altLang="en-US"/>
              <a:t>全区间，负向强度占比达</a:t>
            </a:r>
            <a:r>
              <a:rPr lang="en-US" altLang="zh-CN"/>
              <a:t> 21.7%</a:t>
            </a:r>
            <a:r>
              <a:rPr lang="zh-CN" altLang="en-US"/>
              <a:t>，是《龙猫》的</a:t>
            </a:r>
            <a:r>
              <a:rPr lang="en-US" altLang="zh-CN"/>
              <a:t> 2.7 </a:t>
            </a:r>
            <a:r>
              <a:rPr lang="zh-CN" altLang="en-US"/>
              <a:t>倍，说明负面情绪不再是</a:t>
            </a:r>
            <a:r>
              <a:rPr lang="en-US" altLang="zh-CN"/>
              <a:t> “</a:t>
            </a:r>
            <a:r>
              <a:rPr lang="zh-CN" altLang="en-US"/>
              <a:t>点缀</a:t>
            </a:r>
            <a:r>
              <a:rPr lang="en-US" altLang="zh-CN"/>
              <a:t>”</a:t>
            </a:r>
            <a:r>
              <a:rPr lang="zh-CN" altLang="en-US"/>
              <a:t>，而是核心情感构成</a:t>
            </a:r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8350" y="4084320"/>
            <a:ext cx="3021965" cy="224726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62670" y="4084320"/>
            <a:ext cx="3060065" cy="224726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d3a6bf7c-b3d6-4455-904d-55ddebeb5b7a.source.2.zh-Hans.pptx" descr="84e1f0ad-a572-4c89-bf3d-cd71d33ace6f"/>
          <p:cNvGrpSpPr/>
          <p:nvPr/>
        </p:nvGrpSpPr>
        <p:grpSpPr>
          <a:xfrm>
            <a:off x="660400" y="1130300"/>
            <a:ext cx="10858500" cy="5727700"/>
            <a:chOff x="660400" y="1130300"/>
            <a:chExt cx="10858500" cy="5727700"/>
          </a:xfrm>
        </p:grpSpPr>
        <p:grpSp>
          <p:nvGrpSpPr>
            <p:cNvPr id="7" name="组合 6" descr="683bb43a-6847-486f-aea2-c87f682b207d"/>
            <p:cNvGrpSpPr/>
            <p:nvPr/>
          </p:nvGrpSpPr>
          <p:grpSpPr>
            <a:xfrm>
              <a:off x="660400" y="1130300"/>
              <a:ext cx="10858500" cy="5003799"/>
              <a:chOff x="660400" y="1130300"/>
              <a:chExt cx="10858500" cy="5003799"/>
            </a:xfrm>
          </p:grpSpPr>
          <p:sp>
            <p:nvSpPr>
              <p:cNvPr id="2" name="Title" descr="069f9a87-8bec-4d58-8fb5-59ae06a6e05d"/>
              <p:cNvSpPr/>
              <p:nvPr/>
            </p:nvSpPr>
            <p:spPr>
              <a:xfrm>
                <a:off x="660400" y="1130300"/>
                <a:ext cx="10858500" cy="5715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en-US" sz="2400" b="1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领略内省终章的深沉</a:t>
                </a:r>
                <a:endParaRPr lang="en-US" sz="2400" b="1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grpSp>
            <p:nvGrpSpPr>
              <p:cNvPr id="10" name="组合 9" descr="d9634409-7b44-44f2-bbec-62b2358f8902"/>
              <p:cNvGrpSpPr/>
              <p:nvPr/>
            </p:nvGrpSpPr>
            <p:grpSpPr>
              <a:xfrm>
                <a:off x="1000959" y="1800539"/>
                <a:ext cx="4913705" cy="4333560"/>
                <a:chOff x="1038391" y="1997308"/>
                <a:chExt cx="3991472" cy="4333560"/>
              </a:xfrm>
            </p:grpSpPr>
            <p:sp>
              <p:nvSpPr>
                <p:cNvPr id="3" name="Text1" descr="031e6d71-c93f-43ce-893d-d1bc08696415"/>
                <p:cNvSpPr txBox="1"/>
                <p:nvPr>
                  <p:custDataLst>
                    <p:tags r:id="rId1"/>
                  </p:custDataLst>
                </p:nvPr>
              </p:nvSpPr>
              <p:spPr>
                <a:xfrm>
                  <a:off x="1038391" y="2537307"/>
                  <a:ext cx="3991472" cy="3793561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 algn="l">
                    <a:lnSpc>
                      <a:spcPct val="120000"/>
                    </a:lnSpc>
                  </a:pPr>
                  <a:r>
                    <a:rPr lang="zh-CN" altLang="en-US" sz="1200" b="0" i="0" u="none">
                      <a:solidFill>
                        <a:srgbClr val="2F2F2F"/>
                      </a:solidFill>
                      <a:ea typeface="微软雅黑" panose="020B0503020204020204" charset="-122"/>
                    </a:rPr>
                    <a:t>核心情感基调以无直白的积极或消极情绪爆发为特点，将复杂情绪悄然融入中性台词之中，细腻展示出情感极度内敛、中性化的特质，其主题精准指向私密情感与和解的深刻内涵。</a:t>
                  </a:r>
                  <a:endParaRPr lang="zh-CN" alt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4" name="Bullet1" descr="92dff090-3223-41bf-9201-384fa02cc9aa"/>
                <p:cNvSpPr txBox="1"/>
                <p:nvPr/>
              </p:nvSpPr>
              <p:spPr>
                <a:xfrm>
                  <a:off x="1038391" y="1997308"/>
                  <a:ext cx="3991472" cy="540000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lnSpc>
                      <a:spcPct val="120000"/>
                    </a:lnSpc>
                  </a:pPr>
                  <a:r>
                    <a:rPr lang="en-US" sz="1800" b="1" i="0" u="none" strike="noStrike">
                      <a:solidFill>
                        <a:srgbClr val="2F2F2F"/>
                      </a:solidFill>
                      <a:ea typeface="微软雅黑" panose="020B0503020204020204" charset="-122"/>
                    </a:rPr>
                    <a:t>核心论断</a:t>
                  </a:r>
                  <a:endParaRPr lang="en-US" sz="1800" b="1" i="0" u="none" strike="noStrike">
                    <a:solidFill>
                      <a:srgbClr val="2F2F2F"/>
                    </a:solidFill>
                    <a:ea typeface="微软雅黑" panose="020B0503020204020204" charset="-122"/>
                  </a:endParaRPr>
                </a:p>
              </p:txBody>
            </p:sp>
          </p:grpSp>
          <p:grpSp>
            <p:nvGrpSpPr>
              <p:cNvPr id="62" name="组合 61" descr="e8917edc-77f7-4089-a38e-686bfaec0a73"/>
              <p:cNvGrpSpPr/>
              <p:nvPr/>
            </p:nvGrpSpPr>
            <p:grpSpPr>
              <a:xfrm>
                <a:off x="6605195" y="1800539"/>
                <a:ext cx="4913705" cy="4333560"/>
                <a:chOff x="1038391" y="1997308"/>
                <a:chExt cx="3991472" cy="4333560"/>
              </a:xfrm>
            </p:grpSpPr>
            <p:sp>
              <p:nvSpPr>
                <p:cNvPr id="64" name="Text2" descr="ce4ec82d-dee7-44b3-bd62-b96761f0f75f"/>
                <p:cNvSpPr txBox="1"/>
                <p:nvPr/>
              </p:nvSpPr>
              <p:spPr>
                <a:xfrm>
                  <a:off x="1038391" y="2537307"/>
                  <a:ext cx="3991472" cy="3793561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lnSpc>
                      <a:spcPct val="120000"/>
                    </a:lnSpc>
                  </a:pPr>
                  <a:r>
                    <a:rPr lang="en-US" altLang="zh-CN" sz="1200" b="0" i="0" u="none">
                      <a:solidFill>
                        <a:srgbClr val="2F2F2F"/>
                      </a:solidFill>
                      <a:ea typeface="微软雅黑" panose="020B0503020204020204" charset="-122"/>
                    </a:rPr>
                    <a:t>82 </a:t>
                  </a:r>
                  <a:r>
                    <a:rPr lang="zh-CN" altLang="en-US" sz="1200" b="0" i="0" u="none">
                      <a:solidFill>
                        <a:srgbClr val="2F2F2F"/>
                      </a:solidFill>
                      <a:ea typeface="微软雅黑" panose="020B0503020204020204" charset="-122"/>
                    </a:rPr>
                    <a:t>岁的宫崎骏经历挚友离世、回溯战争记忆，作品情感映射出</a:t>
                  </a:r>
                  <a:r>
                    <a:rPr lang="en-US" altLang="zh-CN" sz="1200" b="0" i="0" u="none">
                      <a:solidFill>
                        <a:srgbClr val="2F2F2F"/>
                      </a:solidFill>
                      <a:ea typeface="微软雅黑" panose="020B0503020204020204" charset="-122"/>
                    </a:rPr>
                    <a:t> “</a:t>
                  </a:r>
                  <a:r>
                    <a:rPr lang="zh-CN" altLang="en-US" sz="1200" b="0" i="0" u="none">
                      <a:solidFill>
                        <a:srgbClr val="2F2F2F"/>
                      </a:solidFill>
                      <a:ea typeface="微软雅黑" panose="020B0503020204020204" charset="-122"/>
                    </a:rPr>
                    <a:t>接纳创伤与遗憾</a:t>
                  </a:r>
                  <a:r>
                    <a:rPr lang="en-US" altLang="zh-CN" sz="1200" b="0" i="0" u="none">
                      <a:solidFill>
                        <a:srgbClr val="2F2F2F"/>
                      </a:solidFill>
                      <a:ea typeface="微软雅黑" panose="020B0503020204020204" charset="-122"/>
                    </a:rPr>
                    <a:t>” </a:t>
                  </a:r>
                  <a:r>
                    <a:rPr lang="zh-CN" altLang="en-US" sz="1200" b="0" i="0" u="none">
                      <a:solidFill>
                        <a:srgbClr val="2F2F2F"/>
                      </a:solidFill>
                      <a:ea typeface="微软雅黑" panose="020B0503020204020204" charset="-122"/>
                    </a:rPr>
                    <a:t>的通透，图表中</a:t>
                  </a:r>
                  <a:r>
                    <a:rPr lang="en-US" altLang="zh-CN" sz="1200" b="0" i="0" u="none">
                      <a:solidFill>
                        <a:srgbClr val="2F2F2F"/>
                      </a:solidFill>
                      <a:ea typeface="微软雅黑" panose="020B0503020204020204" charset="-122"/>
                    </a:rPr>
                    <a:t> “</a:t>
                  </a:r>
                  <a:r>
                    <a:rPr lang="zh-CN" altLang="en-US" sz="1200" b="0" i="0" u="none">
                      <a:solidFill>
                        <a:srgbClr val="2F2F2F"/>
                      </a:solidFill>
                      <a:ea typeface="微软雅黑" panose="020B0503020204020204" charset="-122"/>
                    </a:rPr>
                    <a:t>极高中性占比</a:t>
                  </a:r>
                  <a:r>
                    <a:rPr lang="en-US" altLang="zh-CN" sz="1200" b="0" i="0" u="none">
                      <a:solidFill>
                        <a:srgbClr val="2F2F2F"/>
                      </a:solidFill>
                      <a:ea typeface="微软雅黑" panose="020B0503020204020204" charset="-122"/>
                    </a:rPr>
                    <a:t>”“</a:t>
                  </a:r>
                  <a:r>
                    <a:rPr lang="zh-CN" altLang="en-US" sz="1200" b="0" i="0" u="none">
                      <a:solidFill>
                        <a:srgbClr val="2F2F2F"/>
                      </a:solidFill>
                      <a:ea typeface="微软雅黑" panose="020B0503020204020204" charset="-122"/>
                    </a:rPr>
                    <a:t>无极端情感</a:t>
                  </a:r>
                  <a:r>
                    <a:rPr lang="en-US" altLang="zh-CN" sz="1200" b="0" i="0" u="none">
                      <a:solidFill>
                        <a:srgbClr val="2F2F2F"/>
                      </a:solidFill>
                      <a:ea typeface="微软雅黑" panose="020B0503020204020204" charset="-122"/>
                    </a:rPr>
                    <a:t>” </a:t>
                  </a:r>
                  <a:r>
                    <a:rPr lang="zh-CN" altLang="en-US" sz="1200" b="0" i="0" u="none">
                      <a:solidFill>
                        <a:srgbClr val="2F2F2F"/>
                      </a:solidFill>
                      <a:ea typeface="微软雅黑" panose="020B0503020204020204" charset="-122"/>
                    </a:rPr>
                    <a:t>的特征，正是这种</a:t>
                  </a:r>
                  <a:r>
                    <a:rPr lang="en-US" altLang="zh-CN" sz="1200" b="0" i="0" u="none">
                      <a:solidFill>
                        <a:srgbClr val="2F2F2F"/>
                      </a:solidFill>
                      <a:ea typeface="微软雅黑" panose="020B0503020204020204" charset="-122"/>
                    </a:rPr>
                    <a:t> “</a:t>
                  </a:r>
                  <a:r>
                    <a:rPr lang="zh-CN" altLang="en-US" sz="1200" b="0" i="0" u="none">
                      <a:solidFill>
                        <a:srgbClr val="2F2F2F"/>
                      </a:solidFill>
                      <a:ea typeface="微软雅黑" panose="020B0503020204020204" charset="-122"/>
                    </a:rPr>
                    <a:t>与世界温柔和解</a:t>
                  </a:r>
                  <a:r>
                    <a:rPr lang="en-US" altLang="zh-CN" sz="1200" b="0" i="0" u="none">
                      <a:solidFill>
                        <a:srgbClr val="2F2F2F"/>
                      </a:solidFill>
                      <a:ea typeface="微软雅黑" panose="020B0503020204020204" charset="-122"/>
                    </a:rPr>
                    <a:t>” </a:t>
                  </a:r>
                  <a:r>
                    <a:rPr lang="zh-CN" altLang="en-US" sz="1200" b="0" i="0" u="none">
                      <a:solidFill>
                        <a:srgbClr val="2F2F2F"/>
                      </a:solidFill>
                      <a:ea typeface="微软雅黑" panose="020B0503020204020204" charset="-122"/>
                    </a:rPr>
                    <a:t>的可视化表达。</a:t>
                  </a:r>
                  <a:endParaRPr lang="zh-CN" alt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65" name="Bullet2" descr="1189d8db-0edb-4cba-b91b-2d5add77e8ea"/>
                <p:cNvSpPr txBox="1"/>
                <p:nvPr/>
              </p:nvSpPr>
              <p:spPr>
                <a:xfrm>
                  <a:off x="1038391" y="1997308"/>
                  <a:ext cx="3991472" cy="540000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lnSpc>
                      <a:spcPct val="120000"/>
                    </a:lnSpc>
                  </a:pPr>
                  <a:r>
                    <a:rPr lang="zh-CN" altLang="en-US" sz="1800" b="1" i="0" u="none" strike="noStrike">
                      <a:solidFill>
                        <a:srgbClr val="2F2F2F"/>
                      </a:solidFill>
                      <a:ea typeface="微软雅黑" panose="020B0503020204020204" charset="-122"/>
                    </a:rPr>
                    <a:t>结合时间节点</a:t>
                  </a:r>
                  <a:endParaRPr lang="zh-CN" altLang="en-US" sz="1800" b="1" i="0" u="none" strike="noStrike">
                    <a:solidFill>
                      <a:srgbClr val="2F2F2F"/>
                    </a:solidFill>
                    <a:ea typeface="微软雅黑" panose="020B0503020204020204" charset="-122"/>
                  </a:endParaRPr>
                </a:p>
              </p:txBody>
            </p:sp>
          </p:grpSp>
        </p:grpSp>
        <p:cxnSp>
          <p:nvCxnSpPr>
            <p:cNvPr id="6" name="直接连接符 5" descr="2d2652bd-5d1c-4792-b5d4-64aeadc76da8"/>
            <p:cNvCxnSpPr/>
            <p:nvPr/>
          </p:nvCxnSpPr>
          <p:spPr>
            <a:xfrm>
              <a:off x="930400" y="2097741"/>
              <a:ext cx="0" cy="4760259"/>
            </a:xfrm>
            <a:prstGeom prst="line">
              <a:avLst/>
            </a:prstGeom>
            <a:ln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 descr="a1bc54ac-187f-49da-b00b-9750fe1a36bf"/>
            <p:cNvCxnSpPr/>
            <p:nvPr/>
          </p:nvCxnSpPr>
          <p:spPr>
            <a:xfrm>
              <a:off x="6536216" y="2097741"/>
              <a:ext cx="0" cy="4760259"/>
            </a:xfrm>
            <a:prstGeom prst="line">
              <a:avLst/>
            </a:prstGeom>
            <a:ln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椭圆 13" descr="30ed5262-dca9-4fb7-bdb5-4b88359a3f04"/>
            <p:cNvSpPr/>
            <p:nvPr/>
          </p:nvSpPr>
          <p:spPr>
            <a:xfrm>
              <a:off x="887301" y="2048933"/>
              <a:ext cx="86198" cy="8619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</a:p>
          </p:txBody>
        </p:sp>
        <p:sp>
          <p:nvSpPr>
            <p:cNvPr id="15" name="椭圆 14" descr="30323abe-f4e2-434e-a1de-4850d799af3a"/>
            <p:cNvSpPr/>
            <p:nvPr/>
          </p:nvSpPr>
          <p:spPr>
            <a:xfrm>
              <a:off x="6491537" y="2048933"/>
              <a:ext cx="86198" cy="8619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</a:p>
          </p:txBody>
        </p:sp>
      </p:grpSp>
      <p:sp>
        <p:nvSpPr>
          <p:cNvPr id="5" name="标题 4" descr="6e191eb5-7da3-4a4d-bdfb-9524e0e49c7c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2F2F2F"/>
                </a:solidFill>
                <a:ea typeface="微软雅黑" panose="020B0503020204020204" charset="-122"/>
              </a:rPr>
              <a:t>后期代表《你想活出怎样的人生》</a:t>
            </a:r>
            <a:endParaRPr lang="en-US" sz="2800" b="1" i="0" u="none">
              <a:solidFill>
                <a:srgbClr val="2F2F2F"/>
              </a:solidFill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984875" y="664210"/>
            <a:ext cx="5659120" cy="3676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——2023 </a:t>
            </a:r>
            <a:r>
              <a:rPr lang="zh-CN" altLang="en-US"/>
              <a:t>年（宫崎骏</a:t>
            </a:r>
            <a:r>
              <a:rPr lang="en-US" altLang="zh-CN"/>
              <a:t> 82 </a:t>
            </a:r>
            <a:r>
              <a:rPr lang="zh-CN" altLang="en-US"/>
              <a:t>岁，后期复杂现实终点之作）</a:t>
            </a:r>
            <a:endParaRPr lang="zh-CN" altLang="en-US"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09f51089-eed8-4758-a91c-7a0a20431cab.source.2.zh-Hans.pptx" descr="c990888a-0467-44fd-aa4d-d9ed420ba4da"/>
          <p:cNvGrpSpPr/>
          <p:nvPr>
            <p:custDataLst>
              <p:tags r:id="rId1"/>
            </p:custDataLst>
          </p:nvPr>
        </p:nvGrpSpPr>
        <p:grpSpPr>
          <a:xfrm>
            <a:off x="660400" y="1130300"/>
            <a:ext cx="10858500" cy="3950001"/>
            <a:chOff x="660400" y="1130300"/>
            <a:chExt cx="10858500" cy="3950001"/>
          </a:xfrm>
        </p:grpSpPr>
        <p:grpSp>
          <p:nvGrpSpPr>
            <p:cNvPr id="6" name="组合 5" descr="1a6c7d7b-5aa1-47e3-958c-b478625795c2"/>
            <p:cNvGrpSpPr/>
            <p:nvPr/>
          </p:nvGrpSpPr>
          <p:grpSpPr>
            <a:xfrm>
              <a:off x="916590" y="2959100"/>
              <a:ext cx="10111804" cy="2121201"/>
              <a:chOff x="916590" y="2959100"/>
              <a:chExt cx="10111804" cy="2121201"/>
            </a:xfrm>
          </p:grpSpPr>
          <p:grpSp>
            <p:nvGrpSpPr>
              <p:cNvPr id="4" name="组合 3" descr="78a8c449-2643-43dd-a09b-f0aa97b21e30"/>
              <p:cNvGrpSpPr/>
              <p:nvPr/>
            </p:nvGrpSpPr>
            <p:grpSpPr>
              <a:xfrm>
                <a:off x="916590" y="2995295"/>
                <a:ext cx="4077785" cy="2085006"/>
                <a:chOff x="916590" y="2995295"/>
                <a:chExt cx="4077785" cy="2085006"/>
              </a:xfrm>
            </p:grpSpPr>
            <p:sp>
              <p:nvSpPr>
                <p:cNvPr id="34" name="Bullet1" descr="f735181c-8f2f-492b-90b6-2c0dc56da4ce"/>
                <p:cNvSpPr txBox="1"/>
                <p:nvPr>
                  <p:custDataLst>
                    <p:tags r:id="rId2"/>
                  </p:custDataLst>
                </p:nvPr>
              </p:nvSpPr>
              <p:spPr>
                <a:xfrm>
                  <a:off x="916590" y="2995295"/>
                  <a:ext cx="4077785" cy="433505"/>
                </a:xfrm>
                <a:prstGeom prst="rect">
                  <a:avLst/>
                </a:prstGeom>
                <a:noFill/>
              </p:spPr>
              <p:txBody>
                <a:bodyPr wrap="square" rtlCol="0" anchor="b" anchorCtr="0">
                  <a:normAutofit/>
                </a:bodyPr>
                <a:lstStyle/>
                <a:p>
                  <a:pPr algn="l"/>
                  <a:endParaRPr lang="en-US" sz="1800" b="1" i="0" u="none">
                    <a:solidFill>
                      <a:srgbClr val="2F2F2F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36" name="Text1" descr="a1243767-b4b1-47de-aa92-edfb0ec2aa4e"/>
                <p:cNvSpPr txBox="1"/>
                <p:nvPr>
                  <p:custDataLst>
                    <p:tags r:id="rId3"/>
                  </p:custDataLst>
                </p:nvPr>
              </p:nvSpPr>
              <p:spPr>
                <a:xfrm>
                  <a:off x="1767983" y="3683560"/>
                  <a:ext cx="3226378" cy="1396741"/>
                </a:xfrm>
                <a:prstGeom prst="rect">
                  <a:avLst/>
                </a:prstGeom>
                <a:noFill/>
              </p:spPr>
              <p:txBody>
                <a:bodyPr wrap="square" rtlCol="0" anchor="t" anchorCtr="0">
                  <a:norm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endParaRPr 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endParaRPr>
                </a:p>
              </p:txBody>
            </p:sp>
          </p:grpSp>
          <p:grpSp>
            <p:nvGrpSpPr>
              <p:cNvPr id="5" name="组合 4" descr="e50ddab5-7994-4f54-aef0-df7d0a3e0c5c"/>
              <p:cNvGrpSpPr/>
              <p:nvPr/>
            </p:nvGrpSpPr>
            <p:grpSpPr>
              <a:xfrm>
                <a:off x="6950609" y="2959100"/>
                <a:ext cx="4077785" cy="2121201"/>
                <a:chOff x="6950609" y="2959100"/>
                <a:chExt cx="4077785" cy="2121201"/>
              </a:xfrm>
            </p:grpSpPr>
            <p:sp>
              <p:nvSpPr>
                <p:cNvPr id="55" name="Bullet2" descr="95ab8cb1-1141-4309-b846-ee735370a4f0"/>
                <p:cNvSpPr txBox="1"/>
                <p:nvPr>
                  <p:custDataLst>
                    <p:tags r:id="rId4"/>
                  </p:custDataLst>
                </p:nvPr>
              </p:nvSpPr>
              <p:spPr>
                <a:xfrm>
                  <a:off x="6950609" y="2959100"/>
                  <a:ext cx="4077785" cy="433505"/>
                </a:xfrm>
                <a:prstGeom prst="rect">
                  <a:avLst/>
                </a:prstGeom>
                <a:noFill/>
              </p:spPr>
              <p:txBody>
                <a:bodyPr wrap="square" rtlCol="0" anchor="b" anchorCtr="0">
                  <a:normAutofit/>
                </a:bodyPr>
                <a:lstStyle/>
                <a:p>
                  <a:pPr algn="l"/>
                  <a:endParaRPr lang="en-US" sz="1800" b="1" i="0" u="none">
                    <a:solidFill>
                      <a:srgbClr val="2F2F2F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56" name="Text2" descr="adf00d8e-0229-4fe6-b7bf-a711552e0eac"/>
                <p:cNvSpPr txBox="1"/>
                <p:nvPr>
                  <p:custDataLst>
                    <p:tags r:id="rId5"/>
                  </p:custDataLst>
                </p:nvPr>
              </p:nvSpPr>
              <p:spPr>
                <a:xfrm>
                  <a:off x="7554987" y="3683560"/>
                  <a:ext cx="3226378" cy="1396741"/>
                </a:xfrm>
                <a:prstGeom prst="rect">
                  <a:avLst/>
                </a:prstGeom>
                <a:noFill/>
              </p:spPr>
              <p:txBody>
                <a:bodyPr wrap="square" rtlCol="0" anchor="t" anchorCtr="0">
                  <a:norm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endParaRPr 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endParaRPr>
                </a:p>
              </p:txBody>
            </p:sp>
          </p:grpSp>
        </p:grpSp>
        <p:sp>
          <p:nvSpPr>
            <p:cNvPr id="3" name="Title" descr="d3ac3abb-db2b-4dda-b415-6014c4c06adc"/>
            <p:cNvSpPr/>
            <p:nvPr/>
          </p:nvSpPr>
          <p:spPr>
            <a:xfrm>
              <a:off x="660400" y="1130300"/>
              <a:ext cx="10858500" cy="681247"/>
            </a:xfrm>
            <a:prstGeom prst="rect">
              <a:avLst/>
            </a:prstGeom>
          </p:spPr>
          <p:txBody>
            <a:bodyPr wrap="square" anchor="t" anchorCtr="1">
              <a:normAutofit/>
            </a:bodyPr>
            <a:lstStyle/>
            <a:p>
              <a:pPr algn="ctr"/>
              <a:r>
                <a:rPr lang="en-US" sz="2400" b="1" i="0" u="none">
                  <a:solidFill>
                    <a:srgbClr val="2F2F2F"/>
                  </a:solidFill>
                  <a:ea typeface="微软雅黑" panose="020B0503020204020204" charset="-122"/>
                </a:rPr>
                <a:t>全面剖析晚期作品风格</a:t>
              </a:r>
              <a:endParaRPr lang="en-US" sz="2400" b="1" i="0" u="none">
                <a:solidFill>
                  <a:srgbClr val="2F2F2F"/>
                </a:solidFill>
                <a:ea typeface="微软雅黑" panose="020B0503020204020204" charset="-122"/>
              </a:endParaRPr>
            </a:p>
          </p:txBody>
        </p:sp>
      </p:grpSp>
      <p:sp>
        <p:nvSpPr>
          <p:cNvPr id="2" name="标题 1" descr="6e191eb5-7da3-4a4d-bdfb-9524e0e49c7c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2F2F2F"/>
                </a:solidFill>
                <a:ea typeface="微软雅黑" panose="020B0503020204020204" charset="-122"/>
              </a:rPr>
              <a:t>《你想活出怎样的人生》数据分析</a:t>
            </a:r>
            <a:r>
              <a:rPr lang="zh-CN" altLang="en-US" sz="2800" b="1" i="0" u="none">
                <a:solidFill>
                  <a:srgbClr val="2F2F2F"/>
                </a:solidFill>
                <a:ea typeface="微软雅黑" panose="020B0503020204020204" charset="-122"/>
              </a:rPr>
              <a:t>印证</a:t>
            </a:r>
            <a:endParaRPr lang="zh-CN" altLang="en-US" sz="2800" b="1" i="0" u="none">
              <a:solidFill>
                <a:srgbClr val="2F2F2F"/>
              </a:solidFill>
              <a:ea typeface="微软雅黑" panose="020B050302020402020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425" y="3458210"/>
            <a:ext cx="3331210" cy="246062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7540" y="3458210"/>
            <a:ext cx="3297555" cy="246062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0" y="3458210"/>
            <a:ext cx="3368040" cy="246062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479425" y="1617980"/>
            <a:ext cx="3330575" cy="168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情感叙事曲线：红色曲线全程紧贴</a:t>
            </a:r>
            <a:r>
              <a:rPr lang="en-US" altLang="zh-CN"/>
              <a:t> 0 </a:t>
            </a:r>
            <a:r>
              <a:rPr lang="zh-CN" altLang="en-US"/>
              <a:t>轴波动，无任何极端正向</a:t>
            </a:r>
            <a:r>
              <a:rPr lang="en-US" altLang="zh-CN"/>
              <a:t> / </a:t>
            </a:r>
            <a:r>
              <a:rPr lang="zh-CN" altLang="en-US"/>
              <a:t>负向峰值，即使在</a:t>
            </a:r>
            <a:r>
              <a:rPr lang="en-US" altLang="zh-CN"/>
              <a:t> “</a:t>
            </a:r>
            <a:r>
              <a:rPr lang="zh-CN" altLang="en-US"/>
              <a:t>战争创伤</a:t>
            </a:r>
            <a:r>
              <a:rPr lang="en-US" altLang="zh-CN"/>
              <a:t>”“</a:t>
            </a:r>
            <a:r>
              <a:rPr lang="zh-CN" altLang="en-US"/>
              <a:t>母亲离世</a:t>
            </a:r>
            <a:r>
              <a:rPr lang="en-US" altLang="zh-CN"/>
              <a:t>” </a:t>
            </a:r>
            <a:r>
              <a:rPr lang="zh-CN" altLang="en-US"/>
              <a:t>等核心剧情处，也未出现剧烈情感波动，完美诠释</a:t>
            </a:r>
            <a:r>
              <a:rPr lang="en-US" altLang="zh-CN"/>
              <a:t> “</a:t>
            </a:r>
            <a:r>
              <a:rPr lang="zh-CN" altLang="en-US"/>
              <a:t>情感内敛</a:t>
            </a:r>
            <a:r>
              <a:rPr lang="en-US" altLang="zh-CN"/>
              <a:t>”</a:t>
            </a:r>
            <a:endParaRPr lang="en-US" altLang="zh-CN"/>
          </a:p>
        </p:txBody>
      </p:sp>
      <p:sp>
        <p:nvSpPr>
          <p:cNvPr id="12" name="文本框 11"/>
          <p:cNvSpPr txBox="1"/>
          <p:nvPr/>
        </p:nvSpPr>
        <p:spPr>
          <a:xfrm>
            <a:off x="4447540" y="1617980"/>
            <a:ext cx="3298190" cy="1811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情感强度分布：数据点</a:t>
            </a:r>
            <a:r>
              <a:rPr lang="en-US" altLang="zh-CN"/>
              <a:t> 90% </a:t>
            </a:r>
            <a:r>
              <a:rPr lang="zh-CN" altLang="en-US"/>
              <a:t>集中在</a:t>
            </a:r>
            <a:r>
              <a:rPr lang="en-US" altLang="zh-CN"/>
              <a:t> “-0.1 </a:t>
            </a:r>
            <a:r>
              <a:rPr lang="zh-CN" altLang="en-US"/>
              <a:t>至</a:t>
            </a:r>
            <a:r>
              <a:rPr lang="en-US" altLang="zh-CN"/>
              <a:t> 0.1” </a:t>
            </a:r>
            <a:r>
              <a:rPr lang="zh-CN" altLang="en-US"/>
              <a:t>的中性区间，平均情感强度</a:t>
            </a:r>
            <a:r>
              <a:rPr lang="en-US" altLang="zh-CN"/>
              <a:t> 0.072</a:t>
            </a:r>
            <a:r>
              <a:rPr lang="zh-CN" altLang="en-US"/>
              <a:t>（</a:t>
            </a:r>
            <a:r>
              <a:rPr lang="en-US" altLang="zh-CN"/>
              <a:t>3 </a:t>
            </a:r>
            <a:r>
              <a:rPr lang="zh-CN" altLang="en-US"/>
              <a:t>部中最低），说明情感表达</a:t>
            </a:r>
            <a:r>
              <a:rPr lang="en-US" altLang="zh-CN"/>
              <a:t> “</a:t>
            </a:r>
            <a:r>
              <a:rPr lang="zh-CN" altLang="en-US"/>
              <a:t>重内涵、轻外露</a:t>
            </a:r>
            <a:r>
              <a:rPr lang="en-US" altLang="zh-CN"/>
              <a:t>”</a:t>
            </a:r>
            <a:r>
              <a:rPr lang="zh-CN" altLang="en-US"/>
              <a:t>，与晚年</a:t>
            </a:r>
            <a:r>
              <a:rPr lang="en-US" altLang="zh-CN"/>
              <a:t> “</a:t>
            </a:r>
            <a:r>
              <a:rPr lang="zh-CN" altLang="en-US"/>
              <a:t>正视惨淡人生</a:t>
            </a:r>
            <a:r>
              <a:rPr lang="en-US" altLang="zh-CN"/>
              <a:t>” </a:t>
            </a:r>
            <a:r>
              <a:rPr lang="zh-CN" altLang="en-US"/>
              <a:t>的感悟一致</a:t>
            </a: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8383270" y="1617980"/>
            <a:ext cx="3365500" cy="17754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按主题的情感分布：所有主题的箱线图均紧贴</a:t>
            </a:r>
            <a:r>
              <a:rPr lang="en-US" altLang="zh-CN"/>
              <a:t> 0 </a:t>
            </a:r>
            <a:r>
              <a:rPr lang="zh-CN" altLang="en-US"/>
              <a:t>轴，无任何情感分化，说明</a:t>
            </a:r>
            <a:r>
              <a:rPr lang="en-US" altLang="zh-CN"/>
              <a:t> “</a:t>
            </a:r>
            <a:r>
              <a:rPr lang="zh-CN" altLang="en-US"/>
              <a:t>创伤</a:t>
            </a:r>
            <a:r>
              <a:rPr lang="en-US" altLang="zh-CN"/>
              <a:t>”“</a:t>
            </a:r>
            <a:r>
              <a:rPr lang="zh-CN" altLang="en-US"/>
              <a:t>责任</a:t>
            </a:r>
            <a:r>
              <a:rPr lang="en-US" altLang="zh-CN"/>
              <a:t>” </a:t>
            </a:r>
            <a:r>
              <a:rPr lang="zh-CN" altLang="en-US"/>
              <a:t>等主题已不再附带强烈情绪，而是转化为</a:t>
            </a:r>
            <a:r>
              <a:rPr lang="en-US" altLang="zh-CN"/>
              <a:t> “</a:t>
            </a:r>
            <a:r>
              <a:rPr lang="zh-CN" altLang="en-US"/>
              <a:t>中性反思</a:t>
            </a:r>
            <a:r>
              <a:rPr lang="en-US" altLang="zh-CN"/>
              <a:t>”</a:t>
            </a:r>
            <a:endParaRPr lang="en-US" altLang="zh-CN"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 descr="83080c70-41ea-40d2-8fde-221379addbe5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r">
              <a:lnSpc>
                <a:spcPct val="100000"/>
              </a:lnSpc>
              <a:spcBef>
                <a:spcPct val="0"/>
              </a:spcBef>
            </a:pPr>
            <a:r>
              <a:rPr lang="en-US" sz="3200" b="1" i="0" u="none">
                <a:solidFill>
                  <a:srgbClr val="FFFFFF"/>
                </a:solidFill>
                <a:ea typeface="微软雅黑" panose="020B0503020204020204" charset="-122"/>
              </a:rPr>
              <a:t>横向比对：演变轨迹量化印证</a:t>
            </a:r>
            <a:endParaRPr lang="en-US" sz="3200" b="1" i="0" u="none">
              <a:solidFill>
                <a:srgbClr val="FFFFFF"/>
              </a:solidFill>
              <a:ea typeface="微软雅黑" panose="020B0503020204020204" charset="-122"/>
            </a:endParaRPr>
          </a:p>
        </p:txBody>
      </p:sp>
      <p:sp>
        <p:nvSpPr>
          <p:cNvPr id="25" name="文本占位符 24" descr="9652841f-892c-4d47-8897-2571d348380e"/>
          <p:cNvSpPr>
            <a:spLocks noGrp="1"/>
          </p:cNvSpPr>
          <p:nvPr>
            <p:ph type="body" sz="quarter" idx="1" hasCustomPrompt="1"/>
          </p:nvPr>
        </p:nvSpPr>
        <p:spPr/>
        <p:txBody>
          <a:bodyPr anchorCtr="0"/>
          <a:lstStyle/>
          <a:p>
            <a:pPr algn="r">
              <a:lnSpc>
                <a:spcPct val="120000"/>
              </a:lnSpc>
              <a:spcBef>
                <a:spcPts val="1000"/>
              </a:spcBef>
            </a:pPr>
            <a:r>
              <a:rPr lang="en-US" sz="2000" b="0" i="0" u="none">
                <a:solidFill>
                  <a:srgbClr val="FFFFFF"/>
                </a:solidFill>
                <a:ea typeface="微软雅黑" panose="020B0503020204020204" charset="-122"/>
              </a:rPr>
              <a:t>对比不同时期作品的差异与变化</a:t>
            </a:r>
            <a:endParaRPr lang="en-US" sz="2000" b="0" i="0" u="none">
              <a:solidFill>
                <a:srgbClr val="FFFFFF"/>
              </a:solidFill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720d478c-9421-4f0f-9cb9-00c560b38fe9.source.2.zh-Hans.pptx" descr="300bff8c-2ec8-44ee-a1c2-00f5089f7fda"/>
          <p:cNvGrpSpPr/>
          <p:nvPr>
            <p:custDataLst>
              <p:tags r:id="rId1"/>
            </p:custDataLst>
          </p:nvPr>
        </p:nvGrpSpPr>
        <p:grpSpPr>
          <a:xfrm>
            <a:off x="660400" y="1130301"/>
            <a:ext cx="10864850" cy="5003799"/>
            <a:chOff x="660400" y="1130301"/>
            <a:chExt cx="10864850" cy="5003799"/>
          </a:xfrm>
        </p:grpSpPr>
        <p:sp>
          <p:nvSpPr>
            <p:cNvPr id="59" name="Title" descr="ddef9f25-e4ad-452a-8841-b0e8340f0115"/>
            <p:cNvSpPr>
              <a:spLocks noChangeAspect="1"/>
            </p:cNvSpPr>
            <p:nvPr/>
          </p:nvSpPr>
          <p:spPr>
            <a:xfrm>
              <a:off x="666750" y="1130301"/>
              <a:ext cx="10858500" cy="5460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 algn="l"/>
              <a:r>
                <a:rPr lang="en-US" sz="2400" b="1" i="0" u="none">
                  <a:solidFill>
                    <a:srgbClr val="2F2F2F"/>
                  </a:solidFill>
                  <a:ea typeface="微软雅黑" panose="020B0503020204020204" charset="-122"/>
                </a:rPr>
                <a:t>纵观情感强度变化</a:t>
              </a:r>
              <a:endParaRPr lang="en-US" sz="2400" b="1" i="0" u="none">
                <a:solidFill>
                  <a:srgbClr val="2F2F2F"/>
                </a:solidFill>
                <a:ea typeface="微软雅黑" panose="020B0503020204020204" charset="-122"/>
              </a:endParaRPr>
            </a:p>
          </p:txBody>
        </p:sp>
        <p:grpSp>
          <p:nvGrpSpPr>
            <p:cNvPr id="60" name="组合 59" descr="db48d809-fff5-45b1-a2f5-95bc5e268aa6"/>
            <p:cNvGrpSpPr/>
            <p:nvPr/>
          </p:nvGrpSpPr>
          <p:grpSpPr>
            <a:xfrm>
              <a:off x="660400" y="1715072"/>
              <a:ext cx="10858499" cy="2103531"/>
              <a:chOff x="1143981" y="1715072"/>
              <a:chExt cx="10858499" cy="2103531"/>
            </a:xfrm>
          </p:grpSpPr>
          <p:grpSp>
            <p:nvGrpSpPr>
              <p:cNvPr id="73" name="组合 72" descr="66cebd93-7dff-4859-a406-222759ed7af2"/>
              <p:cNvGrpSpPr/>
              <p:nvPr/>
            </p:nvGrpSpPr>
            <p:grpSpPr>
              <a:xfrm>
                <a:off x="1362925" y="1715072"/>
                <a:ext cx="10639555" cy="2103531"/>
                <a:chOff x="660398" y="1715072"/>
                <a:chExt cx="10639555" cy="2103531"/>
              </a:xfrm>
            </p:grpSpPr>
            <p:sp>
              <p:nvSpPr>
                <p:cNvPr id="75" name="ComponentBackground1" descr="0a8ada03-48cb-45ec-8ffb-9c55da57d554"/>
                <p:cNvSpPr/>
                <p:nvPr/>
              </p:nvSpPr>
              <p:spPr>
                <a:xfrm>
                  <a:off x="660398" y="1715072"/>
                  <a:ext cx="10639555" cy="2103531"/>
                </a:xfrm>
                <a:prstGeom prst="roundRect">
                  <a:avLst>
                    <a:gd name="adj" fmla="val 8000"/>
                  </a:avLst>
                </a:prstGeom>
                <a:solidFill>
                  <a:schemeClr val="tx1">
                    <a:alpha val="5000"/>
                  </a:schemeClr>
                </a:solidFill>
                <a:ln w="6350"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wrap="square" lIns="91440" tIns="45720" rIns="91440" bIns="45720" anchor="ctr" anchorCtr="0">
                  <a:normAutofit/>
                </a:bodyPr>
                <a:lstStyle/>
                <a:p>
                  <a:pPr algn="ctr">
                    <a:lnSpc>
                      <a:spcPct val="120000"/>
                    </a:lnSpc>
                  </a:pPr>
                </a:p>
              </p:txBody>
            </p:sp>
            <p:sp>
              <p:nvSpPr>
                <p:cNvPr id="76" name="Text1" descr="abb941c2-d8f5-462d-8be7-77e0adf1bc8a"/>
                <p:cNvSpPr/>
                <p:nvPr>
                  <p:custDataLst>
                    <p:tags r:id="rId2"/>
                  </p:custDataLst>
                </p:nvPr>
              </p:nvSpPr>
              <p:spPr>
                <a:xfrm>
                  <a:off x="942338" y="2195767"/>
                  <a:ext cx="1003935" cy="1351915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l">
                    <a:lnSpc>
                      <a:spcPct val="120000"/>
                    </a:lnSpc>
                  </a:pPr>
                  <a:r>
                    <a:rPr lang="en-US" sz="1200" b="0" i="0" u="none">
                      <a:solidFill>
                        <a:srgbClr val="2F2F2F"/>
                      </a:solidFill>
                      <a:ea typeface="微软雅黑" panose="020B0503020204020204" charset="-122"/>
                    </a:rPr>
                    <a:t>呈现12部作品“平均情感强度”随时间变化的折线图。</a:t>
                  </a:r>
                  <a:endParaRPr 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77" name="Bullet1" descr="80bef70a-1aab-47e8-8296-7e28fcafd0c2"/>
                <p:cNvSpPr/>
                <p:nvPr>
                  <p:custDataLst>
                    <p:tags r:id="rId3"/>
                  </p:custDataLst>
                </p:nvPr>
              </p:nvSpPr>
              <p:spPr>
                <a:xfrm>
                  <a:off x="942123" y="1753484"/>
                  <a:ext cx="10256899" cy="442045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 anchorCtr="0">
                  <a:norm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lang="en-US" sz="1800" b="1" i="0" u="none">
                      <a:solidFill>
                        <a:srgbClr val="2F2F2F"/>
                      </a:solidFill>
                      <a:ea typeface="微软雅黑" panose="020B0503020204020204" charset="-122"/>
                    </a:rPr>
                    <a:t>核心图表</a:t>
                  </a:r>
                  <a:endParaRPr lang="en-US" sz="1800" b="1" i="0" u="none">
                    <a:solidFill>
                      <a:srgbClr val="2F2F2F"/>
                    </a:solidFill>
                    <a:ea typeface="微软雅黑" panose="020B0503020204020204" charset="-122"/>
                  </a:endParaRPr>
                </a:p>
              </p:txBody>
            </p:sp>
          </p:grpSp>
          <p:sp>
            <p:nvSpPr>
              <p:cNvPr id="74" name="Number1" descr="07f62eb6-e86a-494f-86d6-af89bc297323"/>
              <p:cNvSpPr/>
              <p:nvPr>
                <p:custDataLst>
                  <p:tags r:id="rId4"/>
                </p:custDataLst>
              </p:nvPr>
            </p:nvSpPr>
            <p:spPr>
              <a:xfrm>
                <a:off x="1143981" y="1753484"/>
                <a:ext cx="442045" cy="442045"/>
              </a:xfrm>
              <a:prstGeom prst="roundRect">
                <a:avLst/>
              </a:pr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</p:spPr>
            <p:txBody>
              <a:bodyPr wrap="none" rtlCol="0" anchor="ctr" anchorCtr="0">
                <a:normAutofit/>
              </a:bodyPr>
              <a:lstStyle/>
              <a:p>
                <a:pPr algn="ctr"/>
                <a:r>
                  <a:rPr lang="en-US" sz="1600" b="0" i="0" u="none">
                    <a:solidFill>
                      <a:srgbClr val="FFFFFF"/>
                    </a:solidFill>
                    <a:latin typeface="Arial" panose="020B0604020202020204"/>
                  </a:rPr>
                  <a:t>1</a:t>
                </a:r>
                <a:endParaRPr lang="en-US" sz="1600" b="0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</p:grpSp>
        <p:grpSp>
          <p:nvGrpSpPr>
            <p:cNvPr id="61" name="组合 60" descr="ad23c978-0021-4071-b342-df16a3e4caea"/>
            <p:cNvGrpSpPr/>
            <p:nvPr/>
          </p:nvGrpSpPr>
          <p:grpSpPr>
            <a:xfrm>
              <a:off x="660400" y="4030569"/>
              <a:ext cx="10858499" cy="2103531"/>
              <a:chOff x="1143981" y="1715072"/>
              <a:chExt cx="10858499" cy="2103531"/>
            </a:xfrm>
          </p:grpSpPr>
          <p:grpSp>
            <p:nvGrpSpPr>
              <p:cNvPr id="68" name="组合 67" descr="9a438778-2e45-4210-a83f-c2d3d2c6b02d"/>
              <p:cNvGrpSpPr/>
              <p:nvPr/>
            </p:nvGrpSpPr>
            <p:grpSpPr>
              <a:xfrm>
                <a:off x="1362925" y="1715072"/>
                <a:ext cx="10639555" cy="2103531"/>
                <a:chOff x="660398" y="1715072"/>
                <a:chExt cx="10639555" cy="2103531"/>
              </a:xfrm>
            </p:grpSpPr>
            <p:sp>
              <p:nvSpPr>
                <p:cNvPr id="70" name="ComponentBackground2" descr="672fd624-88a3-49b7-8498-7fe8be61fe0b"/>
                <p:cNvSpPr/>
                <p:nvPr/>
              </p:nvSpPr>
              <p:spPr>
                <a:xfrm>
                  <a:off x="660398" y="1715072"/>
                  <a:ext cx="10639555" cy="2103531"/>
                </a:xfrm>
                <a:prstGeom prst="roundRect">
                  <a:avLst>
                    <a:gd name="adj" fmla="val 8000"/>
                  </a:avLst>
                </a:prstGeom>
                <a:solidFill>
                  <a:schemeClr val="tx1">
                    <a:alpha val="5000"/>
                  </a:schemeClr>
                </a:solidFill>
                <a:ln w="6350"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wrap="square" lIns="91440" tIns="45720" rIns="91440" bIns="45720" anchor="ctr" anchorCtr="0">
                  <a:normAutofit/>
                </a:bodyPr>
                <a:lstStyle/>
                <a:p>
                  <a:pPr algn="ctr">
                    <a:lnSpc>
                      <a:spcPct val="120000"/>
                    </a:lnSpc>
                  </a:pPr>
                </a:p>
              </p:txBody>
            </p:sp>
            <p:sp>
              <p:nvSpPr>
                <p:cNvPr id="71" name="Text2" descr="3a143eea-71df-43b2-9d63-6d1246fba83c"/>
                <p:cNvSpPr/>
                <p:nvPr>
                  <p:custDataLst>
                    <p:tags r:id="rId5"/>
                  </p:custDataLst>
                </p:nvPr>
              </p:nvSpPr>
              <p:spPr>
                <a:xfrm>
                  <a:off x="942123" y="2195528"/>
                  <a:ext cx="10256882" cy="1528828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lvl="0" algn="l">
                    <a:lnSpc>
                      <a:spcPct val="120000"/>
                    </a:lnSpc>
                  </a:pPr>
                  <a:r>
                    <a:rPr lang="zh-CN" altLang="en-US" sz="1200" b="0" i="0" u="none">
                      <a:solidFill>
                        <a:srgbClr val="2F2F2F"/>
                      </a:solidFill>
                      <a:ea typeface="微软雅黑" panose="020B0503020204020204" charset="-122"/>
                    </a:rPr>
                    <a:t>其情感基调的宏观演变并非简单线性下降，而是随创作主题转向呈现</a:t>
                  </a:r>
                  <a:r>
                    <a:rPr lang="en-US" altLang="zh-CN" sz="1200" b="0" i="0" u="none">
                      <a:solidFill>
                        <a:srgbClr val="2F2F2F"/>
                      </a:solidFill>
                      <a:ea typeface="微软雅黑" panose="020B0503020204020204" charset="-122"/>
                    </a:rPr>
                    <a:t> “</a:t>
                  </a:r>
                  <a:r>
                    <a:rPr lang="zh-CN" altLang="en-US" sz="1200" b="0" i="0" u="none">
                      <a:solidFill>
                        <a:srgbClr val="2F2F2F"/>
                      </a:solidFill>
                      <a:ea typeface="微软雅黑" panose="020B0503020204020204" charset="-122"/>
                    </a:rPr>
                    <a:t>温和积极</a:t>
                  </a:r>
                  <a:r>
                    <a:rPr lang="en-US" altLang="en-US" sz="1200" b="0" i="0" u="none">
                      <a:solidFill>
                        <a:srgbClr val="2F2F2F"/>
                      </a:solidFill>
                      <a:ea typeface="微软雅黑" panose="020B0503020204020204" charset="-122"/>
                    </a:rPr>
                    <a:t>→</a:t>
                  </a:r>
                  <a:r>
                    <a:rPr lang="zh-CN" altLang="en-US" sz="1200" b="0" i="0" u="none">
                      <a:solidFill>
                        <a:srgbClr val="2F2F2F"/>
                      </a:solidFill>
                      <a:ea typeface="微软雅黑" panose="020B0503020204020204" charset="-122"/>
                    </a:rPr>
                    <a:t>波动探底</a:t>
                  </a:r>
                  <a:r>
                    <a:rPr lang="en-US" altLang="en-US" sz="1200" b="0" i="0" u="none">
                      <a:solidFill>
                        <a:srgbClr val="2F2F2F"/>
                      </a:solidFill>
                      <a:ea typeface="微软雅黑" panose="020B0503020204020204" charset="-122"/>
                    </a:rPr>
                    <a:t>→</a:t>
                  </a:r>
                  <a:r>
                    <a:rPr lang="zh-CN" altLang="en-US" sz="1200" b="0" i="0" u="none">
                      <a:solidFill>
                        <a:srgbClr val="2F2F2F"/>
                      </a:solidFill>
                      <a:ea typeface="微软雅黑" panose="020B0503020204020204" charset="-122"/>
                    </a:rPr>
                    <a:t>内敛沉淀</a:t>
                  </a:r>
                  <a:r>
                    <a:rPr lang="en-US" altLang="zh-CN" sz="1200" b="0" i="0" u="none">
                      <a:solidFill>
                        <a:srgbClr val="2F2F2F"/>
                      </a:solidFill>
                      <a:ea typeface="微软雅黑" panose="020B0503020204020204" charset="-122"/>
                    </a:rPr>
                    <a:t>”</a:t>
                  </a:r>
                  <a:r>
                    <a:rPr lang="zh-CN" altLang="en-US" sz="1200" b="0" i="0" u="none">
                      <a:solidFill>
                        <a:srgbClr val="2F2F2F"/>
                      </a:solidFill>
                      <a:ea typeface="微软雅黑" panose="020B0503020204020204" charset="-122"/>
                    </a:rPr>
                    <a:t>的复杂轨迹：</a:t>
                  </a:r>
                  <a:endParaRPr lang="zh-CN" alt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endParaRPr>
                </a:p>
                <a:p>
                  <a:pPr lvl="0" algn="l">
                    <a:lnSpc>
                      <a:spcPct val="120000"/>
                    </a:lnSpc>
                  </a:pPr>
                  <a:r>
                    <a:rPr lang="zh-CN" altLang="en-US" sz="1200" b="0" i="0" u="none">
                      <a:solidFill>
                        <a:srgbClr val="2F2F2F"/>
                      </a:solidFill>
                      <a:ea typeface="微软雅黑" panose="020B0503020204020204" charset="-122"/>
                    </a:rPr>
                    <a:t>早期：平均情感强度稳定在</a:t>
                  </a:r>
                  <a:r>
                    <a:rPr lang="en-US" altLang="zh-CN" sz="1200" b="0" i="0" u="none">
                      <a:solidFill>
                        <a:srgbClr val="2F2F2F"/>
                      </a:solidFill>
                      <a:ea typeface="微软雅黑" panose="020B0503020204020204" charset="-122"/>
                    </a:rPr>
                    <a:t> 0.11-0.17 </a:t>
                  </a:r>
                  <a:r>
                    <a:rPr lang="zh-CN" altLang="en-US" sz="1200" b="0" i="0" u="none">
                      <a:solidFill>
                        <a:srgbClr val="2F2F2F"/>
                      </a:solidFill>
                      <a:ea typeface="微软雅黑" panose="020B0503020204020204" charset="-122"/>
                    </a:rPr>
                    <a:t>区间，呈温和积极基调，契合</a:t>
                  </a:r>
                  <a:r>
                    <a:rPr lang="en-US" altLang="zh-CN" sz="1200" b="0" i="0" u="none">
                      <a:solidFill>
                        <a:srgbClr val="2F2F2F"/>
                      </a:solidFill>
                      <a:ea typeface="微软雅黑" panose="020B0503020204020204" charset="-122"/>
                    </a:rPr>
                    <a:t> “</a:t>
                  </a:r>
                  <a:r>
                    <a:rPr lang="zh-CN" altLang="en-US" sz="1200" b="0" i="0" u="none">
                      <a:solidFill>
                        <a:srgbClr val="2F2F2F"/>
                      </a:solidFill>
                      <a:ea typeface="微软雅黑" panose="020B0503020204020204" charset="-122"/>
                    </a:rPr>
                    <a:t>理想共生</a:t>
                  </a:r>
                  <a:r>
                    <a:rPr lang="en-US" altLang="zh-CN" sz="1200" b="0" i="0" u="none">
                      <a:solidFill>
                        <a:srgbClr val="2F2F2F"/>
                      </a:solidFill>
                      <a:ea typeface="微软雅黑" panose="020B0503020204020204" charset="-122"/>
                    </a:rPr>
                    <a:t>” </a:t>
                  </a:r>
                  <a:r>
                    <a:rPr lang="zh-CN" altLang="en-US" sz="1200" b="0" i="0" u="none">
                      <a:solidFill>
                        <a:srgbClr val="2F2F2F"/>
                      </a:solidFill>
                      <a:ea typeface="微软雅黑" panose="020B0503020204020204" charset="-122"/>
                    </a:rPr>
                    <a:t>的创作语境；</a:t>
                  </a:r>
                  <a:endParaRPr lang="zh-CN" alt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endParaRPr>
                </a:p>
                <a:p>
                  <a:pPr lvl="0" algn="l">
                    <a:lnSpc>
                      <a:spcPct val="120000"/>
                    </a:lnSpc>
                  </a:pPr>
                  <a:r>
                    <a:rPr lang="zh-CN" altLang="en-US" sz="1200" b="0" i="0" u="none">
                      <a:solidFill>
                        <a:srgbClr val="2F2F2F"/>
                      </a:solidFill>
                      <a:ea typeface="微软雅黑" panose="020B0503020204020204" charset="-122"/>
                    </a:rPr>
                    <a:t>中期：随现实冲突主题凸显，情感强度波动加剧，并在《千与千寻》（</a:t>
                  </a:r>
                  <a:r>
                    <a:rPr lang="en-US" altLang="zh-CN" sz="1200" b="0" i="0" u="none">
                      <a:solidFill>
                        <a:srgbClr val="2F2F2F"/>
                      </a:solidFill>
                      <a:ea typeface="微软雅黑" panose="020B0503020204020204" charset="-122"/>
                    </a:rPr>
                    <a:t>0.124</a:t>
                  </a:r>
                  <a:r>
                    <a:rPr lang="zh-CN" altLang="en-US" sz="1200" b="0" i="0" u="none">
                      <a:solidFill>
                        <a:srgbClr val="2F2F2F"/>
                      </a:solidFill>
                      <a:ea typeface="微软雅黑" panose="020B0503020204020204" charset="-122"/>
                    </a:rPr>
                    <a:t>）处探底，对应</a:t>
                  </a:r>
                  <a:r>
                    <a:rPr lang="en-US" altLang="zh-CN" sz="1200" b="0" i="0" u="none">
                      <a:solidFill>
                        <a:srgbClr val="2F2F2F"/>
                      </a:solidFill>
                      <a:ea typeface="微软雅黑" panose="020B0503020204020204" charset="-122"/>
                    </a:rPr>
                    <a:t> “</a:t>
                  </a:r>
                  <a:r>
                    <a:rPr lang="zh-CN" altLang="en-US" sz="1200" b="0" i="0" u="none">
                      <a:solidFill>
                        <a:srgbClr val="2F2F2F"/>
                      </a:solidFill>
                      <a:ea typeface="微软雅黑" panose="020B0503020204020204" charset="-122"/>
                    </a:rPr>
                    <a:t>现实矛盾</a:t>
                  </a:r>
                  <a:r>
                    <a:rPr lang="en-US" altLang="zh-CN" sz="1200" b="0" i="0" u="none">
                      <a:solidFill>
                        <a:srgbClr val="2F2F2F"/>
                      </a:solidFill>
                      <a:ea typeface="微软雅黑" panose="020B0503020204020204" charset="-122"/>
                    </a:rPr>
                    <a:t>” </a:t>
                  </a:r>
                  <a:r>
                    <a:rPr lang="zh-CN" altLang="en-US" sz="1200" b="0" i="0" u="none">
                      <a:solidFill>
                        <a:srgbClr val="2F2F2F"/>
                      </a:solidFill>
                      <a:ea typeface="微软雅黑" panose="020B0503020204020204" charset="-122"/>
                    </a:rPr>
                    <a:t>带来的情感复杂分化；</a:t>
                  </a:r>
                  <a:endParaRPr lang="zh-CN" alt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endParaRPr>
                </a:p>
                <a:p>
                  <a:pPr lvl="0" algn="l">
                    <a:lnSpc>
                      <a:spcPct val="120000"/>
                    </a:lnSpc>
                  </a:pPr>
                  <a:r>
                    <a:rPr lang="zh-CN" altLang="en-US" sz="1200" b="0" i="0" u="none">
                      <a:solidFill>
                        <a:srgbClr val="2F2F2F"/>
                      </a:solidFill>
                      <a:ea typeface="微软雅黑" panose="020B0503020204020204" charset="-122"/>
                    </a:rPr>
                    <a:t>后期：强度逐步回落，《你想活出怎样的人生》以</a:t>
                  </a:r>
                  <a:r>
                    <a:rPr lang="en-US" altLang="zh-CN" sz="1200" b="0" i="0" u="none">
                      <a:solidFill>
                        <a:srgbClr val="2F2F2F"/>
                      </a:solidFill>
                      <a:ea typeface="微软雅黑" panose="020B0503020204020204" charset="-122"/>
                    </a:rPr>
                    <a:t> 0.072 </a:t>
                  </a:r>
                  <a:r>
                    <a:rPr lang="zh-CN" altLang="en-US" sz="1200" b="0" i="0" u="none">
                      <a:solidFill>
                        <a:srgbClr val="2F2F2F"/>
                      </a:solidFill>
                      <a:ea typeface="微软雅黑" panose="020B0503020204020204" charset="-122"/>
                    </a:rPr>
                    <a:t>降至全期最低，情感归于内敛克制，呼应</a:t>
                  </a:r>
                  <a:r>
                    <a:rPr lang="en-US" altLang="zh-CN" sz="1200" b="0" i="0" u="none">
                      <a:solidFill>
                        <a:srgbClr val="2F2F2F"/>
                      </a:solidFill>
                      <a:ea typeface="微软雅黑" panose="020B0503020204020204" charset="-122"/>
                    </a:rPr>
                    <a:t> “</a:t>
                  </a:r>
                  <a:r>
                    <a:rPr lang="zh-CN" altLang="en-US" sz="1200" b="0" i="0" u="none">
                      <a:solidFill>
                        <a:srgbClr val="2F2F2F"/>
                      </a:solidFill>
                      <a:ea typeface="微软雅黑" panose="020B0503020204020204" charset="-122"/>
                    </a:rPr>
                    <a:t>现实承担</a:t>
                  </a:r>
                  <a:r>
                    <a:rPr lang="en-US" altLang="zh-CN" sz="1200" b="0" i="0" u="none">
                      <a:solidFill>
                        <a:srgbClr val="2F2F2F"/>
                      </a:solidFill>
                      <a:ea typeface="微软雅黑" panose="020B0503020204020204" charset="-122"/>
                    </a:rPr>
                    <a:t>” </a:t>
                  </a:r>
                  <a:r>
                    <a:rPr lang="zh-CN" altLang="en-US" sz="1200" b="0" i="0" u="none">
                      <a:solidFill>
                        <a:srgbClr val="2F2F2F"/>
                      </a:solidFill>
                      <a:ea typeface="微软雅黑" panose="020B0503020204020204" charset="-122"/>
                    </a:rPr>
                    <a:t>的深度反思。</a:t>
                  </a:r>
                  <a:endParaRPr lang="zh-CN" alt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endParaRPr>
                </a:p>
                <a:p>
                  <a:pPr lvl="0" algn="l">
                    <a:lnSpc>
                      <a:spcPct val="120000"/>
                    </a:lnSpc>
                  </a:pPr>
                  <a:r>
                    <a:rPr lang="zh-CN" altLang="en-US" sz="1200" b="0" i="0" u="none">
                      <a:solidFill>
                        <a:srgbClr val="2F2F2F"/>
                      </a:solidFill>
                      <a:ea typeface="微软雅黑" panose="020B0503020204020204" charset="-122"/>
                    </a:rPr>
                    <a:t>这一轨迹精准印证了情感从</a:t>
                  </a:r>
                  <a:r>
                    <a:rPr lang="en-US" altLang="zh-CN" sz="1200" b="0" i="0" u="none">
                      <a:solidFill>
                        <a:srgbClr val="2F2F2F"/>
                      </a:solidFill>
                      <a:ea typeface="微软雅黑" panose="020B0503020204020204" charset="-122"/>
                    </a:rPr>
                    <a:t> “</a:t>
                  </a:r>
                  <a:r>
                    <a:rPr lang="zh-CN" altLang="en-US" sz="1200" b="0" i="0" u="none">
                      <a:solidFill>
                        <a:srgbClr val="2F2F2F"/>
                      </a:solidFill>
                      <a:ea typeface="微软雅黑" panose="020B0503020204020204" charset="-122"/>
                    </a:rPr>
                    <a:t>纯粹积极</a:t>
                  </a:r>
                  <a:r>
                    <a:rPr lang="en-US" altLang="zh-CN" sz="1200" b="0" i="0" u="none">
                      <a:solidFill>
                        <a:srgbClr val="2F2F2F"/>
                      </a:solidFill>
                      <a:ea typeface="微软雅黑" panose="020B0503020204020204" charset="-122"/>
                    </a:rPr>
                    <a:t>” </a:t>
                  </a:r>
                  <a:r>
                    <a:rPr lang="zh-CN" altLang="en-US" sz="1200" b="0" i="0" u="none">
                      <a:solidFill>
                        <a:srgbClr val="2F2F2F"/>
                      </a:solidFill>
                      <a:ea typeface="微软雅黑" panose="020B0503020204020204" charset="-122"/>
                    </a:rPr>
                    <a:t>到</a:t>
                  </a:r>
                  <a:r>
                    <a:rPr lang="en-US" altLang="zh-CN" sz="1200" b="0" i="0" u="none">
                      <a:solidFill>
                        <a:srgbClr val="2F2F2F"/>
                      </a:solidFill>
                      <a:ea typeface="微软雅黑" panose="020B0503020204020204" charset="-122"/>
                    </a:rPr>
                    <a:t> “</a:t>
                  </a:r>
                  <a:r>
                    <a:rPr lang="zh-CN" altLang="en-US" sz="1200" b="0" i="0" u="none">
                      <a:solidFill>
                        <a:srgbClr val="2F2F2F"/>
                      </a:solidFill>
                      <a:ea typeface="微软雅黑" panose="020B0503020204020204" charset="-122"/>
                    </a:rPr>
                    <a:t>矛盾复杂</a:t>
                  </a:r>
                  <a:r>
                    <a:rPr lang="en-US" altLang="zh-CN" sz="1200" b="0" i="0" u="none">
                      <a:solidFill>
                        <a:srgbClr val="2F2F2F"/>
                      </a:solidFill>
                      <a:ea typeface="微软雅黑" panose="020B0503020204020204" charset="-122"/>
                    </a:rPr>
                    <a:t>” </a:t>
                  </a:r>
                  <a:r>
                    <a:rPr lang="zh-CN" altLang="en-US" sz="1200" b="0" i="0" u="none">
                      <a:solidFill>
                        <a:srgbClr val="2F2F2F"/>
                      </a:solidFill>
                      <a:ea typeface="微软雅黑" panose="020B0503020204020204" charset="-122"/>
                    </a:rPr>
                    <a:t>再到</a:t>
                  </a:r>
                  <a:r>
                    <a:rPr lang="en-US" altLang="zh-CN" sz="1200" b="0" i="0" u="none">
                      <a:solidFill>
                        <a:srgbClr val="2F2F2F"/>
                      </a:solidFill>
                      <a:ea typeface="微软雅黑" panose="020B0503020204020204" charset="-122"/>
                    </a:rPr>
                    <a:t> “</a:t>
                  </a:r>
                  <a:r>
                    <a:rPr lang="zh-CN" altLang="en-US" sz="1200" b="0" i="0" u="none">
                      <a:solidFill>
                        <a:srgbClr val="2F2F2F"/>
                      </a:solidFill>
                      <a:ea typeface="微软雅黑" panose="020B0503020204020204" charset="-122"/>
                    </a:rPr>
                    <a:t>内敛沉淀</a:t>
                  </a:r>
                  <a:r>
                    <a:rPr lang="en-US" altLang="zh-CN" sz="1200" b="0" i="0" u="none">
                      <a:solidFill>
                        <a:srgbClr val="2F2F2F"/>
                      </a:solidFill>
                      <a:ea typeface="微软雅黑" panose="020B0503020204020204" charset="-122"/>
                    </a:rPr>
                    <a:t>” </a:t>
                  </a:r>
                  <a:r>
                    <a:rPr lang="zh-CN" altLang="en-US" sz="1200" b="0" i="0" u="none">
                      <a:solidFill>
                        <a:srgbClr val="2F2F2F"/>
                      </a:solidFill>
                      <a:ea typeface="微软雅黑" panose="020B0503020204020204" charset="-122"/>
                    </a:rPr>
                    <a:t>的深化逻辑，是宫崎骏创作中人文内核随人生感悟进阶的直观数据投射</a:t>
                  </a:r>
                  <a:r>
                    <a:rPr lang="zh-CN" sz="1200" b="0" i="0" u="none">
                      <a:solidFill>
                        <a:srgbClr val="2F2F2F"/>
                      </a:solidFill>
                      <a:ea typeface="微软雅黑" panose="020B0503020204020204" charset="-122"/>
                    </a:rPr>
                    <a:t>。</a:t>
                  </a:r>
                  <a:endParaRPr lang="zh-CN" sz="1200" b="0" i="0" u="none">
                    <a:solidFill>
                      <a:srgbClr val="2F2F2F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72" name="Bullet2" descr="c6fe763c-bee2-4a77-beaf-99fc686c983f"/>
                <p:cNvSpPr/>
                <p:nvPr>
                  <p:custDataLst>
                    <p:tags r:id="rId6"/>
                  </p:custDataLst>
                </p:nvPr>
              </p:nvSpPr>
              <p:spPr>
                <a:xfrm>
                  <a:off x="942123" y="1753484"/>
                  <a:ext cx="10256899" cy="442045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 anchorCtr="0">
                  <a:norm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lang="en-US" sz="1800" b="1" i="0" u="none">
                      <a:solidFill>
                        <a:srgbClr val="2F2F2F"/>
                      </a:solidFill>
                      <a:ea typeface="微软雅黑" panose="020B0503020204020204" charset="-122"/>
                    </a:rPr>
                    <a:t>核心发现</a:t>
                  </a:r>
                  <a:endParaRPr lang="en-US" sz="1800" b="1" i="0" u="none">
                    <a:solidFill>
                      <a:srgbClr val="2F2F2F"/>
                    </a:solidFill>
                    <a:ea typeface="微软雅黑" panose="020B0503020204020204" charset="-122"/>
                  </a:endParaRPr>
                </a:p>
              </p:txBody>
            </p:sp>
          </p:grpSp>
          <p:sp>
            <p:nvSpPr>
              <p:cNvPr id="69" name="Number2" descr="6862c4b3-8434-4fc6-a5d5-6eb9b71e3b38"/>
              <p:cNvSpPr/>
              <p:nvPr>
                <p:custDataLst>
                  <p:tags r:id="rId7"/>
                </p:custDataLst>
              </p:nvPr>
            </p:nvSpPr>
            <p:spPr>
              <a:xfrm>
                <a:off x="1143981" y="1753484"/>
                <a:ext cx="442045" cy="442045"/>
              </a:xfrm>
              <a:prstGeom prst="roundRect">
                <a:avLst/>
              </a:pr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</p:spPr>
            <p:txBody>
              <a:bodyPr wrap="none" rtlCol="0" anchor="ctr" anchorCtr="0">
                <a:normAutofit/>
              </a:bodyPr>
              <a:lstStyle/>
              <a:p>
                <a:pPr algn="ctr"/>
                <a:r>
                  <a:rPr lang="en-US" sz="1600" b="0" i="0" u="none">
                    <a:solidFill>
                      <a:srgbClr val="FFFFFF"/>
                    </a:solidFill>
                    <a:latin typeface="Arial" panose="020B0604020202020204"/>
                  </a:rPr>
                  <a:t>2</a:t>
                </a:r>
                <a:endParaRPr lang="en-US" sz="1600" b="0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</p:grpSp>
      </p:grpSp>
      <p:sp>
        <p:nvSpPr>
          <p:cNvPr id="2" name="标题 1" descr="6e191eb5-7da3-4a4d-bdfb-9524e0e49c7c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2F2F2F"/>
                </a:solidFill>
                <a:ea typeface="微软雅黑" panose="020B0503020204020204" charset="-122"/>
              </a:rPr>
              <a:t>情感基调的宏观演变</a:t>
            </a:r>
            <a:endParaRPr lang="en-US" sz="2800" b="1" i="0" u="none">
              <a:solidFill>
                <a:srgbClr val="2F2F2F"/>
              </a:solidFill>
              <a:ea typeface="微软雅黑" panose="020B0503020204020204" charset="-122"/>
            </a:endParaRPr>
          </a:p>
        </p:txBody>
      </p:sp>
      <p:pic>
        <p:nvPicPr>
          <p:cNvPr id="4" name="图片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48865" y="1752600"/>
            <a:ext cx="3122930" cy="20345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4ad18051-3276-494d-b4c3-f66ae43e91ee.source.2.zh-Hans.pptx" descr="4daf4e8c-eda5-4688-9698-419bc2c6aaae"/>
          <p:cNvGrpSpPr/>
          <p:nvPr>
            <p:custDataLst>
              <p:tags r:id="rId1"/>
            </p:custDataLst>
          </p:nvPr>
        </p:nvGrpSpPr>
        <p:grpSpPr>
          <a:xfrm>
            <a:off x="669925" y="1130300"/>
            <a:ext cx="10851833" cy="5266522"/>
            <a:chOff x="669925" y="1130300"/>
            <a:chExt cx="10851833" cy="5266522"/>
          </a:xfrm>
        </p:grpSpPr>
        <p:sp>
          <p:nvSpPr>
            <p:cNvPr id="23" name="iṥļîḑe" descr="44fc19ab-14e3-4ffb-8f1e-c0971812fd10"/>
            <p:cNvSpPr/>
            <p:nvPr>
              <p:custDataLst>
                <p:tags r:id="rId2"/>
              </p:custDataLst>
            </p:nvPr>
          </p:nvSpPr>
          <p:spPr bwMode="auto">
            <a:xfrm rot="16200000" flipH="1">
              <a:off x="3330098" y="1152177"/>
              <a:ext cx="217331" cy="398920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653"/>
                </a:cxn>
                <a:cxn ang="0">
                  <a:pos x="0" y="653"/>
                </a:cxn>
                <a:cxn ang="0">
                  <a:pos x="37" y="635"/>
                </a:cxn>
                <a:cxn ang="0">
                  <a:pos x="37" y="17"/>
                </a:cxn>
                <a:cxn ang="0">
                  <a:pos x="0" y="0"/>
                </a:cxn>
              </a:cxnLst>
              <a:rect l="0" t="0" r="r" b="b"/>
              <a:pathLst>
                <a:path w="37" h="653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653"/>
                    <a:pt x="0" y="653"/>
                    <a:pt x="0" y="653"/>
                  </a:cubicBezTo>
                  <a:cubicBezTo>
                    <a:pt x="0" y="653"/>
                    <a:pt x="0" y="653"/>
                    <a:pt x="0" y="653"/>
                  </a:cubicBezTo>
                  <a:cubicBezTo>
                    <a:pt x="20" y="653"/>
                    <a:pt x="37" y="645"/>
                    <a:pt x="37" y="635"/>
                  </a:cubicBezTo>
                  <a:cubicBezTo>
                    <a:pt x="37" y="17"/>
                    <a:pt x="37" y="17"/>
                    <a:pt x="37" y="17"/>
                  </a:cubicBezTo>
                  <a:cubicBezTo>
                    <a:pt x="37" y="8"/>
                    <a:pt x="20" y="0"/>
                    <a:pt x="0" y="0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9525">
              <a:noFill/>
              <a:round/>
            </a:ln>
          </p:spPr>
          <p:txBody>
            <a:bodyPr vert="horz" wrap="none" lIns="91440" tIns="45720" rIns="91440" bIns="45720" anchor="ctr" anchorCtr="1" compatLnSpc="1">
              <a:normAutofit/>
            </a:bodyPr>
            <a:lstStyle/>
            <a:p>
              <a:pPr algn="ctr"/>
            </a:p>
          </p:txBody>
        </p:sp>
        <p:sp>
          <p:nvSpPr>
            <p:cNvPr id="14" name="íSľíḍé" descr="1af60867-9d74-4e6a-80c6-0b175bc47aa5"/>
            <p:cNvSpPr/>
            <p:nvPr>
              <p:custDataLst>
                <p:tags r:id="rId3"/>
              </p:custDataLst>
            </p:nvPr>
          </p:nvSpPr>
          <p:spPr bwMode="auto">
            <a:xfrm rot="16200000" flipH="1">
              <a:off x="8765671" y="1152642"/>
              <a:ext cx="217332" cy="398920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653"/>
                </a:cxn>
                <a:cxn ang="0">
                  <a:pos x="0" y="653"/>
                </a:cxn>
                <a:cxn ang="0">
                  <a:pos x="37" y="635"/>
                </a:cxn>
                <a:cxn ang="0">
                  <a:pos x="37" y="17"/>
                </a:cxn>
                <a:cxn ang="0">
                  <a:pos x="0" y="0"/>
                </a:cxn>
              </a:cxnLst>
              <a:rect l="0" t="0" r="r" b="b"/>
              <a:pathLst>
                <a:path w="37" h="653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653"/>
                    <a:pt x="0" y="653"/>
                    <a:pt x="0" y="653"/>
                  </a:cubicBezTo>
                  <a:cubicBezTo>
                    <a:pt x="0" y="653"/>
                    <a:pt x="0" y="653"/>
                    <a:pt x="0" y="653"/>
                  </a:cubicBezTo>
                  <a:cubicBezTo>
                    <a:pt x="20" y="653"/>
                    <a:pt x="37" y="645"/>
                    <a:pt x="37" y="635"/>
                  </a:cubicBezTo>
                  <a:cubicBezTo>
                    <a:pt x="37" y="17"/>
                    <a:pt x="37" y="17"/>
                    <a:pt x="37" y="17"/>
                  </a:cubicBezTo>
                  <a:cubicBezTo>
                    <a:pt x="37" y="8"/>
                    <a:pt x="20" y="0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9525">
              <a:noFill/>
              <a:round/>
            </a:ln>
          </p:spPr>
          <p:txBody>
            <a:bodyPr vert="horz" wrap="none" lIns="91440" tIns="45720" rIns="91440" bIns="45720" anchor="ctr" anchorCtr="1" compatLnSpc="1">
              <a:normAutofit/>
            </a:bodyPr>
            <a:lstStyle/>
            <a:p>
              <a:pPr algn="ctr"/>
            </a:p>
          </p:txBody>
        </p:sp>
        <p:cxnSp>
          <p:nvCxnSpPr>
            <p:cNvPr id="5" name="iṣḷïḍé" descr="1e0b8214-fbb7-4afb-bf50-4dc5f1ae005b"/>
            <p:cNvCxnSpPr/>
            <p:nvPr>
              <p:custDataLst>
                <p:tags r:id="rId4"/>
              </p:custDataLst>
            </p:nvPr>
          </p:nvCxnSpPr>
          <p:spPr>
            <a:xfrm>
              <a:off x="669925" y="4083872"/>
              <a:ext cx="10850563" cy="0"/>
            </a:xfrm>
            <a:prstGeom prst="line">
              <a:avLst/>
            </a:prstGeom>
            <a:ln w="12700" cap="rnd">
              <a:solidFill>
                <a:schemeClr val="tx2">
                  <a:alpha val="50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iṧlîḓê" descr="50496f03-955c-41e3-a701-9eb31a6af521"/>
            <p:cNvCxnSpPr/>
            <p:nvPr>
              <p:custDataLst>
                <p:tags r:id="rId5"/>
              </p:custDataLst>
            </p:nvPr>
          </p:nvCxnSpPr>
          <p:spPr>
            <a:xfrm>
              <a:off x="671195" y="3521176"/>
              <a:ext cx="10850563" cy="0"/>
            </a:xfrm>
            <a:prstGeom prst="line">
              <a:avLst/>
            </a:prstGeom>
            <a:ln w="12700" cap="rnd">
              <a:solidFill>
                <a:schemeClr val="tx2">
                  <a:alpha val="50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itle" descr="a8af47a7-e5b0-4dde-8f5e-ec7bc05173e4"/>
            <p:cNvSpPr txBox="1"/>
            <p:nvPr/>
          </p:nvSpPr>
          <p:spPr>
            <a:xfrm>
              <a:off x="671512" y="1130300"/>
              <a:ext cx="10848976" cy="1426763"/>
            </a:xfrm>
            <a:prstGeom prst="rect">
              <a:avLst/>
            </a:prstGeom>
            <a:noFill/>
          </p:spPr>
          <p:txBody>
            <a:bodyPr vert="horz" wrap="square" rtlCol="0" anchor="t" anchorCtr="1">
              <a:normAutofit/>
            </a:bodyPr>
            <a:lstStyle/>
            <a:p>
              <a:pPr algn="ctr"/>
              <a:r>
                <a:rPr lang="en-US" sz="2400" b="1" i="0" u="none">
                  <a:solidFill>
                    <a:srgbClr val="2F2F2F"/>
                  </a:solidFill>
                  <a:ea typeface="微软雅黑" panose="020B0503020204020204" charset="-122"/>
                </a:rPr>
                <a:t>分析情感占比变化</a:t>
              </a:r>
              <a:endParaRPr lang="en-US" sz="2400" b="1" i="0" u="none">
                <a:solidFill>
                  <a:srgbClr val="2F2F2F"/>
                </a:solidFill>
                <a:ea typeface="微软雅黑" panose="020B0503020204020204" charset="-122"/>
              </a:endParaRPr>
            </a:p>
          </p:txBody>
        </p:sp>
        <p:grpSp>
          <p:nvGrpSpPr>
            <p:cNvPr id="32" name="组合 31" descr="5688874a-e5d2-4dda-a2aa-d84d1c201eef"/>
            <p:cNvGrpSpPr/>
            <p:nvPr/>
          </p:nvGrpSpPr>
          <p:grpSpPr>
            <a:xfrm>
              <a:off x="1567167" y="1921342"/>
              <a:ext cx="3747006" cy="2117359"/>
              <a:chOff x="1567167" y="1921342"/>
              <a:chExt cx="3747006" cy="2117359"/>
            </a:xfrm>
          </p:grpSpPr>
          <p:sp>
            <p:nvSpPr>
              <p:cNvPr id="24" name="Number1" descr="3e66f843-ef6a-4163-8697-f868189446b8"/>
              <p:cNvSpPr/>
              <p:nvPr>
                <p:custDataLst>
                  <p:tags r:id="rId6"/>
                </p:custDataLst>
              </p:nvPr>
            </p:nvSpPr>
            <p:spPr bwMode="auto">
              <a:xfrm rot="16200000" flipH="1">
                <a:off x="3133361" y="857121"/>
                <a:ext cx="614618" cy="3747006"/>
              </a:xfrm>
              <a:custGeom>
                <a:avLst/>
                <a:gdLst/>
                <a:ahLst/>
                <a:cxnLst>
                  <a:cxn ang="0">
                    <a:pos x="0" y="94"/>
                  </a:cxn>
                  <a:cxn ang="0">
                    <a:pos x="0" y="521"/>
                  </a:cxn>
                  <a:cxn ang="0">
                    <a:pos x="124" y="614"/>
                  </a:cxn>
                  <a:cxn ang="0">
                    <a:pos x="124" y="0"/>
                  </a:cxn>
                  <a:cxn ang="0">
                    <a:pos x="0" y="94"/>
                  </a:cxn>
                </a:cxnLst>
                <a:rect l="0" t="0" r="r" b="b"/>
                <a:pathLst>
                  <a:path w="124" h="614">
                    <a:moveTo>
                      <a:pt x="0" y="94"/>
                    </a:moveTo>
                    <a:cubicBezTo>
                      <a:pt x="0" y="521"/>
                      <a:pt x="0" y="521"/>
                      <a:pt x="0" y="521"/>
                    </a:cubicBezTo>
                    <a:cubicBezTo>
                      <a:pt x="0" y="576"/>
                      <a:pt x="109" y="559"/>
                      <a:pt x="124" y="614"/>
                    </a:cubicBezTo>
                    <a:cubicBezTo>
                      <a:pt x="124" y="0"/>
                      <a:pt x="124" y="0"/>
                      <a:pt x="124" y="0"/>
                    </a:cubicBezTo>
                    <a:cubicBezTo>
                      <a:pt x="109" y="55"/>
                      <a:pt x="0" y="38"/>
                      <a:pt x="0" y="94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</a:ln>
            </p:spPr>
            <p:txBody>
              <a:bodyPr vert="eaVert" wrap="square" lIns="91440" tIns="45720" rIns="91440" bIns="45720" anchor="ctr" anchorCtr="1" compatLnSpc="1">
                <a:normAutofit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 sz="1800" b="1" i="0" u="none">
                    <a:solidFill>
                      <a:srgbClr val="FFFFFF"/>
                    </a:solidFill>
                    <a:latin typeface="Arial" panose="020B0604020202020204"/>
                  </a:rPr>
                  <a:t>01</a:t>
                </a:r>
                <a:endParaRPr lang="en-US" sz="18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sp>
            <p:nvSpPr>
              <p:cNvPr id="21" name="IconBackground1" descr="ca928155-c057-4a50-b3f3-da5d0a7ce48f"/>
              <p:cNvSpPr/>
              <p:nvPr>
                <p:custDataLst>
                  <p:tags r:id="rId7"/>
                </p:custDataLst>
              </p:nvPr>
            </p:nvSpPr>
            <p:spPr bwMode="auto">
              <a:xfrm rot="16200000">
                <a:off x="3122959" y="1924459"/>
                <a:ext cx="635765" cy="629531"/>
              </a:xfrm>
              <a:custGeom>
                <a:avLst/>
                <a:gdLst/>
                <a:ahLst/>
                <a:cxnLst>
                  <a:cxn ang="0">
                    <a:pos x="93" y="0"/>
                  </a:cxn>
                  <a:cxn ang="0">
                    <a:pos x="102" y="1"/>
                  </a:cxn>
                  <a:cxn ang="0">
                    <a:pos x="160" y="30"/>
                  </a:cxn>
                  <a:cxn ang="0">
                    <a:pos x="165" y="37"/>
                  </a:cxn>
                  <a:cxn ang="0">
                    <a:pos x="182" y="105"/>
                  </a:cxn>
                  <a:cxn ang="0">
                    <a:pos x="181" y="114"/>
                  </a:cxn>
                  <a:cxn ang="0">
                    <a:pos x="140" y="169"/>
                  </a:cxn>
                  <a:cxn ang="0">
                    <a:pos x="132" y="173"/>
                  </a:cxn>
                  <a:cxn ang="0">
                    <a:pos x="66" y="178"/>
                  </a:cxn>
                  <a:cxn ang="0">
                    <a:pos x="58" y="175"/>
                  </a:cxn>
                  <a:cxn ang="0">
                    <a:pos x="9" y="126"/>
                  </a:cxn>
                  <a:cxn ang="0">
                    <a:pos x="6" y="118"/>
                  </a:cxn>
                  <a:cxn ang="0">
                    <a:pos x="9" y="56"/>
                  </a:cxn>
                  <a:cxn ang="0">
                    <a:pos x="13" y="48"/>
                  </a:cxn>
                  <a:cxn ang="0">
                    <a:pos x="66" y="5"/>
                  </a:cxn>
                  <a:cxn ang="0">
                    <a:pos x="93" y="0"/>
                  </a:cxn>
                </a:cxnLst>
                <a:rect l="0" t="0" r="r" b="b"/>
                <a:pathLst>
                  <a:path w="186" h="184">
                    <a:moveTo>
                      <a:pt x="93" y="0"/>
                    </a:moveTo>
                    <a:cubicBezTo>
                      <a:pt x="102" y="1"/>
                      <a:pt x="102" y="1"/>
                      <a:pt x="102" y="1"/>
                    </a:cubicBezTo>
                    <a:cubicBezTo>
                      <a:pt x="125" y="4"/>
                      <a:pt x="144" y="13"/>
                      <a:pt x="160" y="30"/>
                    </a:cubicBezTo>
                    <a:cubicBezTo>
                      <a:pt x="165" y="37"/>
                      <a:pt x="165" y="37"/>
                      <a:pt x="165" y="37"/>
                    </a:cubicBezTo>
                    <a:cubicBezTo>
                      <a:pt x="180" y="58"/>
                      <a:pt x="186" y="80"/>
                      <a:pt x="182" y="105"/>
                    </a:cubicBezTo>
                    <a:cubicBezTo>
                      <a:pt x="181" y="114"/>
                      <a:pt x="181" y="114"/>
                      <a:pt x="181" y="114"/>
                    </a:cubicBezTo>
                    <a:cubicBezTo>
                      <a:pt x="174" y="138"/>
                      <a:pt x="161" y="155"/>
                      <a:pt x="140" y="169"/>
                    </a:cubicBezTo>
                    <a:cubicBezTo>
                      <a:pt x="132" y="173"/>
                      <a:pt x="132" y="173"/>
                      <a:pt x="132" y="173"/>
                    </a:cubicBezTo>
                    <a:cubicBezTo>
                      <a:pt x="110" y="183"/>
                      <a:pt x="89" y="184"/>
                      <a:pt x="66" y="178"/>
                    </a:cubicBezTo>
                    <a:cubicBezTo>
                      <a:pt x="58" y="175"/>
                      <a:pt x="58" y="175"/>
                      <a:pt x="58" y="175"/>
                    </a:cubicBezTo>
                    <a:cubicBezTo>
                      <a:pt x="35" y="165"/>
                      <a:pt x="19" y="149"/>
                      <a:pt x="9" y="126"/>
                    </a:cubicBezTo>
                    <a:cubicBezTo>
                      <a:pt x="6" y="118"/>
                      <a:pt x="6" y="118"/>
                      <a:pt x="6" y="118"/>
                    </a:cubicBezTo>
                    <a:cubicBezTo>
                      <a:pt x="0" y="97"/>
                      <a:pt x="1" y="77"/>
                      <a:pt x="9" y="56"/>
                    </a:cubicBezTo>
                    <a:cubicBezTo>
                      <a:pt x="13" y="48"/>
                      <a:pt x="13" y="48"/>
                      <a:pt x="13" y="48"/>
                    </a:cubicBezTo>
                    <a:cubicBezTo>
                      <a:pt x="25" y="27"/>
                      <a:pt x="42" y="12"/>
                      <a:pt x="66" y="5"/>
                    </a:cubicBezTo>
                    <a:cubicBezTo>
                      <a:pt x="75" y="2"/>
                      <a:pt x="83" y="1"/>
                      <a:pt x="93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38100">
                <a:solidFill>
                  <a:schemeClr val="bg1"/>
                </a:solidFill>
                <a:round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22" name="Icon1" descr="03b15dd5-4945-4993-b479-c17a51b9aa46"/>
              <p:cNvSpPr/>
              <p:nvPr>
                <p:custDataLst>
                  <p:tags r:id="rId8"/>
                </p:custDataLst>
              </p:nvPr>
            </p:nvSpPr>
            <p:spPr bwMode="auto">
              <a:xfrm>
                <a:off x="3273589" y="2180665"/>
                <a:ext cx="334504" cy="242849"/>
              </a:xfrm>
              <a:custGeom>
                <a:avLst/>
                <a:gdLst>
                  <a:gd name="connsiteX0" fmla="*/ 467299 w 608627"/>
                  <a:gd name="connsiteY0" fmla="*/ 61262 h 441863"/>
                  <a:gd name="connsiteX1" fmla="*/ 467299 w 608627"/>
                  <a:gd name="connsiteY1" fmla="*/ 88065 h 441863"/>
                  <a:gd name="connsiteX2" fmla="*/ 440549 w 608627"/>
                  <a:gd name="connsiteY2" fmla="*/ 88065 h 441863"/>
                  <a:gd name="connsiteX3" fmla="*/ 440549 w 608627"/>
                  <a:gd name="connsiteY3" fmla="*/ 108704 h 441863"/>
                  <a:gd name="connsiteX4" fmla="*/ 467299 w 608627"/>
                  <a:gd name="connsiteY4" fmla="*/ 108704 h 441863"/>
                  <a:gd name="connsiteX5" fmla="*/ 467299 w 608627"/>
                  <a:gd name="connsiteY5" fmla="*/ 135508 h 441863"/>
                  <a:gd name="connsiteX6" fmla="*/ 488064 w 608627"/>
                  <a:gd name="connsiteY6" fmla="*/ 135508 h 441863"/>
                  <a:gd name="connsiteX7" fmla="*/ 488064 w 608627"/>
                  <a:gd name="connsiteY7" fmla="*/ 108704 h 441863"/>
                  <a:gd name="connsiteX8" fmla="*/ 514814 w 608627"/>
                  <a:gd name="connsiteY8" fmla="*/ 108704 h 441863"/>
                  <a:gd name="connsiteX9" fmla="*/ 514814 w 608627"/>
                  <a:gd name="connsiteY9" fmla="*/ 88065 h 441863"/>
                  <a:gd name="connsiteX10" fmla="*/ 488064 w 608627"/>
                  <a:gd name="connsiteY10" fmla="*/ 88065 h 441863"/>
                  <a:gd name="connsiteX11" fmla="*/ 488064 w 608627"/>
                  <a:gd name="connsiteY11" fmla="*/ 61262 h 441863"/>
                  <a:gd name="connsiteX12" fmla="*/ 436901 w 608627"/>
                  <a:gd name="connsiteY12" fmla="*/ 8309 h 441863"/>
                  <a:gd name="connsiteX13" fmla="*/ 518555 w 608627"/>
                  <a:gd name="connsiteY13" fmla="*/ 8309 h 441863"/>
                  <a:gd name="connsiteX14" fmla="*/ 608627 w 608627"/>
                  <a:gd name="connsiteY14" fmla="*/ 98245 h 441863"/>
                  <a:gd name="connsiteX15" fmla="*/ 518555 w 608627"/>
                  <a:gd name="connsiteY15" fmla="*/ 188180 h 441863"/>
                  <a:gd name="connsiteX16" fmla="*/ 457478 w 608627"/>
                  <a:gd name="connsiteY16" fmla="*/ 188180 h 441863"/>
                  <a:gd name="connsiteX17" fmla="*/ 416043 w 608627"/>
                  <a:gd name="connsiteY17" fmla="*/ 229459 h 441863"/>
                  <a:gd name="connsiteX18" fmla="*/ 408467 w 608627"/>
                  <a:gd name="connsiteY18" fmla="*/ 226377 h 441863"/>
                  <a:gd name="connsiteX19" fmla="*/ 408467 w 608627"/>
                  <a:gd name="connsiteY19" fmla="*/ 183511 h 441863"/>
                  <a:gd name="connsiteX20" fmla="*/ 346829 w 608627"/>
                  <a:gd name="connsiteY20" fmla="*/ 98245 h 441863"/>
                  <a:gd name="connsiteX21" fmla="*/ 436901 w 608627"/>
                  <a:gd name="connsiteY21" fmla="*/ 8309 h 441863"/>
                  <a:gd name="connsiteX22" fmla="*/ 206408 w 608627"/>
                  <a:gd name="connsiteY22" fmla="*/ 368 h 441863"/>
                  <a:gd name="connsiteX23" fmla="*/ 256349 w 608627"/>
                  <a:gd name="connsiteY23" fmla="*/ 10919 h 441863"/>
                  <a:gd name="connsiteX24" fmla="*/ 280666 w 608627"/>
                  <a:gd name="connsiteY24" fmla="*/ 33611 h 441863"/>
                  <a:gd name="connsiteX25" fmla="*/ 307507 w 608627"/>
                  <a:gd name="connsiteY25" fmla="*/ 118492 h 441863"/>
                  <a:gd name="connsiteX26" fmla="*/ 305730 w 608627"/>
                  <a:gd name="connsiteY26" fmla="*/ 126149 h 441863"/>
                  <a:gd name="connsiteX27" fmla="*/ 312838 w 608627"/>
                  <a:gd name="connsiteY27" fmla="*/ 161820 h 441863"/>
                  <a:gd name="connsiteX28" fmla="*/ 295536 w 608627"/>
                  <a:gd name="connsiteY28" fmla="*/ 191888 h 441863"/>
                  <a:gd name="connsiteX29" fmla="*/ 283471 w 608627"/>
                  <a:gd name="connsiteY29" fmla="*/ 224944 h 441863"/>
                  <a:gd name="connsiteX30" fmla="*/ 283471 w 608627"/>
                  <a:gd name="connsiteY30" fmla="*/ 266311 h 441863"/>
                  <a:gd name="connsiteX31" fmla="*/ 285529 w 608627"/>
                  <a:gd name="connsiteY31" fmla="*/ 269766 h 441863"/>
                  <a:gd name="connsiteX32" fmla="*/ 410383 w 608627"/>
                  <a:gd name="connsiteY32" fmla="*/ 349698 h 441863"/>
                  <a:gd name="connsiteX33" fmla="*/ 425721 w 608627"/>
                  <a:gd name="connsiteY33" fmla="*/ 382007 h 441863"/>
                  <a:gd name="connsiteX34" fmla="*/ 425721 w 608627"/>
                  <a:gd name="connsiteY34" fmla="*/ 441863 h 441863"/>
                  <a:gd name="connsiteX35" fmla="*/ 240824 w 608627"/>
                  <a:gd name="connsiteY35" fmla="*/ 441863 h 441863"/>
                  <a:gd name="connsiteX36" fmla="*/ 222587 w 608627"/>
                  <a:gd name="connsiteY36" fmla="*/ 358569 h 441863"/>
                  <a:gd name="connsiteX37" fmla="*/ 212861 w 608627"/>
                  <a:gd name="connsiteY37" fmla="*/ 304689 h 441863"/>
                  <a:gd name="connsiteX38" fmla="*/ 203134 w 608627"/>
                  <a:gd name="connsiteY38" fmla="*/ 358569 h 441863"/>
                  <a:gd name="connsiteX39" fmla="*/ 184897 w 608627"/>
                  <a:gd name="connsiteY39" fmla="*/ 441863 h 441863"/>
                  <a:gd name="connsiteX40" fmla="*/ 0 w 608627"/>
                  <a:gd name="connsiteY40" fmla="*/ 441863 h 441863"/>
                  <a:gd name="connsiteX41" fmla="*/ 0 w 608627"/>
                  <a:gd name="connsiteY41" fmla="*/ 382007 h 441863"/>
                  <a:gd name="connsiteX42" fmla="*/ 15245 w 608627"/>
                  <a:gd name="connsiteY42" fmla="*/ 349325 h 441863"/>
                  <a:gd name="connsiteX43" fmla="*/ 140006 w 608627"/>
                  <a:gd name="connsiteY43" fmla="*/ 269392 h 441863"/>
                  <a:gd name="connsiteX44" fmla="*/ 142157 w 608627"/>
                  <a:gd name="connsiteY44" fmla="*/ 265937 h 441863"/>
                  <a:gd name="connsiteX45" fmla="*/ 142157 w 608627"/>
                  <a:gd name="connsiteY45" fmla="*/ 224757 h 441863"/>
                  <a:gd name="connsiteX46" fmla="*/ 130092 w 608627"/>
                  <a:gd name="connsiteY46" fmla="*/ 191608 h 441863"/>
                  <a:gd name="connsiteX47" fmla="*/ 112697 w 608627"/>
                  <a:gd name="connsiteY47" fmla="*/ 161633 h 441863"/>
                  <a:gd name="connsiteX48" fmla="*/ 119430 w 608627"/>
                  <a:gd name="connsiteY48" fmla="*/ 125962 h 441863"/>
                  <a:gd name="connsiteX49" fmla="*/ 117747 w 608627"/>
                  <a:gd name="connsiteY49" fmla="*/ 118399 h 441863"/>
                  <a:gd name="connsiteX50" fmla="*/ 117466 w 608627"/>
                  <a:gd name="connsiteY50" fmla="*/ 76658 h 441863"/>
                  <a:gd name="connsiteX51" fmla="*/ 141876 w 608627"/>
                  <a:gd name="connsiteY51" fmla="*/ 33984 h 441863"/>
                  <a:gd name="connsiteX52" fmla="*/ 164509 w 608627"/>
                  <a:gd name="connsiteY52" fmla="*/ 15308 h 441863"/>
                  <a:gd name="connsiteX53" fmla="*/ 186393 w 608627"/>
                  <a:gd name="connsiteY53" fmla="*/ 4103 h 441863"/>
                  <a:gd name="connsiteX54" fmla="*/ 206408 w 608627"/>
                  <a:gd name="connsiteY54" fmla="*/ 368 h 4418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</a:cxnLst>
                <a:rect l="l" t="t" r="r" b="b"/>
                <a:pathLst>
                  <a:path w="608627" h="441863">
                    <a:moveTo>
                      <a:pt x="467299" y="61262"/>
                    </a:moveTo>
                    <a:lnTo>
                      <a:pt x="467299" y="88065"/>
                    </a:lnTo>
                    <a:lnTo>
                      <a:pt x="440549" y="88065"/>
                    </a:lnTo>
                    <a:lnTo>
                      <a:pt x="440549" y="108704"/>
                    </a:lnTo>
                    <a:lnTo>
                      <a:pt x="467299" y="108704"/>
                    </a:lnTo>
                    <a:lnTo>
                      <a:pt x="467299" y="135508"/>
                    </a:lnTo>
                    <a:lnTo>
                      <a:pt x="488064" y="135508"/>
                    </a:lnTo>
                    <a:lnTo>
                      <a:pt x="488064" y="108704"/>
                    </a:lnTo>
                    <a:lnTo>
                      <a:pt x="514814" y="108704"/>
                    </a:lnTo>
                    <a:lnTo>
                      <a:pt x="514814" y="88065"/>
                    </a:lnTo>
                    <a:lnTo>
                      <a:pt x="488064" y="88065"/>
                    </a:lnTo>
                    <a:lnTo>
                      <a:pt x="488064" y="61262"/>
                    </a:lnTo>
                    <a:close/>
                    <a:moveTo>
                      <a:pt x="436901" y="8309"/>
                    </a:moveTo>
                    <a:lnTo>
                      <a:pt x="518555" y="8309"/>
                    </a:lnTo>
                    <a:cubicBezTo>
                      <a:pt x="568315" y="8309"/>
                      <a:pt x="608627" y="48654"/>
                      <a:pt x="608627" y="98245"/>
                    </a:cubicBezTo>
                    <a:cubicBezTo>
                      <a:pt x="608627" y="147929"/>
                      <a:pt x="568315" y="188180"/>
                      <a:pt x="518555" y="188180"/>
                    </a:cubicBezTo>
                    <a:lnTo>
                      <a:pt x="457478" y="188180"/>
                    </a:lnTo>
                    <a:lnTo>
                      <a:pt x="416043" y="229459"/>
                    </a:lnTo>
                    <a:cubicBezTo>
                      <a:pt x="413331" y="232354"/>
                      <a:pt x="408467" y="230393"/>
                      <a:pt x="408467" y="226377"/>
                    </a:cubicBezTo>
                    <a:lnTo>
                      <a:pt x="408467" y="183511"/>
                    </a:lnTo>
                    <a:cubicBezTo>
                      <a:pt x="372644" y="171557"/>
                      <a:pt x="346829" y="137936"/>
                      <a:pt x="346829" y="98245"/>
                    </a:cubicBezTo>
                    <a:cubicBezTo>
                      <a:pt x="346829" y="48561"/>
                      <a:pt x="387142" y="8309"/>
                      <a:pt x="436901" y="8309"/>
                    </a:cubicBezTo>
                    <a:close/>
                    <a:moveTo>
                      <a:pt x="206408" y="368"/>
                    </a:moveTo>
                    <a:cubicBezTo>
                      <a:pt x="228105" y="-1500"/>
                      <a:pt x="244565" y="4009"/>
                      <a:pt x="256349" y="10919"/>
                    </a:cubicBezTo>
                    <a:cubicBezTo>
                      <a:pt x="273932" y="20818"/>
                      <a:pt x="280666" y="33611"/>
                      <a:pt x="280666" y="33611"/>
                    </a:cubicBezTo>
                    <a:cubicBezTo>
                      <a:pt x="280666" y="33611"/>
                      <a:pt x="321255" y="36505"/>
                      <a:pt x="307507" y="118492"/>
                    </a:cubicBezTo>
                    <a:cubicBezTo>
                      <a:pt x="307133" y="121013"/>
                      <a:pt x="306478" y="123628"/>
                      <a:pt x="305730" y="126149"/>
                    </a:cubicBezTo>
                    <a:cubicBezTo>
                      <a:pt x="313399" y="126149"/>
                      <a:pt x="321349" y="132125"/>
                      <a:pt x="312838" y="161820"/>
                    </a:cubicBezTo>
                    <a:cubicBezTo>
                      <a:pt x="306291" y="184978"/>
                      <a:pt x="300119" y="191514"/>
                      <a:pt x="295536" y="191888"/>
                    </a:cubicBezTo>
                    <a:cubicBezTo>
                      <a:pt x="293946" y="202440"/>
                      <a:pt x="289831" y="214019"/>
                      <a:pt x="283471" y="224944"/>
                    </a:cubicBezTo>
                    <a:lnTo>
                      <a:pt x="283471" y="266311"/>
                    </a:lnTo>
                    <a:cubicBezTo>
                      <a:pt x="283471" y="267805"/>
                      <a:pt x="284220" y="269205"/>
                      <a:pt x="285529" y="269766"/>
                    </a:cubicBezTo>
                    <a:cubicBezTo>
                      <a:pt x="297500" y="275555"/>
                      <a:pt x="356139" y="305156"/>
                      <a:pt x="410383" y="349698"/>
                    </a:cubicBezTo>
                    <a:cubicBezTo>
                      <a:pt x="420110" y="357729"/>
                      <a:pt x="425628" y="369775"/>
                      <a:pt x="425721" y="382007"/>
                    </a:cubicBezTo>
                    <a:lnTo>
                      <a:pt x="425721" y="441863"/>
                    </a:lnTo>
                    <a:lnTo>
                      <a:pt x="240824" y="441863"/>
                    </a:lnTo>
                    <a:lnTo>
                      <a:pt x="222587" y="358569"/>
                    </a:lnTo>
                    <a:cubicBezTo>
                      <a:pt x="259342" y="307117"/>
                      <a:pt x="219688" y="304689"/>
                      <a:pt x="212861" y="304689"/>
                    </a:cubicBezTo>
                    <a:cubicBezTo>
                      <a:pt x="205846" y="304689"/>
                      <a:pt x="166192" y="307117"/>
                      <a:pt x="203134" y="358569"/>
                    </a:cubicBezTo>
                    <a:lnTo>
                      <a:pt x="184897" y="441863"/>
                    </a:lnTo>
                    <a:lnTo>
                      <a:pt x="0" y="441863"/>
                    </a:lnTo>
                    <a:lnTo>
                      <a:pt x="0" y="382007"/>
                    </a:lnTo>
                    <a:cubicBezTo>
                      <a:pt x="0" y="369401"/>
                      <a:pt x="5518" y="357355"/>
                      <a:pt x="15245" y="349325"/>
                    </a:cubicBezTo>
                    <a:cubicBezTo>
                      <a:pt x="69582" y="304783"/>
                      <a:pt x="128222" y="275275"/>
                      <a:pt x="140006" y="269392"/>
                    </a:cubicBezTo>
                    <a:cubicBezTo>
                      <a:pt x="141315" y="268832"/>
                      <a:pt x="142157" y="267431"/>
                      <a:pt x="142157" y="265937"/>
                    </a:cubicBezTo>
                    <a:lnTo>
                      <a:pt x="142157" y="224757"/>
                    </a:lnTo>
                    <a:cubicBezTo>
                      <a:pt x="135797" y="213645"/>
                      <a:pt x="131682" y="202066"/>
                      <a:pt x="130092" y="191608"/>
                    </a:cubicBezTo>
                    <a:cubicBezTo>
                      <a:pt x="125416" y="191234"/>
                      <a:pt x="119337" y="184791"/>
                      <a:pt x="112697" y="161633"/>
                    </a:cubicBezTo>
                    <a:cubicBezTo>
                      <a:pt x="104373" y="132312"/>
                      <a:pt x="111855" y="126149"/>
                      <a:pt x="119430" y="125962"/>
                    </a:cubicBezTo>
                    <a:cubicBezTo>
                      <a:pt x="118869" y="123534"/>
                      <a:pt x="118215" y="120920"/>
                      <a:pt x="117747" y="118399"/>
                    </a:cubicBezTo>
                    <a:cubicBezTo>
                      <a:pt x="114754" y="103551"/>
                      <a:pt x="114006" y="89918"/>
                      <a:pt x="117466" y="76658"/>
                    </a:cubicBezTo>
                    <a:cubicBezTo>
                      <a:pt x="121675" y="59010"/>
                      <a:pt x="131214" y="44909"/>
                      <a:pt x="141876" y="33984"/>
                    </a:cubicBezTo>
                    <a:cubicBezTo>
                      <a:pt x="148610" y="26794"/>
                      <a:pt x="156372" y="20444"/>
                      <a:pt x="164509" y="15308"/>
                    </a:cubicBezTo>
                    <a:cubicBezTo>
                      <a:pt x="171056" y="10733"/>
                      <a:pt x="178444" y="6811"/>
                      <a:pt x="186393" y="4103"/>
                    </a:cubicBezTo>
                    <a:cubicBezTo>
                      <a:pt x="192660" y="2142"/>
                      <a:pt x="199393" y="741"/>
                      <a:pt x="206408" y="368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</p:spPr>
            <p:txBody>
              <a:bodyPr anchor="ctr" anchorCtr="0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7" name="Bullet1" descr="39667806-4a10-4b50-959a-c58ce9d58500"/>
              <p:cNvSpPr txBox="1"/>
              <p:nvPr>
                <p:custDataLst>
                  <p:tags r:id="rId9"/>
                </p:custDataLst>
              </p:nvPr>
            </p:nvSpPr>
            <p:spPr bwMode="auto">
              <a:xfrm>
                <a:off x="1689834" y="3561267"/>
                <a:ext cx="3386258" cy="477434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anchor="ctr" anchorCtr="1">
                <a:normAutofit/>
              </a:bodyPr>
              <a:lstStyle/>
              <a:p>
                <a:pPr algn="ctr"/>
                <a:r>
                  <a:rPr lang="en-US" sz="1800" b="1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核心图表</a:t>
                </a:r>
                <a:endParaRPr lang="en-US" sz="1800" b="1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33" name="组合 32" descr="a83569f7-f7c4-4839-8fb8-e07937a8495f"/>
            <p:cNvGrpSpPr/>
            <p:nvPr/>
          </p:nvGrpSpPr>
          <p:grpSpPr>
            <a:xfrm>
              <a:off x="6467463" y="1921342"/>
              <a:ext cx="4964430" cy="4475480"/>
              <a:chOff x="6467463" y="1921342"/>
              <a:chExt cx="4964430" cy="4475480"/>
            </a:xfrm>
          </p:grpSpPr>
          <p:sp>
            <p:nvSpPr>
              <p:cNvPr id="15" name="Number2" descr="f7a4115b-879a-484d-aaac-6b9b0bf189cb"/>
              <p:cNvSpPr/>
              <p:nvPr>
                <p:custDataLst>
                  <p:tags r:id="rId10"/>
                </p:custDataLst>
              </p:nvPr>
            </p:nvSpPr>
            <p:spPr bwMode="auto">
              <a:xfrm rot="16200000" flipH="1">
                <a:off x="8557531" y="857122"/>
                <a:ext cx="614618" cy="3747004"/>
              </a:xfrm>
              <a:custGeom>
                <a:avLst/>
                <a:gdLst/>
                <a:ahLst/>
                <a:cxnLst>
                  <a:cxn ang="0">
                    <a:pos x="0" y="94"/>
                  </a:cxn>
                  <a:cxn ang="0">
                    <a:pos x="0" y="521"/>
                  </a:cxn>
                  <a:cxn ang="0">
                    <a:pos x="124" y="614"/>
                  </a:cxn>
                  <a:cxn ang="0">
                    <a:pos x="124" y="0"/>
                  </a:cxn>
                  <a:cxn ang="0">
                    <a:pos x="0" y="94"/>
                  </a:cxn>
                </a:cxnLst>
                <a:rect l="0" t="0" r="r" b="b"/>
                <a:pathLst>
                  <a:path w="124" h="614">
                    <a:moveTo>
                      <a:pt x="0" y="94"/>
                    </a:moveTo>
                    <a:cubicBezTo>
                      <a:pt x="0" y="521"/>
                      <a:pt x="0" y="521"/>
                      <a:pt x="0" y="521"/>
                    </a:cubicBezTo>
                    <a:cubicBezTo>
                      <a:pt x="0" y="576"/>
                      <a:pt x="109" y="559"/>
                      <a:pt x="124" y="614"/>
                    </a:cubicBezTo>
                    <a:cubicBezTo>
                      <a:pt x="124" y="0"/>
                      <a:pt x="124" y="0"/>
                      <a:pt x="124" y="0"/>
                    </a:cubicBezTo>
                    <a:cubicBezTo>
                      <a:pt x="109" y="55"/>
                      <a:pt x="0" y="38"/>
                      <a:pt x="0" y="94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</a:ln>
            </p:spPr>
            <p:txBody>
              <a:bodyPr vert="eaVert" wrap="square" lIns="91440" tIns="45720" rIns="91440" bIns="45720" anchor="ctr" anchorCtr="1" compatLnSpc="1">
                <a:normAutofit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 sz="1800" b="1" i="0" u="none">
                    <a:solidFill>
                      <a:srgbClr val="FFFFFF"/>
                    </a:solidFill>
                    <a:latin typeface="Arial" panose="020B0604020202020204"/>
                  </a:rPr>
                  <a:t>02</a:t>
                </a:r>
                <a:endParaRPr lang="en-US" sz="18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sp>
            <p:nvSpPr>
              <p:cNvPr id="12" name="IconBackground2" descr="732efb73-3ae2-4902-8709-ee02599ec3b1"/>
              <p:cNvSpPr/>
              <p:nvPr>
                <p:custDataLst>
                  <p:tags r:id="rId11"/>
                </p:custDataLst>
              </p:nvPr>
            </p:nvSpPr>
            <p:spPr bwMode="auto">
              <a:xfrm rot="16200000">
                <a:off x="8549034" y="1924459"/>
                <a:ext cx="635765" cy="629531"/>
              </a:xfrm>
              <a:custGeom>
                <a:avLst/>
                <a:gdLst/>
                <a:ahLst/>
                <a:cxnLst>
                  <a:cxn ang="0">
                    <a:pos x="93" y="0"/>
                  </a:cxn>
                  <a:cxn ang="0">
                    <a:pos x="102" y="1"/>
                  </a:cxn>
                  <a:cxn ang="0">
                    <a:pos x="160" y="30"/>
                  </a:cxn>
                  <a:cxn ang="0">
                    <a:pos x="165" y="37"/>
                  </a:cxn>
                  <a:cxn ang="0">
                    <a:pos x="182" y="105"/>
                  </a:cxn>
                  <a:cxn ang="0">
                    <a:pos x="181" y="114"/>
                  </a:cxn>
                  <a:cxn ang="0">
                    <a:pos x="140" y="169"/>
                  </a:cxn>
                  <a:cxn ang="0">
                    <a:pos x="132" y="173"/>
                  </a:cxn>
                  <a:cxn ang="0">
                    <a:pos x="66" y="178"/>
                  </a:cxn>
                  <a:cxn ang="0">
                    <a:pos x="58" y="175"/>
                  </a:cxn>
                  <a:cxn ang="0">
                    <a:pos x="9" y="126"/>
                  </a:cxn>
                  <a:cxn ang="0">
                    <a:pos x="6" y="118"/>
                  </a:cxn>
                  <a:cxn ang="0">
                    <a:pos x="9" y="56"/>
                  </a:cxn>
                  <a:cxn ang="0">
                    <a:pos x="13" y="48"/>
                  </a:cxn>
                  <a:cxn ang="0">
                    <a:pos x="66" y="5"/>
                  </a:cxn>
                  <a:cxn ang="0">
                    <a:pos x="93" y="0"/>
                  </a:cxn>
                </a:cxnLst>
                <a:rect l="0" t="0" r="r" b="b"/>
                <a:pathLst>
                  <a:path w="186" h="184">
                    <a:moveTo>
                      <a:pt x="93" y="0"/>
                    </a:moveTo>
                    <a:cubicBezTo>
                      <a:pt x="102" y="1"/>
                      <a:pt x="102" y="1"/>
                      <a:pt x="102" y="1"/>
                    </a:cubicBezTo>
                    <a:cubicBezTo>
                      <a:pt x="125" y="4"/>
                      <a:pt x="144" y="13"/>
                      <a:pt x="160" y="30"/>
                    </a:cubicBezTo>
                    <a:cubicBezTo>
                      <a:pt x="165" y="37"/>
                      <a:pt x="165" y="37"/>
                      <a:pt x="165" y="37"/>
                    </a:cubicBezTo>
                    <a:cubicBezTo>
                      <a:pt x="180" y="58"/>
                      <a:pt x="186" y="80"/>
                      <a:pt x="182" y="105"/>
                    </a:cubicBezTo>
                    <a:cubicBezTo>
                      <a:pt x="181" y="114"/>
                      <a:pt x="181" y="114"/>
                      <a:pt x="181" y="114"/>
                    </a:cubicBezTo>
                    <a:cubicBezTo>
                      <a:pt x="174" y="138"/>
                      <a:pt x="161" y="155"/>
                      <a:pt x="140" y="169"/>
                    </a:cubicBezTo>
                    <a:cubicBezTo>
                      <a:pt x="132" y="173"/>
                      <a:pt x="132" y="173"/>
                      <a:pt x="132" y="173"/>
                    </a:cubicBezTo>
                    <a:cubicBezTo>
                      <a:pt x="110" y="183"/>
                      <a:pt x="89" y="184"/>
                      <a:pt x="66" y="178"/>
                    </a:cubicBezTo>
                    <a:cubicBezTo>
                      <a:pt x="58" y="175"/>
                      <a:pt x="58" y="175"/>
                      <a:pt x="58" y="175"/>
                    </a:cubicBezTo>
                    <a:cubicBezTo>
                      <a:pt x="35" y="165"/>
                      <a:pt x="19" y="149"/>
                      <a:pt x="9" y="126"/>
                    </a:cubicBezTo>
                    <a:cubicBezTo>
                      <a:pt x="6" y="118"/>
                      <a:pt x="6" y="118"/>
                      <a:pt x="6" y="118"/>
                    </a:cubicBezTo>
                    <a:cubicBezTo>
                      <a:pt x="0" y="97"/>
                      <a:pt x="1" y="77"/>
                      <a:pt x="9" y="56"/>
                    </a:cubicBezTo>
                    <a:cubicBezTo>
                      <a:pt x="13" y="48"/>
                      <a:pt x="13" y="48"/>
                      <a:pt x="13" y="48"/>
                    </a:cubicBezTo>
                    <a:cubicBezTo>
                      <a:pt x="25" y="27"/>
                      <a:pt x="42" y="12"/>
                      <a:pt x="66" y="5"/>
                    </a:cubicBezTo>
                    <a:cubicBezTo>
                      <a:pt x="75" y="2"/>
                      <a:pt x="83" y="1"/>
                      <a:pt x="9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38100">
                <a:solidFill>
                  <a:schemeClr val="bg1"/>
                </a:solidFill>
                <a:round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3" name="Icon2" descr="3bedde84-2083-4434-9012-de6245831789"/>
              <p:cNvSpPr/>
              <p:nvPr>
                <p:custDataLst>
                  <p:tags r:id="rId12"/>
                </p:custDataLst>
              </p:nvPr>
            </p:nvSpPr>
            <p:spPr bwMode="auto">
              <a:xfrm>
                <a:off x="8699488" y="2163277"/>
                <a:ext cx="334645" cy="259080"/>
              </a:xfrm>
              <a:custGeom>
                <a:avLst/>
                <a:gdLst>
                  <a:gd name="connsiteX0" fmla="*/ 467299 w 608627"/>
                  <a:gd name="connsiteY0" fmla="*/ 61262 h 441863"/>
                  <a:gd name="connsiteX1" fmla="*/ 467299 w 608627"/>
                  <a:gd name="connsiteY1" fmla="*/ 88065 h 441863"/>
                  <a:gd name="connsiteX2" fmla="*/ 440549 w 608627"/>
                  <a:gd name="connsiteY2" fmla="*/ 88065 h 441863"/>
                  <a:gd name="connsiteX3" fmla="*/ 440549 w 608627"/>
                  <a:gd name="connsiteY3" fmla="*/ 108704 h 441863"/>
                  <a:gd name="connsiteX4" fmla="*/ 467299 w 608627"/>
                  <a:gd name="connsiteY4" fmla="*/ 108704 h 441863"/>
                  <a:gd name="connsiteX5" fmla="*/ 467299 w 608627"/>
                  <a:gd name="connsiteY5" fmla="*/ 135508 h 441863"/>
                  <a:gd name="connsiteX6" fmla="*/ 488064 w 608627"/>
                  <a:gd name="connsiteY6" fmla="*/ 135508 h 441863"/>
                  <a:gd name="connsiteX7" fmla="*/ 488064 w 608627"/>
                  <a:gd name="connsiteY7" fmla="*/ 108704 h 441863"/>
                  <a:gd name="connsiteX8" fmla="*/ 514814 w 608627"/>
                  <a:gd name="connsiteY8" fmla="*/ 108704 h 441863"/>
                  <a:gd name="connsiteX9" fmla="*/ 514814 w 608627"/>
                  <a:gd name="connsiteY9" fmla="*/ 88065 h 441863"/>
                  <a:gd name="connsiteX10" fmla="*/ 488064 w 608627"/>
                  <a:gd name="connsiteY10" fmla="*/ 88065 h 441863"/>
                  <a:gd name="connsiteX11" fmla="*/ 488064 w 608627"/>
                  <a:gd name="connsiteY11" fmla="*/ 61262 h 441863"/>
                  <a:gd name="connsiteX12" fmla="*/ 436901 w 608627"/>
                  <a:gd name="connsiteY12" fmla="*/ 8309 h 441863"/>
                  <a:gd name="connsiteX13" fmla="*/ 518555 w 608627"/>
                  <a:gd name="connsiteY13" fmla="*/ 8309 h 441863"/>
                  <a:gd name="connsiteX14" fmla="*/ 608627 w 608627"/>
                  <a:gd name="connsiteY14" fmla="*/ 98245 h 441863"/>
                  <a:gd name="connsiteX15" fmla="*/ 518555 w 608627"/>
                  <a:gd name="connsiteY15" fmla="*/ 188180 h 441863"/>
                  <a:gd name="connsiteX16" fmla="*/ 457478 w 608627"/>
                  <a:gd name="connsiteY16" fmla="*/ 188180 h 441863"/>
                  <a:gd name="connsiteX17" fmla="*/ 416043 w 608627"/>
                  <a:gd name="connsiteY17" fmla="*/ 229459 h 441863"/>
                  <a:gd name="connsiteX18" fmla="*/ 408467 w 608627"/>
                  <a:gd name="connsiteY18" fmla="*/ 226377 h 441863"/>
                  <a:gd name="connsiteX19" fmla="*/ 408467 w 608627"/>
                  <a:gd name="connsiteY19" fmla="*/ 183511 h 441863"/>
                  <a:gd name="connsiteX20" fmla="*/ 346829 w 608627"/>
                  <a:gd name="connsiteY20" fmla="*/ 98245 h 441863"/>
                  <a:gd name="connsiteX21" fmla="*/ 436901 w 608627"/>
                  <a:gd name="connsiteY21" fmla="*/ 8309 h 441863"/>
                  <a:gd name="connsiteX22" fmla="*/ 206408 w 608627"/>
                  <a:gd name="connsiteY22" fmla="*/ 368 h 441863"/>
                  <a:gd name="connsiteX23" fmla="*/ 256349 w 608627"/>
                  <a:gd name="connsiteY23" fmla="*/ 10919 h 441863"/>
                  <a:gd name="connsiteX24" fmla="*/ 280666 w 608627"/>
                  <a:gd name="connsiteY24" fmla="*/ 33611 h 441863"/>
                  <a:gd name="connsiteX25" fmla="*/ 307507 w 608627"/>
                  <a:gd name="connsiteY25" fmla="*/ 118492 h 441863"/>
                  <a:gd name="connsiteX26" fmla="*/ 305730 w 608627"/>
                  <a:gd name="connsiteY26" fmla="*/ 126149 h 441863"/>
                  <a:gd name="connsiteX27" fmla="*/ 312838 w 608627"/>
                  <a:gd name="connsiteY27" fmla="*/ 161820 h 441863"/>
                  <a:gd name="connsiteX28" fmla="*/ 295536 w 608627"/>
                  <a:gd name="connsiteY28" fmla="*/ 191888 h 441863"/>
                  <a:gd name="connsiteX29" fmla="*/ 283471 w 608627"/>
                  <a:gd name="connsiteY29" fmla="*/ 224944 h 441863"/>
                  <a:gd name="connsiteX30" fmla="*/ 283471 w 608627"/>
                  <a:gd name="connsiteY30" fmla="*/ 266311 h 441863"/>
                  <a:gd name="connsiteX31" fmla="*/ 285529 w 608627"/>
                  <a:gd name="connsiteY31" fmla="*/ 269766 h 441863"/>
                  <a:gd name="connsiteX32" fmla="*/ 410383 w 608627"/>
                  <a:gd name="connsiteY32" fmla="*/ 349698 h 441863"/>
                  <a:gd name="connsiteX33" fmla="*/ 425721 w 608627"/>
                  <a:gd name="connsiteY33" fmla="*/ 382007 h 441863"/>
                  <a:gd name="connsiteX34" fmla="*/ 425721 w 608627"/>
                  <a:gd name="connsiteY34" fmla="*/ 441863 h 441863"/>
                  <a:gd name="connsiteX35" fmla="*/ 240824 w 608627"/>
                  <a:gd name="connsiteY35" fmla="*/ 441863 h 441863"/>
                  <a:gd name="connsiteX36" fmla="*/ 222587 w 608627"/>
                  <a:gd name="connsiteY36" fmla="*/ 358569 h 441863"/>
                  <a:gd name="connsiteX37" fmla="*/ 212861 w 608627"/>
                  <a:gd name="connsiteY37" fmla="*/ 304689 h 441863"/>
                  <a:gd name="connsiteX38" fmla="*/ 203134 w 608627"/>
                  <a:gd name="connsiteY38" fmla="*/ 358569 h 441863"/>
                  <a:gd name="connsiteX39" fmla="*/ 184897 w 608627"/>
                  <a:gd name="connsiteY39" fmla="*/ 441863 h 441863"/>
                  <a:gd name="connsiteX40" fmla="*/ 0 w 608627"/>
                  <a:gd name="connsiteY40" fmla="*/ 441863 h 441863"/>
                  <a:gd name="connsiteX41" fmla="*/ 0 w 608627"/>
                  <a:gd name="connsiteY41" fmla="*/ 382007 h 441863"/>
                  <a:gd name="connsiteX42" fmla="*/ 15245 w 608627"/>
                  <a:gd name="connsiteY42" fmla="*/ 349325 h 441863"/>
                  <a:gd name="connsiteX43" fmla="*/ 140006 w 608627"/>
                  <a:gd name="connsiteY43" fmla="*/ 269392 h 441863"/>
                  <a:gd name="connsiteX44" fmla="*/ 142157 w 608627"/>
                  <a:gd name="connsiteY44" fmla="*/ 265937 h 441863"/>
                  <a:gd name="connsiteX45" fmla="*/ 142157 w 608627"/>
                  <a:gd name="connsiteY45" fmla="*/ 224757 h 441863"/>
                  <a:gd name="connsiteX46" fmla="*/ 130092 w 608627"/>
                  <a:gd name="connsiteY46" fmla="*/ 191608 h 441863"/>
                  <a:gd name="connsiteX47" fmla="*/ 112697 w 608627"/>
                  <a:gd name="connsiteY47" fmla="*/ 161633 h 441863"/>
                  <a:gd name="connsiteX48" fmla="*/ 119430 w 608627"/>
                  <a:gd name="connsiteY48" fmla="*/ 125962 h 441863"/>
                  <a:gd name="connsiteX49" fmla="*/ 117747 w 608627"/>
                  <a:gd name="connsiteY49" fmla="*/ 118399 h 441863"/>
                  <a:gd name="connsiteX50" fmla="*/ 117466 w 608627"/>
                  <a:gd name="connsiteY50" fmla="*/ 76658 h 441863"/>
                  <a:gd name="connsiteX51" fmla="*/ 141876 w 608627"/>
                  <a:gd name="connsiteY51" fmla="*/ 33984 h 441863"/>
                  <a:gd name="connsiteX52" fmla="*/ 164509 w 608627"/>
                  <a:gd name="connsiteY52" fmla="*/ 15308 h 441863"/>
                  <a:gd name="connsiteX53" fmla="*/ 186393 w 608627"/>
                  <a:gd name="connsiteY53" fmla="*/ 4103 h 441863"/>
                  <a:gd name="connsiteX54" fmla="*/ 206408 w 608627"/>
                  <a:gd name="connsiteY54" fmla="*/ 368 h 4418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</a:cxnLst>
                <a:rect l="l" t="t" r="r" b="b"/>
                <a:pathLst>
                  <a:path w="608627" h="441863">
                    <a:moveTo>
                      <a:pt x="467299" y="61262"/>
                    </a:moveTo>
                    <a:lnTo>
                      <a:pt x="467299" y="88065"/>
                    </a:lnTo>
                    <a:lnTo>
                      <a:pt x="440549" y="88065"/>
                    </a:lnTo>
                    <a:lnTo>
                      <a:pt x="440549" y="108704"/>
                    </a:lnTo>
                    <a:lnTo>
                      <a:pt x="467299" y="108704"/>
                    </a:lnTo>
                    <a:lnTo>
                      <a:pt x="467299" y="135508"/>
                    </a:lnTo>
                    <a:lnTo>
                      <a:pt x="488064" y="135508"/>
                    </a:lnTo>
                    <a:lnTo>
                      <a:pt x="488064" y="108704"/>
                    </a:lnTo>
                    <a:lnTo>
                      <a:pt x="514814" y="108704"/>
                    </a:lnTo>
                    <a:lnTo>
                      <a:pt x="514814" y="88065"/>
                    </a:lnTo>
                    <a:lnTo>
                      <a:pt x="488064" y="88065"/>
                    </a:lnTo>
                    <a:lnTo>
                      <a:pt x="488064" y="61262"/>
                    </a:lnTo>
                    <a:close/>
                    <a:moveTo>
                      <a:pt x="436901" y="8309"/>
                    </a:moveTo>
                    <a:lnTo>
                      <a:pt x="518555" y="8309"/>
                    </a:lnTo>
                    <a:cubicBezTo>
                      <a:pt x="568315" y="8309"/>
                      <a:pt x="608627" y="48654"/>
                      <a:pt x="608627" y="98245"/>
                    </a:cubicBezTo>
                    <a:cubicBezTo>
                      <a:pt x="608627" y="147929"/>
                      <a:pt x="568315" y="188180"/>
                      <a:pt x="518555" y="188180"/>
                    </a:cubicBezTo>
                    <a:lnTo>
                      <a:pt x="457478" y="188180"/>
                    </a:lnTo>
                    <a:lnTo>
                      <a:pt x="416043" y="229459"/>
                    </a:lnTo>
                    <a:cubicBezTo>
                      <a:pt x="413331" y="232354"/>
                      <a:pt x="408467" y="230393"/>
                      <a:pt x="408467" y="226377"/>
                    </a:cubicBezTo>
                    <a:lnTo>
                      <a:pt x="408467" y="183511"/>
                    </a:lnTo>
                    <a:cubicBezTo>
                      <a:pt x="372644" y="171557"/>
                      <a:pt x="346829" y="137936"/>
                      <a:pt x="346829" y="98245"/>
                    </a:cubicBezTo>
                    <a:cubicBezTo>
                      <a:pt x="346829" y="48561"/>
                      <a:pt x="387142" y="8309"/>
                      <a:pt x="436901" y="8309"/>
                    </a:cubicBezTo>
                    <a:close/>
                    <a:moveTo>
                      <a:pt x="206408" y="368"/>
                    </a:moveTo>
                    <a:cubicBezTo>
                      <a:pt x="228105" y="-1500"/>
                      <a:pt x="244565" y="4009"/>
                      <a:pt x="256349" y="10919"/>
                    </a:cubicBezTo>
                    <a:cubicBezTo>
                      <a:pt x="273932" y="20818"/>
                      <a:pt x="280666" y="33611"/>
                      <a:pt x="280666" y="33611"/>
                    </a:cubicBezTo>
                    <a:cubicBezTo>
                      <a:pt x="280666" y="33611"/>
                      <a:pt x="321255" y="36505"/>
                      <a:pt x="307507" y="118492"/>
                    </a:cubicBezTo>
                    <a:cubicBezTo>
                      <a:pt x="307133" y="121013"/>
                      <a:pt x="306478" y="123628"/>
                      <a:pt x="305730" y="126149"/>
                    </a:cubicBezTo>
                    <a:cubicBezTo>
                      <a:pt x="313399" y="126149"/>
                      <a:pt x="321349" y="132125"/>
                      <a:pt x="312838" y="161820"/>
                    </a:cubicBezTo>
                    <a:cubicBezTo>
                      <a:pt x="306291" y="184978"/>
                      <a:pt x="300119" y="191514"/>
                      <a:pt x="295536" y="191888"/>
                    </a:cubicBezTo>
                    <a:cubicBezTo>
                      <a:pt x="293946" y="202440"/>
                      <a:pt x="289831" y="214019"/>
                      <a:pt x="283471" y="224944"/>
                    </a:cubicBezTo>
                    <a:lnTo>
                      <a:pt x="283471" y="266311"/>
                    </a:lnTo>
                    <a:cubicBezTo>
                      <a:pt x="283471" y="267805"/>
                      <a:pt x="284220" y="269205"/>
                      <a:pt x="285529" y="269766"/>
                    </a:cubicBezTo>
                    <a:cubicBezTo>
                      <a:pt x="297500" y="275555"/>
                      <a:pt x="356139" y="305156"/>
                      <a:pt x="410383" y="349698"/>
                    </a:cubicBezTo>
                    <a:cubicBezTo>
                      <a:pt x="420110" y="357729"/>
                      <a:pt x="425628" y="369775"/>
                      <a:pt x="425721" y="382007"/>
                    </a:cubicBezTo>
                    <a:lnTo>
                      <a:pt x="425721" y="441863"/>
                    </a:lnTo>
                    <a:lnTo>
                      <a:pt x="240824" y="441863"/>
                    </a:lnTo>
                    <a:lnTo>
                      <a:pt x="222587" y="358569"/>
                    </a:lnTo>
                    <a:cubicBezTo>
                      <a:pt x="259342" y="307117"/>
                      <a:pt x="219688" y="304689"/>
                      <a:pt x="212861" y="304689"/>
                    </a:cubicBezTo>
                    <a:cubicBezTo>
                      <a:pt x="205846" y="304689"/>
                      <a:pt x="166192" y="307117"/>
                      <a:pt x="203134" y="358569"/>
                    </a:cubicBezTo>
                    <a:lnTo>
                      <a:pt x="184897" y="441863"/>
                    </a:lnTo>
                    <a:lnTo>
                      <a:pt x="0" y="441863"/>
                    </a:lnTo>
                    <a:lnTo>
                      <a:pt x="0" y="382007"/>
                    </a:lnTo>
                    <a:cubicBezTo>
                      <a:pt x="0" y="369401"/>
                      <a:pt x="5518" y="357355"/>
                      <a:pt x="15245" y="349325"/>
                    </a:cubicBezTo>
                    <a:cubicBezTo>
                      <a:pt x="69582" y="304783"/>
                      <a:pt x="128222" y="275275"/>
                      <a:pt x="140006" y="269392"/>
                    </a:cubicBezTo>
                    <a:cubicBezTo>
                      <a:pt x="141315" y="268832"/>
                      <a:pt x="142157" y="267431"/>
                      <a:pt x="142157" y="265937"/>
                    </a:cubicBezTo>
                    <a:lnTo>
                      <a:pt x="142157" y="224757"/>
                    </a:lnTo>
                    <a:cubicBezTo>
                      <a:pt x="135797" y="213645"/>
                      <a:pt x="131682" y="202066"/>
                      <a:pt x="130092" y="191608"/>
                    </a:cubicBezTo>
                    <a:cubicBezTo>
                      <a:pt x="125416" y="191234"/>
                      <a:pt x="119337" y="184791"/>
                      <a:pt x="112697" y="161633"/>
                    </a:cubicBezTo>
                    <a:cubicBezTo>
                      <a:pt x="104373" y="132312"/>
                      <a:pt x="111855" y="126149"/>
                      <a:pt x="119430" y="125962"/>
                    </a:cubicBezTo>
                    <a:cubicBezTo>
                      <a:pt x="118869" y="123534"/>
                      <a:pt x="118215" y="120920"/>
                      <a:pt x="117747" y="118399"/>
                    </a:cubicBezTo>
                    <a:cubicBezTo>
                      <a:pt x="114754" y="103551"/>
                      <a:pt x="114006" y="89918"/>
                      <a:pt x="117466" y="76658"/>
                    </a:cubicBezTo>
                    <a:cubicBezTo>
                      <a:pt x="121675" y="59010"/>
                      <a:pt x="131214" y="44909"/>
                      <a:pt x="141876" y="33984"/>
                    </a:cubicBezTo>
                    <a:cubicBezTo>
                      <a:pt x="148610" y="26794"/>
                      <a:pt x="156372" y="20444"/>
                      <a:pt x="164509" y="15308"/>
                    </a:cubicBezTo>
                    <a:cubicBezTo>
                      <a:pt x="171056" y="10733"/>
                      <a:pt x="178444" y="6811"/>
                      <a:pt x="186393" y="4103"/>
                    </a:cubicBezTo>
                    <a:cubicBezTo>
                      <a:pt x="192660" y="2142"/>
                      <a:pt x="199393" y="741"/>
                      <a:pt x="206408" y="368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</p:spPr>
            <p:txBody>
              <a:bodyPr anchor="ctr" anchorCtr="0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8" name="Bullet2" descr="1d43e69a-78e3-46c1-96d5-6afee6be6b6d"/>
              <p:cNvSpPr txBox="1"/>
              <p:nvPr>
                <p:custDataLst>
                  <p:tags r:id="rId13"/>
                </p:custDataLst>
              </p:nvPr>
            </p:nvSpPr>
            <p:spPr bwMode="auto">
              <a:xfrm>
                <a:off x="7115909" y="3561267"/>
                <a:ext cx="3386258" cy="477434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anchor="ctr" anchorCtr="1">
                <a:normAutofit/>
              </a:bodyPr>
              <a:lstStyle/>
              <a:p>
                <a:pPr algn="ctr"/>
                <a:r>
                  <a:rPr lang="en-US" sz="1800" b="1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核心发现</a:t>
                </a:r>
                <a:endParaRPr lang="en-US" sz="1800" b="1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9" name="Text2" descr="ae17255d-0dfc-4dd7-b0ad-fca226916685"/>
              <p:cNvSpPr txBox="1"/>
              <p:nvPr>
                <p:custDataLst>
                  <p:tags r:id="rId14"/>
                </p:custDataLst>
              </p:nvPr>
            </p:nvSpPr>
            <p:spPr bwMode="auto">
              <a:xfrm>
                <a:off x="6467463" y="4129872"/>
                <a:ext cx="4964430" cy="2266950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anchor="t" anchorCtr="1">
                <a:no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10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中性台词占比的演变呈现</a:t>
                </a:r>
                <a:r>
                  <a:rPr lang="en-US" altLang="zh-CN" sz="10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 “</a:t>
                </a:r>
                <a:r>
                  <a:rPr lang="zh-CN" altLang="en-US" sz="10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温和铺垫</a:t>
                </a:r>
                <a:r>
                  <a:rPr lang="en-US" altLang="en-US" sz="10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→</a:t>
                </a:r>
                <a:r>
                  <a:rPr lang="zh-CN" altLang="en-US" sz="10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波动回落</a:t>
                </a:r>
                <a:r>
                  <a:rPr lang="en-US" altLang="en-US" sz="10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→</a:t>
                </a:r>
                <a:r>
                  <a:rPr lang="zh-CN" altLang="en-US" sz="10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急剧攀升</a:t>
                </a:r>
                <a:r>
                  <a:rPr lang="en-US" altLang="zh-CN" sz="10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” </a:t>
                </a:r>
                <a:r>
                  <a:rPr lang="zh-CN" altLang="en-US" sz="10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的三阶段特征：</a:t>
                </a:r>
                <a:endParaRPr lang="zh-CN" altLang="en-US" sz="10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  <a:p>
                <a:pPr algn="ctr">
                  <a:lnSpc>
                    <a:spcPct val="120000"/>
                  </a:lnSpc>
                </a:pPr>
                <a:r>
                  <a:rPr lang="zh-CN" altLang="en-US" sz="10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早期：温和铺垫中性占比稳定在</a:t>
                </a:r>
                <a:r>
                  <a:rPr lang="en-US" altLang="zh-CN" sz="10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 0.55-0.69 </a:t>
                </a:r>
                <a:r>
                  <a:rPr lang="zh-CN" altLang="en-US" sz="10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区间，是</a:t>
                </a:r>
                <a:r>
                  <a:rPr lang="en-US" altLang="zh-CN" sz="10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 “</a:t>
                </a:r>
                <a:r>
                  <a:rPr lang="zh-CN" altLang="en-US" sz="10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积极情感主导</a:t>
                </a:r>
                <a:r>
                  <a:rPr lang="en-US" altLang="zh-CN" sz="10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” </a:t>
                </a:r>
                <a:r>
                  <a:rPr lang="zh-CN" altLang="en-US" sz="10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下的日常叙事载体（如《龙猫》的亲情对话），服务于</a:t>
                </a:r>
                <a:r>
                  <a:rPr lang="en-US" altLang="zh-CN" sz="10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 “</a:t>
                </a:r>
                <a:r>
                  <a:rPr lang="zh-CN" altLang="en-US" sz="10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理想共生</a:t>
                </a:r>
                <a:r>
                  <a:rPr lang="en-US" altLang="zh-CN" sz="10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” </a:t>
                </a:r>
                <a:r>
                  <a:rPr lang="zh-CN" altLang="en-US" sz="10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的温暖语境。</a:t>
                </a:r>
                <a:endParaRPr lang="zh-CN" altLang="en-US" sz="10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  <a:p>
                <a:pPr algn="ctr">
                  <a:lnSpc>
                    <a:spcPct val="120000"/>
                  </a:lnSpc>
                </a:pPr>
                <a:r>
                  <a:rPr lang="zh-CN" altLang="en-US" sz="10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中期：波动回落在《魔女宅急便》处降至全期第二低（</a:t>
                </a:r>
                <a:r>
                  <a:rPr lang="en-US" altLang="zh-CN" sz="10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0.5</a:t>
                </a:r>
                <a:r>
                  <a:rPr lang="zh-CN" altLang="en-US" sz="10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），因现实冲突主题下情感分化加剧（积极</a:t>
                </a:r>
                <a:r>
                  <a:rPr lang="en-US" altLang="zh-CN" sz="10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 / </a:t>
                </a:r>
                <a:r>
                  <a:rPr lang="zh-CN" altLang="en-US" sz="10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消极占比上升），中性台词暂退为</a:t>
                </a:r>
                <a:r>
                  <a:rPr lang="en-US" altLang="zh-CN" sz="10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 “</a:t>
                </a:r>
                <a:r>
                  <a:rPr lang="zh-CN" altLang="en-US" sz="10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冲突场景的过渡表达</a:t>
                </a:r>
                <a:r>
                  <a:rPr lang="en-US" altLang="zh-CN" sz="10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”</a:t>
                </a:r>
                <a:r>
                  <a:rPr lang="zh-CN" altLang="en-US" sz="10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。</a:t>
                </a:r>
                <a:endParaRPr lang="zh-CN" altLang="en-US" sz="10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  <a:p>
                <a:pPr algn="ctr">
                  <a:lnSpc>
                    <a:spcPct val="120000"/>
                  </a:lnSpc>
                </a:pPr>
                <a:r>
                  <a:rPr lang="zh-CN" altLang="en-US" sz="10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后期：急剧攀升《你想活出怎样的人生》以</a:t>
                </a:r>
                <a:r>
                  <a:rPr lang="en-US" altLang="zh-CN" sz="10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 0.821 </a:t>
                </a:r>
                <a:r>
                  <a:rPr lang="zh-CN" altLang="en-US" sz="10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达全期峰值，中性台词成为</a:t>
                </a:r>
                <a:r>
                  <a:rPr lang="en-US" altLang="zh-CN" sz="10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 “</a:t>
                </a:r>
                <a:r>
                  <a:rPr lang="zh-CN" altLang="en-US" sz="10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复杂情感的内敛容器</a:t>
                </a:r>
                <a:r>
                  <a:rPr lang="en-US" altLang="zh-CN" sz="10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”—— </a:t>
                </a:r>
                <a:r>
                  <a:rPr lang="zh-CN" altLang="en-US" sz="10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不再依赖正负情绪渲染，转而以客观叙事承载创伤、责任等深层思考，是</a:t>
                </a:r>
                <a:r>
                  <a:rPr lang="en-US" altLang="zh-CN" sz="10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 “</a:t>
                </a:r>
                <a:r>
                  <a:rPr lang="zh-CN" altLang="en-US" sz="10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现实承担</a:t>
                </a:r>
                <a:r>
                  <a:rPr lang="en-US" altLang="zh-CN" sz="10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” </a:t>
                </a:r>
                <a:r>
                  <a:rPr lang="zh-CN" altLang="en-US" sz="10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内核下情感表达方式</a:t>
                </a:r>
                <a:r>
                  <a:rPr lang="en-US" altLang="zh-CN" sz="10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 “</a:t>
                </a:r>
                <a:r>
                  <a:rPr lang="zh-CN" altLang="en-US" sz="10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内敛含蓄</a:t>
                </a:r>
                <a:r>
                  <a:rPr lang="en-US" altLang="zh-CN" sz="10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” </a:t>
                </a:r>
                <a:r>
                  <a:rPr lang="zh-CN" altLang="en-US" sz="10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的直接体现。</a:t>
                </a:r>
                <a:endParaRPr lang="zh-CN" altLang="en-US" sz="10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  <a:p>
                <a:pPr algn="ctr">
                  <a:lnSpc>
                    <a:spcPct val="120000"/>
                  </a:lnSpc>
                </a:pPr>
                <a:r>
                  <a:rPr lang="zh-CN" altLang="en-US" sz="10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这一变化是情感从</a:t>
                </a:r>
                <a:r>
                  <a:rPr lang="en-US" altLang="zh-CN" sz="10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 “</a:t>
                </a:r>
                <a:r>
                  <a:rPr lang="zh-CN" altLang="en-US" sz="10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积极直白</a:t>
                </a:r>
                <a:r>
                  <a:rPr lang="en-US" altLang="zh-CN" sz="10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” </a:t>
                </a:r>
                <a:r>
                  <a:rPr lang="zh-CN" altLang="en-US" sz="10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到</a:t>
                </a:r>
                <a:r>
                  <a:rPr lang="en-US" altLang="zh-CN" sz="10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 “</a:t>
                </a:r>
                <a:r>
                  <a:rPr lang="zh-CN" altLang="en-US" sz="10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复杂分化</a:t>
                </a:r>
                <a:r>
                  <a:rPr lang="en-US" altLang="zh-CN" sz="10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” </a:t>
                </a:r>
                <a:r>
                  <a:rPr lang="zh-CN" altLang="en-US" sz="10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再到</a:t>
                </a:r>
                <a:r>
                  <a:rPr lang="en-US" altLang="zh-CN" sz="10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 “</a:t>
                </a:r>
                <a:r>
                  <a:rPr lang="zh-CN" altLang="en-US" sz="10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内敛沉淀</a:t>
                </a:r>
                <a:r>
                  <a:rPr lang="en-US" altLang="zh-CN" sz="10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” </a:t>
                </a:r>
                <a:r>
                  <a:rPr lang="zh-CN" altLang="en-US" sz="10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的量化印证，也是人文内核随创作阶段深化的文本特征投射。</a:t>
                </a:r>
                <a:endParaRPr lang="zh-CN" altLang="en-US" sz="10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" name="标题 1" descr="6e191eb5-7da3-4a4d-bdfb-9524e0e49c7c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2F2F2F"/>
                </a:solidFill>
                <a:ea typeface="微软雅黑" panose="020B0503020204020204" charset="-122"/>
              </a:rPr>
              <a:t>情感构成的演变</a:t>
            </a:r>
            <a:endParaRPr lang="en-US" sz="2800" b="1" i="0" u="none">
              <a:solidFill>
                <a:srgbClr val="2F2F2F"/>
              </a:solidFill>
              <a:ea typeface="微软雅黑" panose="020B0503020204020204" charset="-122"/>
            </a:endParaRPr>
          </a:p>
        </p:txBody>
      </p:sp>
      <p:pic>
        <p:nvPicPr>
          <p:cNvPr id="3" name="图片 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44650" y="4185920"/>
            <a:ext cx="3587115" cy="2286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def833a4-fb96-4912-b259-2a1294d29a0c.source.2.zh-Hans.pptx" descr="a5caf57a-60f3-4ace-98f6-541ecac32e29"/>
          <p:cNvGrpSpPr/>
          <p:nvPr>
            <p:custDataLst>
              <p:tags r:id="rId1"/>
            </p:custDataLst>
          </p:nvPr>
        </p:nvGrpSpPr>
        <p:grpSpPr>
          <a:xfrm>
            <a:off x="469900" y="940758"/>
            <a:ext cx="11049000" cy="5193343"/>
            <a:chOff x="469900" y="940758"/>
            <a:chExt cx="11049000" cy="5193343"/>
          </a:xfrm>
        </p:grpSpPr>
        <p:cxnSp>
          <p:nvCxnSpPr>
            <p:cNvPr id="19" name="连接符: 肘形 18" descr="b606e1cc-dabc-49df-b591-580dabfec4fa"/>
            <p:cNvCxnSpPr>
              <a:stCxn id="14" idx="3"/>
              <a:endCxn id="18" idx="1"/>
            </p:cNvCxnSpPr>
            <p:nvPr/>
          </p:nvCxnSpPr>
          <p:spPr>
            <a:xfrm>
              <a:off x="7213599" y="2289497"/>
              <a:ext cx="717635" cy="1342704"/>
            </a:xfrm>
            <a:prstGeom prst="bentConnector3">
              <a:avLst>
                <a:gd name="adj1" fmla="val 50000"/>
              </a:avLst>
            </a:prstGeom>
            <a:noFill/>
            <a:ln w="6350" cap="flat" cmpd="sng">
              <a:solidFill>
                <a:schemeClr val="tx1">
                  <a:alpha val="5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8" name="Title" descr="aac3202c-ec99-48a3-8769-07dc08157d95"/>
            <p:cNvSpPr txBox="1"/>
            <p:nvPr/>
          </p:nvSpPr>
          <p:spPr>
            <a:xfrm>
              <a:off x="7931234" y="1130301"/>
              <a:ext cx="3587666" cy="5003800"/>
            </a:xfrm>
            <a:prstGeom prst="rect">
              <a:avLst/>
            </a:prstGeom>
            <a:noFill/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en-US"/>
              </a:defPPr>
              <a:lvl1pPr>
                <a:defRPr sz="2400" b="1"/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2400" b="1" i="0" u="none">
                  <a:solidFill>
                    <a:srgbClr val="2F2F2F"/>
                  </a:solidFill>
                  <a:ea typeface="微软雅黑" panose="020B0503020204020204" charset="-122"/>
                </a:rPr>
                <a:t>探究台词长度变化</a:t>
              </a:r>
              <a:endParaRPr lang="en-US" sz="2400" b="1" i="0" u="none">
                <a:solidFill>
                  <a:srgbClr val="2F2F2F"/>
                </a:solidFill>
                <a:ea typeface="微软雅黑" panose="020B0503020204020204" charset="-122"/>
              </a:endParaRPr>
            </a:p>
          </p:txBody>
        </p:sp>
        <p:cxnSp>
          <p:nvCxnSpPr>
            <p:cNvPr id="20" name="连接符: 肘形 19" descr="febb6057-a279-4c97-be99-64df642270f1"/>
            <p:cNvCxnSpPr>
              <a:endCxn id="18" idx="1"/>
            </p:cNvCxnSpPr>
            <p:nvPr/>
          </p:nvCxnSpPr>
          <p:spPr>
            <a:xfrm flipV="1">
              <a:off x="7213599" y="3632201"/>
              <a:ext cx="717635" cy="1721511"/>
            </a:xfrm>
            <a:prstGeom prst="bentConnector3">
              <a:avLst>
                <a:gd name="adj1" fmla="val 50000"/>
              </a:avLst>
            </a:prstGeom>
            <a:noFill/>
            <a:ln w="6350" cap="flat" cmpd="sng">
              <a:solidFill>
                <a:schemeClr val="tx1">
                  <a:alpha val="5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grpSp>
          <p:nvGrpSpPr>
            <p:cNvPr id="7" name="组合 6" descr="ad6aab9f-8fb8-412b-ad28-da1a56d8c665"/>
            <p:cNvGrpSpPr/>
            <p:nvPr/>
          </p:nvGrpSpPr>
          <p:grpSpPr>
            <a:xfrm>
              <a:off x="469900" y="940758"/>
              <a:ext cx="6743699" cy="2501585"/>
              <a:chOff x="469900" y="940758"/>
              <a:chExt cx="6743699" cy="2501585"/>
            </a:xfrm>
          </p:grpSpPr>
          <p:sp>
            <p:nvSpPr>
              <p:cNvPr id="14" name="ComponentBackground1" descr="a6b378b2-d185-48d8-bf65-b9402ea4b8bc"/>
              <p:cNvSpPr/>
              <p:nvPr>
                <p:custDataLst>
                  <p:tags r:id="rId2"/>
                </p:custDataLst>
              </p:nvPr>
            </p:nvSpPr>
            <p:spPr>
              <a:xfrm>
                <a:off x="664350" y="1136651"/>
                <a:ext cx="6549249" cy="2305692"/>
              </a:xfrm>
              <a:prstGeom prst="rect">
                <a:avLst/>
              </a:prstGeom>
              <a:noFill/>
              <a:ln w="6350" cap="rnd">
                <a:solidFill>
                  <a:schemeClr val="tx1">
                    <a:alpha val="50000"/>
                  </a:schemeClr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5" name="Text1" descr="4c58a604-a053-4e71-9276-b51789c20662"/>
              <p:cNvSpPr/>
              <p:nvPr>
                <p:custDataLst>
                  <p:tags r:id="rId3"/>
                </p:custDataLst>
              </p:nvPr>
            </p:nvSpPr>
            <p:spPr>
              <a:xfrm flipH="1">
                <a:off x="805180" y="1776418"/>
                <a:ext cx="1710690" cy="1517015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12部作品“平均台词长度（词数）”</a:t>
                </a:r>
                <a:r>
                  <a:rPr lang="zh-CN" altLang="en-US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与</a:t>
                </a:r>
                <a:r>
                  <a:rPr lang="en-US" altLang="zh-CN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“</a:t>
                </a:r>
                <a:r>
                  <a:rPr lang="zh-CN" altLang="en-US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平均情感强度</a:t>
                </a:r>
                <a:r>
                  <a:rPr lang="en-US" altLang="zh-CN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”</a:t>
                </a:r>
                <a:r>
                  <a:rPr lang="zh-CN" altLang="en-US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组合图</a:t>
                </a:r>
                <a:r>
                  <a:rPr lang="en-US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。</a:t>
                </a:r>
                <a:endParaRPr lang="en-US" sz="1200" b="0" i="0" u="none" strike="noStrik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6" name="Bullet1" descr="ce648d79-6dab-492b-892e-12c659db8931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804833" y="1235248"/>
                <a:ext cx="6007294" cy="44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800" b="1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核心图表</a:t>
                </a:r>
                <a:endParaRPr lang="en-US" sz="1800" b="1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7" name="Shape1" descr="db06e350-aa7e-4e8c-ba3a-ea48e437acd3"/>
              <p:cNvSpPr/>
              <p:nvPr>
                <p:custDataLst>
                  <p:tags r:id="rId5"/>
                </p:custDataLst>
              </p:nvPr>
            </p:nvSpPr>
            <p:spPr>
              <a:xfrm>
                <a:off x="469900" y="940758"/>
                <a:ext cx="393664" cy="396548"/>
              </a:xfrm>
              <a:prstGeom prst="pie">
                <a:avLst>
                  <a:gd name="adj1" fmla="val 0"/>
                  <a:gd name="adj2" fmla="val 5387355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</a:p>
            </p:txBody>
          </p:sp>
        </p:grpSp>
        <p:grpSp>
          <p:nvGrpSpPr>
            <p:cNvPr id="8" name="组合 7" descr="46ecb74d-8379-4028-a643-1115b726a950"/>
            <p:cNvGrpSpPr/>
            <p:nvPr/>
          </p:nvGrpSpPr>
          <p:grpSpPr>
            <a:xfrm>
              <a:off x="469900" y="3632201"/>
              <a:ext cx="6743699" cy="2501899"/>
              <a:chOff x="469900" y="3632201"/>
              <a:chExt cx="6743699" cy="2501899"/>
            </a:xfrm>
          </p:grpSpPr>
          <p:sp>
            <p:nvSpPr>
              <p:cNvPr id="10" name="ComponentBackground2" descr="4f061cd1-8a9b-4461-979f-c0ba0a7b9696"/>
              <p:cNvSpPr/>
              <p:nvPr>
                <p:custDataLst>
                  <p:tags r:id="rId6"/>
                </p:custDataLst>
              </p:nvPr>
            </p:nvSpPr>
            <p:spPr>
              <a:xfrm>
                <a:off x="664350" y="3828408"/>
                <a:ext cx="6549249" cy="2305692"/>
              </a:xfrm>
              <a:prstGeom prst="rect">
                <a:avLst/>
              </a:prstGeom>
              <a:noFill/>
              <a:ln w="6350" cap="rnd">
                <a:solidFill>
                  <a:schemeClr val="tx1">
                    <a:alpha val="50000"/>
                  </a:schemeClr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1" name="Text2" descr="965b9723-b03f-405d-935c-2290a8a3a127"/>
              <p:cNvSpPr/>
              <p:nvPr>
                <p:custDataLst>
                  <p:tags r:id="rId7"/>
                </p:custDataLst>
              </p:nvPr>
            </p:nvSpPr>
            <p:spPr>
              <a:xfrm flipH="1">
                <a:off x="805815" y="4366896"/>
                <a:ext cx="6167755" cy="1720850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 anchorCtr="0">
                <a:no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平均台词长度与情感强度的联动，匹配创作阶段的叙事与内核：</a:t>
                </a:r>
                <a:endParaRPr lang="zh-CN" altLang="en-US" sz="1200" b="0" i="0" u="none" strike="noStrike">
                  <a:solidFill>
                    <a:srgbClr val="2F2F2F"/>
                  </a:solidFill>
                  <a:ea typeface="微软雅黑" panose="020B0503020204020204" charset="-122"/>
                </a:endParaRPr>
              </a:p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早期：长度稳定</a:t>
                </a:r>
                <a:r>
                  <a:rPr lang="en-US" altLang="zh-CN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 + </a:t>
                </a:r>
                <a:r>
                  <a:rPr lang="zh-CN" altLang="en-US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情感温和，中长句承载</a:t>
                </a:r>
                <a:r>
                  <a:rPr lang="en-US" altLang="zh-CN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 “</a:t>
                </a:r>
                <a:r>
                  <a:rPr lang="zh-CN" altLang="en-US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理想共生</a:t>
                </a:r>
                <a:r>
                  <a:rPr lang="en-US" altLang="zh-CN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” </a:t>
                </a:r>
                <a:r>
                  <a:rPr lang="zh-CN" altLang="en-US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的平缓叙事。</a:t>
                </a:r>
                <a:endParaRPr lang="zh-CN" altLang="en-US" sz="1200" b="0" i="0" u="none" strike="noStrike">
                  <a:solidFill>
                    <a:srgbClr val="2F2F2F"/>
                  </a:solidFill>
                  <a:ea typeface="微软雅黑" panose="020B0503020204020204" charset="-122"/>
                </a:endParaRPr>
              </a:p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中期：二者同步剧烈波动，以节奏变化适配现实冲突的剧情张力。</a:t>
                </a:r>
                <a:endParaRPr lang="zh-CN" altLang="en-US" sz="1200" b="0" i="0" u="none" strike="noStrike">
                  <a:solidFill>
                    <a:srgbClr val="2F2F2F"/>
                  </a:solidFill>
                  <a:ea typeface="微软雅黑" panose="020B0503020204020204" charset="-122"/>
                </a:endParaRPr>
              </a:p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后期：台词缩短</a:t>
                </a:r>
                <a:r>
                  <a:rPr lang="en-US" altLang="zh-CN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 + </a:t>
                </a:r>
                <a:r>
                  <a:rPr lang="zh-CN" altLang="en-US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情感降温，精简留白承载</a:t>
                </a:r>
                <a:r>
                  <a:rPr lang="en-US" altLang="zh-CN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 “</a:t>
                </a:r>
                <a:r>
                  <a:rPr lang="zh-CN" altLang="en-US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现实承担</a:t>
                </a:r>
                <a:r>
                  <a:rPr lang="en-US" altLang="zh-CN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” </a:t>
                </a:r>
                <a:r>
                  <a:rPr lang="zh-CN" altLang="en-US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的深层思考，是内核沉淀的体现。</a:t>
                </a:r>
                <a:endParaRPr lang="zh-CN" altLang="en-US" sz="1200" b="0" i="0" u="none" strike="noStrike">
                  <a:solidFill>
                    <a:srgbClr val="2F2F2F"/>
                  </a:solidFill>
                  <a:ea typeface="微软雅黑" panose="020B0503020204020204" charset="-122"/>
                </a:endParaRPr>
              </a:p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这一变化印证：台词长度的演变并非单纯</a:t>
                </a:r>
                <a:r>
                  <a:rPr lang="en-US" altLang="zh-CN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 “</a:t>
                </a:r>
                <a:r>
                  <a:rPr lang="zh-CN" altLang="en-US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变短</a:t>
                </a:r>
                <a:r>
                  <a:rPr lang="en-US" altLang="zh-CN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”</a:t>
                </a:r>
                <a:r>
                  <a:rPr lang="zh-CN" altLang="en-US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，而是与情感强度、创作内核深度绑定，成为不同阶段叙事策略的量化体现。</a:t>
                </a:r>
                <a:endParaRPr lang="zh-CN" altLang="en-US" sz="1200" b="0" i="0" u="none" strike="noStrik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2" name="Bullet2" descr="dc3754ec-a187-48a9-983f-fe5b8604afcb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806103" y="3927005"/>
                <a:ext cx="6007294" cy="44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800" b="1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核心发现</a:t>
                </a:r>
                <a:endParaRPr lang="en-US" sz="1800" b="1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3" name="Shape2" descr="65400225-d171-484c-8c8c-bebdaab3d93b"/>
              <p:cNvSpPr/>
              <p:nvPr>
                <p:custDataLst>
                  <p:tags r:id="rId9"/>
                </p:custDataLst>
              </p:nvPr>
            </p:nvSpPr>
            <p:spPr>
              <a:xfrm>
                <a:off x="469900" y="3632201"/>
                <a:ext cx="393664" cy="396548"/>
              </a:xfrm>
              <a:prstGeom prst="pie">
                <a:avLst>
                  <a:gd name="adj1" fmla="val 0"/>
                  <a:gd name="adj2" fmla="val 5387355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</a:p>
            </p:txBody>
          </p:sp>
        </p:grpSp>
      </p:grpSp>
      <p:sp>
        <p:nvSpPr>
          <p:cNvPr id="3" name="标题 2" descr="6e191eb5-7da3-4a4d-bdfb-9524e0e49c7c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2F2F2F"/>
                </a:solidFill>
                <a:ea typeface="微软雅黑" panose="020B0503020204020204" charset="-122"/>
              </a:rPr>
              <a:t>叙事密度的变化</a:t>
            </a:r>
            <a:endParaRPr lang="en-US" sz="2800" b="1" i="0" u="none">
              <a:solidFill>
                <a:srgbClr val="2F2F2F"/>
              </a:solidFill>
              <a:ea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04160" y="1136650"/>
            <a:ext cx="3905250" cy="229235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300e0c0b-0462-4a6b-95cd-3a67c6baf2bd.source.2.zh-Hans.pptx" descr="aac1a149-2764-4b6f-842e-25f84032b594"/>
          <p:cNvGrpSpPr/>
          <p:nvPr/>
        </p:nvGrpSpPr>
        <p:grpSpPr>
          <a:xfrm>
            <a:off x="660400" y="1130301"/>
            <a:ext cx="10950575" cy="5288896"/>
            <a:chOff x="660400" y="1130301"/>
            <a:chExt cx="10950575" cy="5288896"/>
          </a:xfrm>
        </p:grpSpPr>
        <p:sp>
          <p:nvSpPr>
            <p:cNvPr id="2" name="Title" descr="e8f8e8da-c6df-4c0d-962f-1915c9489f3f"/>
            <p:cNvSpPr txBox="1"/>
            <p:nvPr/>
          </p:nvSpPr>
          <p:spPr>
            <a:xfrm>
              <a:off x="660400" y="1130301"/>
              <a:ext cx="2573454" cy="2181612"/>
            </a:xfrm>
            <a:prstGeom prst="roundRect">
              <a:avLst>
                <a:gd name="adj" fmla="val 6882"/>
              </a:avLst>
            </a:prstGeom>
            <a:solidFill>
              <a:schemeClr val="tx1">
                <a:alpha val="5000"/>
              </a:schemeClr>
            </a:solidFill>
          </p:spPr>
          <p:txBody>
            <a:bodyPr wrap="square" lIns="90000" tIns="46800" rIns="90000" bIns="46800" rtlCol="0" anchor="ctr" anchorCtr="0">
              <a:normAutofit/>
            </a:bodyPr>
            <a:lstStyle>
              <a:defPPr>
                <a:defRPr lang="zh-CN"/>
              </a:defPPr>
              <a:lvl1pPr>
                <a:defRPr sz="2400" b="1">
                  <a:cs typeface="+mn-ea"/>
                </a:defRPr>
              </a:lvl1pPr>
            </a:lstStyle>
            <a:p>
              <a:pPr algn="l"/>
              <a:r>
                <a:rPr lang="en-US" sz="2400" b="1" i="0" u="none">
                  <a:solidFill>
                    <a:srgbClr val="2F2F2F"/>
                  </a:solidFill>
                  <a:ea typeface="微软雅黑" panose="020B0503020204020204" charset="-122"/>
                </a:rPr>
                <a:t>观察主题词汇变化</a:t>
              </a:r>
              <a:endParaRPr lang="en-US" sz="2400" b="1" i="0" u="none">
                <a:solidFill>
                  <a:srgbClr val="2F2F2F"/>
                </a:solidFill>
                <a:ea typeface="微软雅黑" panose="020B0503020204020204" charset="-122"/>
              </a:endParaRPr>
            </a:p>
          </p:txBody>
        </p:sp>
        <p:cxnSp>
          <p:nvCxnSpPr>
            <p:cNvPr id="7" name="直接连接符 6" descr="7a624dbd-39da-4274-a59e-63a0705e85c5"/>
            <p:cNvCxnSpPr>
              <a:stCxn id="40" idx="4"/>
              <a:endCxn id="6" idx="4"/>
            </p:cNvCxnSpPr>
            <p:nvPr/>
          </p:nvCxnSpPr>
          <p:spPr>
            <a:xfrm flipH="1">
              <a:off x="3625852" y="1628097"/>
              <a:ext cx="635" cy="4246245"/>
            </a:xfrm>
            <a:prstGeom prst="line">
              <a:avLst/>
            </a:prstGeom>
            <a:ln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组合 2" descr="9c51f79b-4434-4cb2-8b2e-cbd35343d916"/>
            <p:cNvGrpSpPr/>
            <p:nvPr/>
          </p:nvGrpSpPr>
          <p:grpSpPr>
            <a:xfrm>
              <a:off x="3403298" y="1183481"/>
              <a:ext cx="8115602" cy="2453658"/>
              <a:chOff x="3403298" y="1183481"/>
              <a:chExt cx="8115602" cy="2453658"/>
            </a:xfrm>
          </p:grpSpPr>
          <p:sp>
            <p:nvSpPr>
              <p:cNvPr id="42" name="Text1" descr="2f2d7cf7-f1b1-44c9-9fee-0b0f481561f6"/>
              <p:cNvSpPr txBox="1"/>
              <p:nvPr/>
            </p:nvSpPr>
            <p:spPr>
              <a:xfrm>
                <a:off x="3890498" y="1628096"/>
                <a:ext cx="7628401" cy="2009043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lnSpc>
                    <a:spcPct val="150000"/>
                  </a:lnSpc>
                  <a:defRPr kumimoji="0" sz="1050" i="0" u="none" strike="noStrike" kern="1200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“独特词汇量/词汇多样性”随时间变化图。</a:t>
                </a:r>
                <a:endParaRPr lang="en-US" sz="12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43" name="Bullet1" descr="5a45fca8-11b2-4244-88e5-7ca338f27782"/>
              <p:cNvSpPr txBox="1"/>
              <p:nvPr/>
            </p:nvSpPr>
            <p:spPr>
              <a:xfrm>
                <a:off x="3890499" y="1183481"/>
                <a:ext cx="7628401" cy="444616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kumimoji="0" sz="1400" b="1" i="0" u="none" strike="noStrike" kern="1200" cap="none" spc="0" normalizeH="0" baseline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800" b="1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核心图表</a:t>
                </a:r>
                <a:endParaRPr lang="en-US" sz="1800" b="1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40" name="Number1" descr="754e6eb4-aadc-4b8e-bf24-3e55d60f121f"/>
              <p:cNvSpPr/>
              <p:nvPr/>
            </p:nvSpPr>
            <p:spPr>
              <a:xfrm>
                <a:off x="3403298" y="1183481"/>
                <a:ext cx="445108" cy="444616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1400" b="1" i="0" u="none">
                    <a:solidFill>
                      <a:srgbClr val="FFFFFF"/>
                    </a:solidFill>
                    <a:latin typeface="Arial" panose="020B0604020202020204"/>
                  </a:rPr>
                  <a:t>1</a:t>
                </a:r>
                <a:endParaRPr lang="en-US" sz="14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</p:grpSp>
        <p:grpSp>
          <p:nvGrpSpPr>
            <p:cNvPr id="11" name="组合 10" descr="d5982133-f24d-4192-bc58-101eb2a32633"/>
            <p:cNvGrpSpPr/>
            <p:nvPr/>
          </p:nvGrpSpPr>
          <p:grpSpPr>
            <a:xfrm>
              <a:off x="3402028" y="5053312"/>
              <a:ext cx="8208947" cy="1365885"/>
              <a:chOff x="3402028" y="3827762"/>
              <a:chExt cx="8208947" cy="1365885"/>
            </a:xfrm>
          </p:grpSpPr>
          <p:sp>
            <p:nvSpPr>
              <p:cNvPr id="10" name="Text2" descr="69fe5bec-e35a-47b5-a569-dc5572a95280"/>
              <p:cNvSpPr txBox="1"/>
              <p:nvPr/>
            </p:nvSpPr>
            <p:spPr>
              <a:xfrm>
                <a:off x="3890343" y="4272262"/>
                <a:ext cx="5854065" cy="921385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lnSpc>
                    <a:spcPct val="150000"/>
                  </a:lnSpc>
                  <a:defRPr kumimoji="0" sz="1050" i="0" u="none" strike="noStrike" kern="1200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zh-CN" alt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早期：词汇多样性高，以丰富表达支撑</a:t>
                </a:r>
                <a:r>
                  <a:rPr lang="en-US" altLang="zh-CN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 “</a:t>
                </a:r>
                <a:r>
                  <a:rPr lang="zh-CN" alt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理想共生</a:t>
                </a:r>
                <a:r>
                  <a:rPr lang="en-US" altLang="zh-CN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” </a:t>
                </a:r>
                <a:r>
                  <a:rPr lang="zh-CN" alt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的多元主题。</a:t>
                </a:r>
                <a:endParaRPr lang="zh-CN" altLang="en-US" sz="12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  <a:p>
                <a:pPr algn="l">
                  <a:lnSpc>
                    <a:spcPct val="120000"/>
                  </a:lnSpc>
                </a:pPr>
                <a:r>
                  <a:rPr lang="zh-CN" alt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中期：多样性波动回落，独特词汇聚焦冲突，适配现实矛盾的内核。</a:t>
                </a:r>
                <a:endParaRPr lang="zh-CN" altLang="en-US" sz="12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  <a:p>
                <a:pPr algn="l">
                  <a:lnSpc>
                    <a:spcPct val="120000"/>
                  </a:lnSpc>
                </a:pPr>
                <a:r>
                  <a:rPr lang="zh-CN" alt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晚期：多样性回升，以精炼语言触达更广意象，承载</a:t>
                </a:r>
                <a:r>
                  <a:rPr lang="en-US" altLang="zh-CN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 “</a:t>
                </a:r>
                <a:r>
                  <a:rPr lang="zh-CN" alt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现实承担</a:t>
                </a:r>
                <a:r>
                  <a:rPr lang="en-US" altLang="zh-CN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” </a:t>
                </a:r>
                <a:r>
                  <a:rPr lang="zh-CN" alt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的深层主题。</a:t>
                </a:r>
                <a:r>
                  <a:rPr 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。</a:t>
                </a:r>
                <a:endParaRPr lang="en-US" sz="12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2" name="Bullet2" descr="8584f643-d088-4e81-b461-3e99b9dc245a"/>
              <p:cNvSpPr txBox="1"/>
              <p:nvPr/>
            </p:nvSpPr>
            <p:spPr>
              <a:xfrm>
                <a:off x="3982574" y="3827762"/>
                <a:ext cx="7628401" cy="444616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kumimoji="0" sz="1400" b="1" i="0" u="none" strike="noStrike" kern="1200" cap="none" spc="0" normalizeH="0" baseline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800" b="1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核心发现</a:t>
                </a:r>
                <a:endParaRPr lang="en-US" sz="1800" b="1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6" name="Number2" descr="f289945c-c275-4027-8d95-c0d3737ce522"/>
              <p:cNvSpPr/>
              <p:nvPr/>
            </p:nvSpPr>
            <p:spPr>
              <a:xfrm>
                <a:off x="3402028" y="3827762"/>
                <a:ext cx="445108" cy="444616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1400" b="1" i="0" u="none">
                    <a:solidFill>
                      <a:srgbClr val="FFFFFF"/>
                    </a:solidFill>
                    <a:latin typeface="Arial" panose="020B0604020202020204"/>
                  </a:rPr>
                  <a:t>2</a:t>
                </a:r>
                <a:endParaRPr lang="en-US" sz="14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</p:grpSp>
      </p:grpSp>
      <p:sp>
        <p:nvSpPr>
          <p:cNvPr id="4" name="标题 3" descr="6e191eb5-7da3-4a4d-bdfb-9524e0e49c7c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2F2F2F"/>
                </a:solidFill>
                <a:ea typeface="微软雅黑" panose="020B0503020204020204" charset="-122"/>
              </a:rPr>
              <a:t>主题世界的扩张与聚焦</a:t>
            </a:r>
            <a:endParaRPr lang="en-US" sz="2800" b="1" i="0" u="none">
              <a:solidFill>
                <a:srgbClr val="2F2F2F"/>
              </a:solidFill>
              <a:ea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17645" y="1895475"/>
            <a:ext cx="4998720" cy="295783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f55afed0-e4ab-4f1d-8689-2b1609bf8d45.source.2.zh-Hans.pptx" descr="514db135-e48f-4d07-9d60-9b072e9e3470"/>
          <p:cNvGrpSpPr/>
          <p:nvPr>
            <p:custDataLst>
              <p:tags r:id="rId1"/>
            </p:custDataLst>
          </p:nvPr>
        </p:nvGrpSpPr>
        <p:grpSpPr>
          <a:xfrm>
            <a:off x="660400" y="1130301"/>
            <a:ext cx="10951460" cy="5003799"/>
            <a:chOff x="660400" y="1130301"/>
            <a:chExt cx="10951460" cy="5003799"/>
          </a:xfrm>
        </p:grpSpPr>
        <p:sp>
          <p:nvSpPr>
            <p:cNvPr id="76" name="任意多边形: 形状 75" descr="b61e1987-46b0-49cc-8fb5-d28fb79fc2f7"/>
            <p:cNvSpPr/>
            <p:nvPr>
              <p:custDataLst>
                <p:tags r:id="rId2"/>
              </p:custDataLst>
            </p:nvPr>
          </p:nvSpPr>
          <p:spPr>
            <a:xfrm>
              <a:off x="4249777" y="2068034"/>
              <a:ext cx="2477439" cy="2401107"/>
            </a:xfrm>
            <a:custGeom>
              <a:avLst/>
              <a:gdLst>
                <a:gd name="connsiteX0" fmla="*/ 607132 w 1252678"/>
                <a:gd name="connsiteY0" fmla="*/ 923175 h 1214084"/>
                <a:gd name="connsiteX1" fmla="*/ 807845 w 1252678"/>
                <a:gd name="connsiteY1" fmla="*/ 852052 h 1214084"/>
                <a:gd name="connsiteX2" fmla="*/ 1013371 w 1252678"/>
                <a:gd name="connsiteY2" fmla="*/ 1057578 h 1214084"/>
                <a:gd name="connsiteX3" fmla="*/ 607132 w 1252678"/>
                <a:gd name="connsiteY3" fmla="*/ 1214085 h 1214084"/>
                <a:gd name="connsiteX4" fmla="*/ 0 w 1252678"/>
                <a:gd name="connsiteY4" fmla="*/ 607132 h 1214084"/>
                <a:gd name="connsiteX5" fmla="*/ 607132 w 1252678"/>
                <a:gd name="connsiteY5" fmla="*/ 0 h 1214084"/>
                <a:gd name="connsiteX6" fmla="*/ 1090912 w 1252678"/>
                <a:gd name="connsiteY6" fmla="*/ 241890 h 1214084"/>
                <a:gd name="connsiteX7" fmla="*/ 1193764 w 1252678"/>
                <a:gd name="connsiteY7" fmla="*/ 164350 h 1214084"/>
                <a:gd name="connsiteX8" fmla="*/ 1223711 w 1252678"/>
                <a:gd name="connsiteY8" fmla="*/ 159537 h 1214084"/>
                <a:gd name="connsiteX9" fmla="*/ 1252231 w 1252678"/>
                <a:gd name="connsiteY9" fmla="*/ 200713 h 1214084"/>
                <a:gd name="connsiteX10" fmla="*/ 1200003 w 1252678"/>
                <a:gd name="connsiteY10" fmla="*/ 583246 h 1214084"/>
                <a:gd name="connsiteX11" fmla="*/ 1158826 w 1252678"/>
                <a:gd name="connsiteY11" fmla="*/ 613192 h 1214084"/>
                <a:gd name="connsiteX12" fmla="*/ 776294 w 1252678"/>
                <a:gd name="connsiteY12" fmla="*/ 559360 h 1214084"/>
                <a:gd name="connsiteX13" fmla="*/ 744743 w 1252678"/>
                <a:gd name="connsiteY13" fmla="*/ 519787 h 1214084"/>
                <a:gd name="connsiteX14" fmla="*/ 759004 w 1252678"/>
                <a:gd name="connsiteY14" fmla="*/ 491267 h 1214084"/>
                <a:gd name="connsiteX15" fmla="*/ 860252 w 1252678"/>
                <a:gd name="connsiteY15" fmla="*/ 415331 h 1214084"/>
                <a:gd name="connsiteX16" fmla="*/ 607310 w 1252678"/>
                <a:gd name="connsiteY16" fmla="*/ 288771 h 1214084"/>
                <a:gd name="connsiteX17" fmla="*/ 289484 w 1252678"/>
                <a:gd name="connsiteY17" fmla="*/ 606597 h 1214084"/>
                <a:gd name="connsiteX18" fmla="*/ 607132 w 1252678"/>
                <a:gd name="connsiteY18" fmla="*/ 923175 h 1214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52678" h="1214084">
                  <a:moveTo>
                    <a:pt x="607132" y="923175"/>
                  </a:moveTo>
                  <a:cubicBezTo>
                    <a:pt x="683068" y="923175"/>
                    <a:pt x="754191" y="896259"/>
                    <a:pt x="807845" y="852052"/>
                  </a:cubicBezTo>
                  <a:lnTo>
                    <a:pt x="1013371" y="1057578"/>
                  </a:lnTo>
                  <a:cubicBezTo>
                    <a:pt x="905884" y="1154013"/>
                    <a:pt x="763638" y="1214085"/>
                    <a:pt x="607132" y="1214085"/>
                  </a:cubicBezTo>
                  <a:cubicBezTo>
                    <a:pt x="271837" y="1214085"/>
                    <a:pt x="0" y="942248"/>
                    <a:pt x="0" y="607132"/>
                  </a:cubicBezTo>
                  <a:cubicBezTo>
                    <a:pt x="0" y="271837"/>
                    <a:pt x="271837" y="0"/>
                    <a:pt x="607132" y="0"/>
                  </a:cubicBezTo>
                  <a:cubicBezTo>
                    <a:pt x="804636" y="0"/>
                    <a:pt x="980216" y="94831"/>
                    <a:pt x="1090912" y="241890"/>
                  </a:cubicBezTo>
                  <a:lnTo>
                    <a:pt x="1193764" y="164350"/>
                  </a:lnTo>
                  <a:cubicBezTo>
                    <a:pt x="1203211" y="159537"/>
                    <a:pt x="1212659" y="156507"/>
                    <a:pt x="1223711" y="159537"/>
                  </a:cubicBezTo>
                  <a:cubicBezTo>
                    <a:pt x="1242605" y="162745"/>
                    <a:pt x="1255261" y="181640"/>
                    <a:pt x="1252231" y="200713"/>
                  </a:cubicBezTo>
                  <a:lnTo>
                    <a:pt x="1200003" y="583246"/>
                  </a:lnTo>
                  <a:cubicBezTo>
                    <a:pt x="1196794" y="602140"/>
                    <a:pt x="1177899" y="616401"/>
                    <a:pt x="1158826" y="613192"/>
                  </a:cubicBezTo>
                  <a:cubicBezTo>
                    <a:pt x="1030840" y="595723"/>
                    <a:pt x="904280" y="576828"/>
                    <a:pt x="776294" y="559360"/>
                  </a:cubicBezTo>
                  <a:cubicBezTo>
                    <a:pt x="757399" y="556151"/>
                    <a:pt x="743139" y="538860"/>
                    <a:pt x="744743" y="519787"/>
                  </a:cubicBezTo>
                  <a:cubicBezTo>
                    <a:pt x="744743" y="507131"/>
                    <a:pt x="750982" y="499288"/>
                    <a:pt x="759004" y="491267"/>
                  </a:cubicBezTo>
                  <a:lnTo>
                    <a:pt x="860252" y="415331"/>
                  </a:lnTo>
                  <a:cubicBezTo>
                    <a:pt x="803389" y="337790"/>
                    <a:pt x="709984" y="288771"/>
                    <a:pt x="607310" y="288771"/>
                  </a:cubicBezTo>
                  <a:cubicBezTo>
                    <a:pt x="431908" y="288771"/>
                    <a:pt x="289484" y="431017"/>
                    <a:pt x="289484" y="606597"/>
                  </a:cubicBezTo>
                  <a:cubicBezTo>
                    <a:pt x="289305" y="782533"/>
                    <a:pt x="431552" y="923175"/>
                    <a:pt x="607132" y="923175"/>
                  </a:cubicBezTo>
                  <a:close/>
                </a:path>
              </a:pathLst>
            </a:custGeom>
            <a:noFill/>
            <a:ln w="6350">
              <a:solidFill>
                <a:schemeClr val="tx1">
                  <a:alpha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 algn="ctr">
                <a:lnSpc>
                  <a:spcPct val="120000"/>
                </a:lnSpc>
              </a:pPr>
            </a:p>
          </p:txBody>
        </p:sp>
        <p:sp>
          <p:nvSpPr>
            <p:cNvPr id="77" name="任意多边形: 形状 76" descr="394de5e0-3609-4be0-849a-88581a7f14ce"/>
            <p:cNvSpPr/>
            <p:nvPr>
              <p:custDataLst>
                <p:tags r:id="rId3"/>
              </p:custDataLst>
            </p:nvPr>
          </p:nvSpPr>
          <p:spPr>
            <a:xfrm>
              <a:off x="5464782" y="3359366"/>
              <a:ext cx="2477439" cy="2401459"/>
            </a:xfrm>
            <a:custGeom>
              <a:avLst/>
              <a:gdLst>
                <a:gd name="connsiteX0" fmla="*/ 645726 w 1252678"/>
                <a:gd name="connsiteY0" fmla="*/ 289305 h 1214262"/>
                <a:gd name="connsiteX1" fmla="*/ 445012 w 1252678"/>
                <a:gd name="connsiteY1" fmla="*/ 362033 h 1214262"/>
                <a:gd name="connsiteX2" fmla="*/ 239308 w 1252678"/>
                <a:gd name="connsiteY2" fmla="*/ 156507 h 1214262"/>
                <a:gd name="connsiteX3" fmla="*/ 645547 w 1252678"/>
                <a:gd name="connsiteY3" fmla="*/ 0 h 1214262"/>
                <a:gd name="connsiteX4" fmla="*/ 1252679 w 1252678"/>
                <a:gd name="connsiteY4" fmla="*/ 607132 h 1214262"/>
                <a:gd name="connsiteX5" fmla="*/ 645547 w 1252678"/>
                <a:gd name="connsiteY5" fmla="*/ 1214263 h 1214262"/>
                <a:gd name="connsiteX6" fmla="*/ 161767 w 1252678"/>
                <a:gd name="connsiteY6" fmla="*/ 972373 h 1214262"/>
                <a:gd name="connsiteX7" fmla="*/ 60519 w 1252678"/>
                <a:gd name="connsiteY7" fmla="*/ 1049913 h 1214262"/>
                <a:gd name="connsiteX8" fmla="*/ 28969 w 1252678"/>
                <a:gd name="connsiteY8" fmla="*/ 1054726 h 1214262"/>
                <a:gd name="connsiteX9" fmla="*/ 448 w 1252678"/>
                <a:gd name="connsiteY9" fmla="*/ 1013550 h 1214262"/>
                <a:gd name="connsiteX10" fmla="*/ 54280 w 1252678"/>
                <a:gd name="connsiteY10" fmla="*/ 631017 h 1214262"/>
                <a:gd name="connsiteX11" fmla="*/ 93853 w 1252678"/>
                <a:gd name="connsiteY11" fmla="*/ 600893 h 1214262"/>
                <a:gd name="connsiteX12" fmla="*/ 476385 w 1252678"/>
                <a:gd name="connsiteY12" fmla="*/ 654725 h 1214262"/>
                <a:gd name="connsiteX13" fmla="*/ 507936 w 1252678"/>
                <a:gd name="connsiteY13" fmla="*/ 694298 h 1214262"/>
                <a:gd name="connsiteX14" fmla="*/ 493675 w 1252678"/>
                <a:gd name="connsiteY14" fmla="*/ 721214 h 1214262"/>
                <a:gd name="connsiteX15" fmla="*/ 392427 w 1252678"/>
                <a:gd name="connsiteY15" fmla="*/ 798754 h 1214262"/>
                <a:gd name="connsiteX16" fmla="*/ 645369 w 1252678"/>
                <a:gd name="connsiteY16" fmla="*/ 925314 h 1214262"/>
                <a:gd name="connsiteX17" fmla="*/ 963195 w 1252678"/>
                <a:gd name="connsiteY17" fmla="*/ 607488 h 1214262"/>
                <a:gd name="connsiteX18" fmla="*/ 645726 w 1252678"/>
                <a:gd name="connsiteY18" fmla="*/ 289305 h 12142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52678" h="1214262">
                  <a:moveTo>
                    <a:pt x="645726" y="289305"/>
                  </a:moveTo>
                  <a:cubicBezTo>
                    <a:pt x="569790" y="289305"/>
                    <a:pt x="500271" y="317826"/>
                    <a:pt x="445012" y="362033"/>
                  </a:cubicBezTo>
                  <a:lnTo>
                    <a:pt x="239308" y="156507"/>
                  </a:lnTo>
                  <a:cubicBezTo>
                    <a:pt x="346795" y="60071"/>
                    <a:pt x="489041" y="0"/>
                    <a:pt x="645547" y="0"/>
                  </a:cubicBezTo>
                  <a:cubicBezTo>
                    <a:pt x="980664" y="0"/>
                    <a:pt x="1252679" y="271837"/>
                    <a:pt x="1252679" y="607132"/>
                  </a:cubicBezTo>
                  <a:cubicBezTo>
                    <a:pt x="1252679" y="942248"/>
                    <a:pt x="980842" y="1214263"/>
                    <a:pt x="645547" y="1214263"/>
                  </a:cubicBezTo>
                  <a:cubicBezTo>
                    <a:pt x="447864" y="1214263"/>
                    <a:pt x="272463" y="1119432"/>
                    <a:pt x="161767" y="972373"/>
                  </a:cubicBezTo>
                  <a:lnTo>
                    <a:pt x="60519" y="1049913"/>
                  </a:lnTo>
                  <a:cubicBezTo>
                    <a:pt x="51072" y="1054726"/>
                    <a:pt x="40020" y="1057756"/>
                    <a:pt x="28969" y="1054726"/>
                  </a:cubicBezTo>
                  <a:cubicBezTo>
                    <a:pt x="10074" y="1051518"/>
                    <a:pt x="-2582" y="1032623"/>
                    <a:pt x="448" y="1013550"/>
                  </a:cubicBezTo>
                  <a:lnTo>
                    <a:pt x="54280" y="631017"/>
                  </a:lnTo>
                  <a:cubicBezTo>
                    <a:pt x="57489" y="612123"/>
                    <a:pt x="74780" y="597862"/>
                    <a:pt x="93853" y="600893"/>
                  </a:cubicBezTo>
                  <a:cubicBezTo>
                    <a:pt x="221839" y="618361"/>
                    <a:pt x="348399" y="637256"/>
                    <a:pt x="476385" y="654725"/>
                  </a:cubicBezTo>
                  <a:cubicBezTo>
                    <a:pt x="495280" y="657934"/>
                    <a:pt x="509540" y="675224"/>
                    <a:pt x="507936" y="694298"/>
                  </a:cubicBezTo>
                  <a:cubicBezTo>
                    <a:pt x="507936" y="706954"/>
                    <a:pt x="503123" y="714797"/>
                    <a:pt x="493675" y="721214"/>
                  </a:cubicBezTo>
                  <a:lnTo>
                    <a:pt x="392427" y="798754"/>
                  </a:lnTo>
                  <a:cubicBezTo>
                    <a:pt x="450895" y="874690"/>
                    <a:pt x="542695" y="925314"/>
                    <a:pt x="645369" y="925314"/>
                  </a:cubicBezTo>
                  <a:cubicBezTo>
                    <a:pt x="820771" y="925314"/>
                    <a:pt x="963195" y="783068"/>
                    <a:pt x="963195" y="607488"/>
                  </a:cubicBezTo>
                  <a:cubicBezTo>
                    <a:pt x="963374" y="431552"/>
                    <a:pt x="821127" y="289305"/>
                    <a:pt x="645726" y="289305"/>
                  </a:cubicBezTo>
                  <a:close/>
                </a:path>
              </a:pathLst>
            </a:custGeom>
            <a:noFill/>
            <a:ln w="6350">
              <a:solidFill>
                <a:schemeClr val="tx1">
                  <a:alpha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 algn="ctr">
                <a:lnSpc>
                  <a:spcPct val="120000"/>
                </a:lnSpc>
              </a:pPr>
            </a:p>
          </p:txBody>
        </p:sp>
        <p:sp>
          <p:nvSpPr>
            <p:cNvPr id="3" name="Title" descr="ac4d9bec-982d-45a7-9c34-e4d4c75497b7"/>
            <p:cNvSpPr/>
            <p:nvPr/>
          </p:nvSpPr>
          <p:spPr>
            <a:xfrm>
              <a:off x="660400" y="1130301"/>
              <a:ext cx="10858500" cy="466042"/>
            </a:xfrm>
            <a:prstGeom prst="rect">
              <a:avLst/>
            </a:prstGeom>
            <a:noFill/>
            <a:ln w="762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 anchorCtr="0">
              <a:normAutofit/>
            </a:bodyPr>
            <a:lstStyle/>
            <a:p>
              <a:pPr algn="l">
                <a:lnSpc>
                  <a:spcPct val="110000"/>
                </a:lnSpc>
              </a:pPr>
              <a:r>
                <a:rPr lang="en-US" sz="2400" b="1" i="0" u="none">
                  <a:solidFill>
                    <a:srgbClr val="2F2F2F"/>
                  </a:solidFill>
                  <a:ea typeface="微软雅黑" panose="020B0503020204020204" charset="-122"/>
                </a:rPr>
                <a:t>感受主题变化</a:t>
              </a:r>
              <a:endParaRPr lang="en-US" sz="2400" b="1" i="0" u="none">
                <a:solidFill>
                  <a:srgbClr val="2F2F2F"/>
                </a:solidFill>
                <a:ea typeface="微软雅黑" panose="020B0503020204020204" charset="-122"/>
              </a:endParaRPr>
            </a:p>
          </p:txBody>
        </p:sp>
        <p:grpSp>
          <p:nvGrpSpPr>
            <p:cNvPr id="46" name="组合 45" descr="9cab613c-3911-4518-a441-6ff40dadccd6"/>
            <p:cNvGrpSpPr/>
            <p:nvPr/>
          </p:nvGrpSpPr>
          <p:grpSpPr>
            <a:xfrm>
              <a:off x="660400" y="1671070"/>
              <a:ext cx="3785668" cy="4463030"/>
              <a:chOff x="660400" y="1671070"/>
              <a:chExt cx="3785668" cy="4463030"/>
            </a:xfrm>
          </p:grpSpPr>
          <p:sp>
            <p:nvSpPr>
              <p:cNvPr id="4" name="Bullet1" descr="983dac98-7532-49db-b647-5cde7aa46a5c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660400" y="1671070"/>
                <a:ext cx="3325813" cy="3966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 lnSpcReduction="10000"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00" b="1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核心</a:t>
                </a:r>
                <a:r>
                  <a:rPr lang="zh-CN" altLang="en-US" sz="1800" b="1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词</a:t>
                </a:r>
                <a:r>
                  <a:rPr lang="en-US" sz="1800" b="1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图表</a:t>
                </a:r>
                <a:endParaRPr lang="en-US" sz="1800" b="1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5" name="Text1" descr="b8d2959f-29a1-4967-a552-96715ea3083e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660400" y="3311718"/>
                <a:ext cx="3325813" cy="28223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endParaRPr lang="en-US" sz="1200" b="0" i="0" u="none" strike="noStrik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9" name="Number1" descr="6080307e-e47c-4075-9dba-330b07b12874"/>
              <p:cNvSpPr/>
              <p:nvPr>
                <p:custDataLst>
                  <p:tags r:id="rId6"/>
                </p:custDataLst>
              </p:nvPr>
            </p:nvSpPr>
            <p:spPr>
              <a:xfrm flipH="1">
                <a:off x="4091586" y="3291670"/>
                <a:ext cx="354482" cy="354482"/>
              </a:xfrm>
              <a:prstGeom prst="ellipse">
                <a:avLst/>
              </a:prstGeom>
              <a:solidFill>
                <a:schemeClr val="bg1"/>
              </a:solidFill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 anchorCtr="0">
                <a:normAutofit/>
              </a:bodyPr>
              <a:lstStyle/>
              <a:p>
                <a:pPr algn="ctr"/>
                <a:r>
                  <a:rPr lang="en-US" sz="1000" b="1" i="0" u="none">
                    <a:solidFill>
                      <a:srgbClr val="00A8F5"/>
                    </a:solidFill>
                    <a:latin typeface="Arial" panose="020B0604020202020204"/>
                  </a:rPr>
                  <a:t>1</a:t>
                </a:r>
                <a:endParaRPr lang="en-US" sz="1000" b="1" i="0" u="none">
                  <a:solidFill>
                    <a:srgbClr val="00A8F5"/>
                  </a:solidFill>
                  <a:latin typeface="Arial" panose="020B0604020202020204"/>
                </a:endParaRPr>
              </a:p>
            </p:txBody>
          </p:sp>
        </p:grpSp>
        <p:grpSp>
          <p:nvGrpSpPr>
            <p:cNvPr id="47" name="组合 46" descr="4bed96e6-603f-4d3c-a3c8-47eaeb8b9376"/>
            <p:cNvGrpSpPr/>
            <p:nvPr/>
          </p:nvGrpSpPr>
          <p:grpSpPr>
            <a:xfrm>
              <a:off x="7019540" y="1672340"/>
              <a:ext cx="4592320" cy="3862705"/>
              <a:chOff x="7019540" y="1672340"/>
              <a:chExt cx="4592320" cy="3862705"/>
            </a:xfrm>
          </p:grpSpPr>
          <p:sp>
            <p:nvSpPr>
              <p:cNvPr id="24" name="Bullet2" descr="8e33f8d2-a2dd-43aa-bc60-48dcb5e84cf3"/>
              <p:cNvSpPr txBox="1"/>
              <p:nvPr>
                <p:custDataLst>
                  <p:tags r:id="rId7"/>
                </p:custDataLst>
              </p:nvPr>
            </p:nvSpPr>
            <p:spPr>
              <a:xfrm flipH="1">
                <a:off x="8192453" y="1672340"/>
                <a:ext cx="3325813" cy="3966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00" b="1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核心发现</a:t>
                </a:r>
                <a:endParaRPr lang="en-US" sz="1800" b="1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25" name="Text2" descr="ecd32a60-dfc4-4a67-a00f-3c6c87844d68"/>
              <p:cNvSpPr txBox="1"/>
              <p:nvPr>
                <p:custDataLst>
                  <p:tags r:id="rId8"/>
                </p:custDataLst>
              </p:nvPr>
            </p:nvSpPr>
            <p:spPr>
              <a:xfrm flipH="1">
                <a:off x="8285730" y="2144780"/>
                <a:ext cx="3326130" cy="3390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 lnSpcReduction="10000"/>
              </a:bodyPr>
              <a:lstStyle/>
              <a:p>
                <a:pPr algn="l">
                  <a:lnSpc>
                    <a:spcPct val="130000"/>
                  </a:lnSpc>
                </a:pPr>
                <a:r>
                  <a:rPr lang="zh-CN" altLang="en-US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十二部作品主题演变轨迹：</a:t>
                </a:r>
                <a:endParaRPr lang="zh-CN" altLang="en-US" sz="1200" b="0" i="0" u="none" strike="noStrike">
                  <a:solidFill>
                    <a:srgbClr val="2F2F2F"/>
                  </a:solidFill>
                  <a:ea typeface="微软雅黑" panose="020B0503020204020204" charset="-122"/>
                </a:endParaRPr>
              </a:p>
              <a:p>
                <a:pPr algn="l">
                  <a:lnSpc>
                    <a:spcPct val="130000"/>
                  </a:lnSpc>
                </a:pPr>
                <a:r>
                  <a:rPr lang="zh-CN" altLang="en-US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早期：理想共生借</a:t>
                </a:r>
                <a:r>
                  <a:rPr lang="en-US" altLang="zh-CN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 “</a:t>
                </a:r>
                <a:r>
                  <a:rPr lang="zh-CN" altLang="en-US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自然</a:t>
                </a:r>
                <a:r>
                  <a:rPr lang="en-US" altLang="zh-CN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 / </a:t>
                </a:r>
                <a:r>
                  <a:rPr lang="zh-CN" altLang="en-US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亲情</a:t>
                </a:r>
                <a:r>
                  <a:rPr lang="en-US" altLang="zh-CN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 / </a:t>
                </a:r>
                <a:r>
                  <a:rPr lang="zh-CN" altLang="en-US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成长</a:t>
                </a:r>
                <a:r>
                  <a:rPr lang="en-US" altLang="zh-CN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” </a:t>
                </a:r>
                <a:r>
                  <a:rPr lang="zh-CN" altLang="en-US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核心词，以《风之谷》的自然守护、《龙猫》的亲情治愈，构建</a:t>
                </a:r>
                <a:r>
                  <a:rPr lang="en-US" altLang="zh-CN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 “</a:t>
                </a:r>
                <a:r>
                  <a:rPr lang="zh-CN" altLang="en-US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自然</a:t>
                </a:r>
                <a:r>
                  <a:rPr lang="en-US" altLang="zh-CN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 - </a:t>
                </a:r>
                <a:r>
                  <a:rPr lang="zh-CN" altLang="en-US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个体</a:t>
                </a:r>
                <a:r>
                  <a:rPr lang="en-US" altLang="zh-CN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 - </a:t>
                </a:r>
                <a:r>
                  <a:rPr lang="zh-CN" altLang="en-US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情感</a:t>
                </a:r>
                <a:r>
                  <a:rPr lang="en-US" altLang="zh-CN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” </a:t>
                </a:r>
                <a:r>
                  <a:rPr lang="zh-CN" altLang="en-US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的善意联结乌托邦。</a:t>
                </a:r>
                <a:endParaRPr lang="zh-CN" altLang="en-US" sz="1200" b="0" i="0" u="none" strike="noStrike">
                  <a:solidFill>
                    <a:srgbClr val="2F2F2F"/>
                  </a:solidFill>
                  <a:ea typeface="微软雅黑" panose="020B0503020204020204" charset="-122"/>
                </a:endParaRPr>
              </a:p>
              <a:p>
                <a:pPr algn="l">
                  <a:lnSpc>
                    <a:spcPct val="130000"/>
                  </a:lnSpc>
                </a:pPr>
                <a:r>
                  <a:rPr lang="zh-CN" altLang="en-US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中期：现实冲突随</a:t>
                </a:r>
                <a:r>
                  <a:rPr lang="en-US" altLang="zh-CN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 “</a:t>
                </a:r>
                <a:r>
                  <a:rPr lang="zh-CN" altLang="en-US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战争</a:t>
                </a:r>
                <a:r>
                  <a:rPr lang="en-US" altLang="zh-CN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 / </a:t>
                </a:r>
                <a:r>
                  <a:rPr lang="zh-CN" altLang="en-US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杀</a:t>
                </a:r>
                <a:r>
                  <a:rPr lang="en-US" altLang="zh-CN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” </a:t>
                </a:r>
                <a:r>
                  <a:rPr lang="zh-CN" altLang="en-US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核心词出现，以《幽灵公主》的自然</a:t>
                </a:r>
                <a:r>
                  <a:rPr lang="en-US" altLang="zh-CN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 - </a:t>
                </a:r>
                <a:r>
                  <a:rPr lang="zh-CN" altLang="en-US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人类矛盾、《千与千寻》的困境救赎，转向现实挣扎的辩证叙事。</a:t>
                </a:r>
                <a:endParaRPr lang="zh-CN" altLang="en-US" sz="1200" b="0" i="0" u="none" strike="noStrike">
                  <a:solidFill>
                    <a:srgbClr val="2F2F2F"/>
                  </a:solidFill>
                  <a:ea typeface="微软雅黑" panose="020B0503020204020204" charset="-122"/>
                </a:endParaRPr>
              </a:p>
              <a:p>
                <a:pPr algn="l">
                  <a:lnSpc>
                    <a:spcPct val="130000"/>
                  </a:lnSpc>
                </a:pPr>
                <a:r>
                  <a:rPr lang="zh-CN" altLang="en-US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后期：现实承担凭</a:t>
                </a:r>
                <a:r>
                  <a:rPr lang="en-US" altLang="zh-CN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 “</a:t>
                </a:r>
                <a:r>
                  <a:rPr lang="zh-CN" altLang="en-US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战争</a:t>
                </a:r>
                <a:r>
                  <a:rPr lang="en-US" altLang="zh-CN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 / </a:t>
                </a:r>
                <a:r>
                  <a:rPr lang="zh-CN" altLang="en-US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死亡</a:t>
                </a:r>
                <a:r>
                  <a:rPr lang="en-US" altLang="zh-CN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 / </a:t>
                </a:r>
                <a:r>
                  <a:rPr lang="zh-CN" altLang="en-US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救赎</a:t>
                </a:r>
                <a:r>
                  <a:rPr lang="en-US" altLang="zh-CN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” </a:t>
                </a:r>
                <a:r>
                  <a:rPr lang="zh-CN" altLang="en-US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核心词，以《起风了》的梦想</a:t>
                </a:r>
                <a:r>
                  <a:rPr lang="en-US" altLang="zh-CN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 - </a:t>
                </a:r>
                <a:r>
                  <a:rPr lang="zh-CN" altLang="en-US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战争权衡、《你想活出怎样的人生》的创伤和解，落足现实创伤下的生命责任。</a:t>
                </a:r>
                <a:endParaRPr lang="zh-CN" altLang="en-US" sz="1200" b="0" i="0" u="none" strike="noStrike">
                  <a:solidFill>
                    <a:srgbClr val="2F2F2F"/>
                  </a:solidFill>
                  <a:ea typeface="微软雅黑" panose="020B0503020204020204" charset="-122"/>
                </a:endParaRPr>
              </a:p>
              <a:p>
                <a:pPr algn="l">
                  <a:lnSpc>
                    <a:spcPct val="130000"/>
                  </a:lnSpc>
                </a:pPr>
                <a:r>
                  <a:rPr lang="zh-CN" altLang="en-US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内核始终锚定</a:t>
                </a:r>
                <a:r>
                  <a:rPr lang="en-US" altLang="zh-CN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 “</a:t>
                </a:r>
                <a:r>
                  <a:rPr lang="zh-CN" altLang="en-US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自然、情感、生命</a:t>
                </a:r>
                <a:r>
                  <a:rPr lang="en-US" altLang="zh-CN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”</a:t>
                </a:r>
                <a:r>
                  <a:rPr lang="zh-CN" altLang="en-US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，从</a:t>
                </a:r>
                <a:r>
                  <a:rPr lang="en-US" altLang="zh-CN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 “</a:t>
                </a:r>
                <a:r>
                  <a:rPr lang="zh-CN" altLang="en-US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理想联结</a:t>
                </a:r>
                <a:r>
                  <a:rPr lang="en-US" altLang="zh-CN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” </a:t>
                </a:r>
                <a:r>
                  <a:rPr lang="zh-CN" altLang="en-US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沉为</a:t>
                </a:r>
                <a:r>
                  <a:rPr lang="en-US" altLang="zh-CN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 “</a:t>
                </a:r>
                <a:r>
                  <a:rPr lang="zh-CN" altLang="en-US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现实承担</a:t>
                </a:r>
                <a:r>
                  <a:rPr lang="en-US" altLang="zh-CN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”</a:t>
                </a:r>
                <a:r>
                  <a:rPr lang="zh-CN" altLang="en-US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rPr>
                  <a:t>。</a:t>
                </a:r>
                <a:endParaRPr lang="zh-CN" altLang="en-US" sz="1200" b="0" i="0" u="none" strike="noStrik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23" name="Number2" descr="b0df130c-c22f-46f6-a1b8-f6e24e17ec57"/>
              <p:cNvSpPr/>
              <p:nvPr>
                <p:custDataLst>
                  <p:tags r:id="rId9"/>
                </p:custDataLst>
              </p:nvPr>
            </p:nvSpPr>
            <p:spPr>
              <a:xfrm>
                <a:off x="7019540" y="3291670"/>
                <a:ext cx="354482" cy="354482"/>
              </a:xfrm>
              <a:prstGeom prst="ellipse">
                <a:avLst/>
              </a:prstGeom>
              <a:solidFill>
                <a:schemeClr val="bg1"/>
              </a:solidFill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 anchorCtr="0">
                <a:normAutofit/>
              </a:bodyPr>
              <a:lstStyle/>
              <a:p>
                <a:pPr algn="ctr"/>
                <a:r>
                  <a:rPr lang="en-US" sz="1000" b="1" i="0" u="none">
                    <a:solidFill>
                      <a:srgbClr val="00A8F5"/>
                    </a:solidFill>
                    <a:latin typeface="Arial" panose="020B0604020202020204"/>
                  </a:rPr>
                  <a:t>2</a:t>
                </a:r>
                <a:endParaRPr lang="en-US" sz="1000" b="1" i="0" u="none">
                  <a:solidFill>
                    <a:srgbClr val="00A8F5"/>
                  </a:solidFill>
                  <a:latin typeface="Arial" panose="020B0604020202020204"/>
                </a:endParaRPr>
              </a:p>
            </p:txBody>
          </p:sp>
        </p:grpSp>
      </p:grpSp>
      <p:sp>
        <p:nvSpPr>
          <p:cNvPr id="2" name="标题 1" descr="6e191eb5-7da3-4a4d-bdfb-9524e0e49c7c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2F2F2F"/>
                </a:solidFill>
                <a:ea typeface="微软雅黑" panose="020B0503020204020204" charset="-122"/>
              </a:rPr>
              <a:t>主题</a:t>
            </a:r>
            <a:r>
              <a:rPr lang="zh-CN" altLang="en-US" sz="2800" b="1" i="0" u="none">
                <a:solidFill>
                  <a:srgbClr val="2F2F2F"/>
                </a:solidFill>
                <a:ea typeface="微软雅黑" panose="020B0503020204020204" charset="-122"/>
              </a:rPr>
              <a:t>的</a:t>
            </a:r>
            <a:r>
              <a:rPr lang="en-US" sz="2800" b="1" i="0" u="none">
                <a:solidFill>
                  <a:srgbClr val="2F2F2F"/>
                </a:solidFill>
                <a:ea typeface="微软雅黑" panose="020B0503020204020204" charset="-122"/>
              </a:rPr>
              <a:t>演变</a:t>
            </a:r>
            <a:endParaRPr lang="en-US" sz="2800" b="1" i="0" u="none">
              <a:solidFill>
                <a:srgbClr val="2F2F2F"/>
              </a:solidFill>
              <a:ea typeface="微软雅黑" panose="020B0503020204020204" charset="-122"/>
            </a:endParaRPr>
          </a:p>
        </p:txBody>
      </p:sp>
      <p:pic>
        <p:nvPicPr>
          <p:cNvPr id="6" name="图片 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8355" y="2067560"/>
            <a:ext cx="2098675" cy="3591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4eda1e78-9da9-4086-8953-14b97d158819.source.2.zh-Hans.pptx" descr="5e505001-32fa-4b26-a04a-4dfad2314a83"/>
          <p:cNvGrpSpPr/>
          <p:nvPr>
            <p:custDataLst>
              <p:tags r:id="rId1"/>
            </p:custDataLst>
          </p:nvPr>
        </p:nvGrpSpPr>
        <p:grpSpPr>
          <a:xfrm>
            <a:off x="660400" y="1536699"/>
            <a:ext cx="10858500" cy="4597401"/>
            <a:chOff x="660400" y="1536699"/>
            <a:chExt cx="10858500" cy="4597401"/>
          </a:xfrm>
        </p:grpSpPr>
        <p:sp>
          <p:nvSpPr>
            <p:cNvPr id="2" name="Title" descr="c20192e3-fc33-4ffa-a850-12c61bc1c9dc"/>
            <p:cNvSpPr/>
            <p:nvPr/>
          </p:nvSpPr>
          <p:spPr>
            <a:xfrm>
              <a:off x="660400" y="1536699"/>
              <a:ext cx="2783444" cy="3240186"/>
            </a:xfrm>
            <a:prstGeom prst="roundRect">
              <a:avLst>
                <a:gd name="adj" fmla="val 0"/>
              </a:avLst>
            </a:prstGeom>
            <a:noFill/>
          </p:spPr>
          <p:txBody>
            <a:bodyPr wrap="square" lIns="91440" tIns="45720" rIns="91440" bIns="45720" anchor="ctr" anchorCtr="0">
              <a:normAutofit/>
            </a:bodyPr>
            <a:lstStyle/>
            <a:p>
              <a:pPr algn="l"/>
              <a:r>
                <a:rPr lang="en-US" sz="2400" b="1" i="0" u="none">
                  <a:solidFill>
                    <a:srgbClr val="2F2F2F"/>
                  </a:solidFill>
                  <a:ea typeface="微软雅黑" panose="020B0503020204020204" charset="-122"/>
                </a:rPr>
                <a:t>聚焦</a:t>
              </a:r>
              <a:r>
                <a:rPr lang="zh-CN" altLang="en-US" sz="2400" b="1" i="0" u="none">
                  <a:solidFill>
                    <a:srgbClr val="2F2F2F"/>
                  </a:solidFill>
                  <a:ea typeface="微软雅黑" panose="020B0503020204020204" charset="-122"/>
                </a:rPr>
                <a:t>成功原因</a:t>
              </a:r>
              <a:endParaRPr lang="zh-CN" altLang="en-US" sz="2400" b="1" i="0" u="none">
                <a:solidFill>
                  <a:srgbClr val="2F2F2F"/>
                </a:solidFill>
                <a:ea typeface="微软雅黑" panose="020B0503020204020204" charset="-122"/>
              </a:endParaRPr>
            </a:p>
          </p:txBody>
        </p:sp>
        <p:cxnSp>
          <p:nvCxnSpPr>
            <p:cNvPr id="13" name="连接符: 肘形 12" descr="c9e86b24-d766-47e3-b327-b80f8367b687"/>
            <p:cNvCxnSpPr>
              <a:stCxn id="2" idx="3"/>
              <a:endCxn id="7" idx="3"/>
            </p:cNvCxnSpPr>
            <p:nvPr>
              <p:custDataLst>
                <p:tags r:id="rId2"/>
              </p:custDataLst>
            </p:nvPr>
          </p:nvCxnSpPr>
          <p:spPr>
            <a:xfrm>
              <a:off x="3443844" y="3156792"/>
              <a:ext cx="641268" cy="1344692"/>
            </a:xfrm>
            <a:prstGeom prst="bentConnector3">
              <a:avLst>
                <a:gd name="adj1" fmla="val 50000"/>
              </a:avLst>
            </a:prstGeom>
            <a:ln w="6350">
              <a:solidFill>
                <a:schemeClr val="tx1">
                  <a:alpha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连接符: 肘形 13" descr="11f3a1bd-9cd4-4ee1-848a-11cb9b0829a2"/>
            <p:cNvCxnSpPr>
              <a:stCxn id="2" idx="3"/>
              <a:endCxn id="4" idx="3"/>
            </p:cNvCxnSpPr>
            <p:nvPr>
              <p:custDataLst>
                <p:tags r:id="rId3"/>
              </p:custDataLst>
            </p:nvPr>
          </p:nvCxnSpPr>
          <p:spPr>
            <a:xfrm flipV="1">
              <a:off x="3443844" y="1812100"/>
              <a:ext cx="641268" cy="1344692"/>
            </a:xfrm>
            <a:prstGeom prst="bentConnector3">
              <a:avLst>
                <a:gd name="adj1" fmla="val 50000"/>
              </a:avLst>
            </a:prstGeom>
            <a:ln w="6350">
              <a:solidFill>
                <a:schemeClr val="tx1">
                  <a:alpha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组合 9" descr="ed168481-5726-4997-86bb-98b1b6788850"/>
            <p:cNvGrpSpPr/>
            <p:nvPr/>
          </p:nvGrpSpPr>
          <p:grpSpPr>
            <a:xfrm>
              <a:off x="4085112" y="1536700"/>
              <a:ext cx="7433784" cy="2612390"/>
              <a:chOff x="4085112" y="1130300"/>
              <a:chExt cx="7433784" cy="2612390"/>
            </a:xfrm>
          </p:grpSpPr>
          <p:sp>
            <p:nvSpPr>
              <p:cNvPr id="4" name="Bullet1" descr="695778cf-abd0-4614-b94b-cdd95d9a402b"/>
              <p:cNvSpPr/>
              <p:nvPr>
                <p:custDataLst>
                  <p:tags r:id="rId4"/>
                </p:custDataLst>
              </p:nvPr>
            </p:nvSpPr>
            <p:spPr>
              <a:xfrm flipH="1">
                <a:off x="4085112" y="1130300"/>
                <a:ext cx="7433784" cy="550800"/>
              </a:xfrm>
              <a:prstGeom prst="roundRect">
                <a:avLst>
                  <a:gd name="adj" fmla="val 9201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800" b="1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核心图表</a:t>
                </a:r>
                <a:endParaRPr lang="en-US" sz="1800" b="1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5" name="Text1" descr="4cbaa856-fc33-43b9-9eac-8431c7fa7609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4085112" y="1788160"/>
                <a:ext cx="2394585" cy="1954530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wrap="square" rtlCol="0" anchor="t" anchorCtr="0">
                <a:norm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lnSpc>
                    <a:spcPct val="150000"/>
                  </a:lnSpc>
                  <a:defRPr sz="120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altLang="zh-CN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“</a:t>
                </a:r>
                <a:r>
                  <a:rPr lang="zh-CN" alt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中性平衡</a:t>
                </a:r>
                <a:r>
                  <a:rPr lang="en-US" altLang="zh-CN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”</a:t>
                </a:r>
                <a:r>
                  <a:rPr lang="zh-CN" alt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的量化证明：</a:t>
                </a:r>
                <a:r>
                  <a:rPr lang="en-US" altLang="zh-CN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67.9% </a:t>
                </a:r>
                <a:r>
                  <a:rPr lang="zh-CN" alt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的中性台词占比，是所有</a:t>
                </a:r>
                <a:r>
                  <a:rPr lang="en-US" altLang="zh-CN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12</a:t>
                </a:r>
                <a:r>
                  <a:rPr lang="zh-CN" alt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部作品中最高之一。这数据直接支撑了其情感基调是在严苛规则下的生存智慧，而非情绪宣泄。平均每</a:t>
                </a:r>
                <a:r>
                  <a:rPr lang="en-US" altLang="zh-CN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1</a:t>
                </a:r>
                <a:r>
                  <a:rPr lang="zh-CN" alt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句台词发生一次主题转换，也说明了叙事节奏紧凑、信息密度高。</a:t>
                </a:r>
                <a:endParaRPr lang="zh-CN" altLang="en-US" sz="12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  <a:p>
                <a:pPr algn="l">
                  <a:lnSpc>
                    <a:spcPct val="120000"/>
                  </a:lnSpc>
                </a:pPr>
                <a:endParaRPr lang="en-US" altLang="zh-CN" sz="12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  <a:p>
                <a:pPr algn="l">
                  <a:lnSpc>
                    <a:spcPct val="120000"/>
                  </a:lnSpc>
                </a:pPr>
                <a:endParaRPr lang="en-US" sz="12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11" name="组合 10" descr="7f79761f-24f5-4cad-924f-951712b07276"/>
            <p:cNvGrpSpPr/>
            <p:nvPr/>
          </p:nvGrpSpPr>
          <p:grpSpPr>
            <a:xfrm>
              <a:off x="4085112" y="4226084"/>
              <a:ext cx="7433788" cy="1908016"/>
              <a:chOff x="4085112" y="3819684"/>
              <a:chExt cx="7433788" cy="1908016"/>
            </a:xfrm>
          </p:grpSpPr>
          <p:sp>
            <p:nvSpPr>
              <p:cNvPr id="7" name="Bullet2" descr="8b098b07-d0ca-4bb6-b44b-88dd8ec88001"/>
              <p:cNvSpPr/>
              <p:nvPr>
                <p:custDataLst>
                  <p:tags r:id="rId6"/>
                </p:custDataLst>
              </p:nvPr>
            </p:nvSpPr>
            <p:spPr>
              <a:xfrm flipH="1">
                <a:off x="4085112" y="3819684"/>
                <a:ext cx="7433784" cy="550800"/>
              </a:xfrm>
              <a:prstGeom prst="roundRect">
                <a:avLst>
                  <a:gd name="adj" fmla="val 7957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800" b="1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核心发现</a:t>
                </a:r>
                <a:endParaRPr lang="en-US" sz="1800" b="1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8" name="Text2" descr="da89428b-15ab-4e74-a5eb-4e92f5b12b98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4085116" y="4477405"/>
                <a:ext cx="7433784" cy="1250295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wrap="square" rtlCol="0" anchor="t" anchorCtr="0">
                <a:no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lnSpc>
                    <a:spcPct val="150000"/>
                  </a:lnSpc>
                  <a:defRPr sz="120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zh-CN" altLang="en-US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《千与千寻》的</a:t>
                </a:r>
                <a:r>
                  <a:rPr lang="en-US" altLang="zh-CN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 “</a:t>
                </a:r>
                <a:r>
                  <a:rPr lang="zh-CN" altLang="en-US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中性平衡</a:t>
                </a:r>
                <a:r>
                  <a:rPr lang="en-US" altLang="zh-CN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 + </a:t>
                </a:r>
                <a:r>
                  <a:rPr lang="zh-CN" altLang="en-US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紧凑叙事</a:t>
                </a:r>
                <a:r>
                  <a:rPr lang="en-US" altLang="zh-CN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” </a:t>
                </a:r>
                <a:r>
                  <a:rPr lang="zh-CN" altLang="en-US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是其成为巅峰之作的关键数据支撑：</a:t>
                </a:r>
                <a:endParaRPr lang="zh-CN" altLang="en-US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  <a:p>
                <a:pPr algn="l">
                  <a:lnSpc>
                    <a:spcPct val="120000"/>
                  </a:lnSpc>
                </a:pPr>
                <a:r>
                  <a:rPr lang="zh-CN" altLang="en-US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情感克制，锚定现实内核：</a:t>
                </a:r>
                <a:r>
                  <a:rPr lang="en-US" altLang="zh-CN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67.9% </a:t>
                </a:r>
                <a:r>
                  <a:rPr lang="zh-CN" altLang="en-US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的中性台词占比（</a:t>
                </a:r>
                <a:r>
                  <a:rPr lang="en-US" altLang="zh-CN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12 </a:t>
                </a:r>
                <a:r>
                  <a:rPr lang="zh-CN" altLang="en-US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部作品最高梯队），让情感基调脱离</a:t>
                </a:r>
                <a:r>
                  <a:rPr lang="en-US" altLang="zh-CN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 “</a:t>
                </a:r>
                <a:r>
                  <a:rPr lang="zh-CN" altLang="en-US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情绪宣泄</a:t>
                </a:r>
                <a:r>
                  <a:rPr lang="en-US" altLang="zh-CN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”</a:t>
                </a:r>
                <a:r>
                  <a:rPr lang="zh-CN" altLang="en-US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，转向</a:t>
                </a:r>
                <a:r>
                  <a:rPr lang="en-US" altLang="zh-CN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 “</a:t>
                </a:r>
                <a:r>
                  <a:rPr lang="zh-CN" altLang="en-US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严苛规则下的生存智慧</a:t>
                </a:r>
                <a:r>
                  <a:rPr lang="en-US" altLang="zh-CN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”</a:t>
                </a:r>
                <a:r>
                  <a:rPr lang="zh-CN" altLang="en-US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，精准贴合</a:t>
                </a:r>
                <a:r>
                  <a:rPr lang="en-US" altLang="zh-CN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 “</a:t>
                </a:r>
                <a:r>
                  <a:rPr lang="zh-CN" altLang="en-US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现实困境中成长</a:t>
                </a:r>
                <a:r>
                  <a:rPr lang="en-US" altLang="zh-CN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” </a:t>
                </a:r>
                <a:r>
                  <a:rPr lang="zh-CN" altLang="en-US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的核心主题；</a:t>
                </a:r>
                <a:endParaRPr lang="zh-CN" altLang="en-US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  <a:p>
                <a:pPr algn="l">
                  <a:lnSpc>
                    <a:spcPct val="120000"/>
                  </a:lnSpc>
                </a:pPr>
                <a:r>
                  <a:rPr lang="zh-CN" altLang="en-US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节奏紧凑，强化代入感：平均每</a:t>
                </a:r>
                <a:r>
                  <a:rPr lang="en-US" altLang="zh-CN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 1 </a:t>
                </a:r>
                <a:r>
                  <a:rPr lang="zh-CN" altLang="en-US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句台词完成一次主题转换，高信息密度的叙事节奏，既匹配神隐世界的规则压迫感，也让</a:t>
                </a:r>
                <a:r>
                  <a:rPr lang="en-US" altLang="zh-CN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 “</a:t>
                </a:r>
                <a:r>
                  <a:rPr lang="zh-CN" altLang="en-US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救赎与成长</a:t>
                </a:r>
                <a:r>
                  <a:rPr lang="en-US" altLang="zh-CN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” </a:t>
                </a:r>
                <a:r>
                  <a:rPr lang="zh-CN" altLang="en-US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的叙事更具张力；</a:t>
                </a:r>
                <a:endParaRPr lang="zh-CN" altLang="en-US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  <a:p>
                <a:pPr algn="l">
                  <a:lnSpc>
                    <a:spcPct val="120000"/>
                  </a:lnSpc>
                </a:pPr>
                <a:r>
                  <a:rPr lang="zh-CN" altLang="en-US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这种</a:t>
                </a:r>
                <a:r>
                  <a:rPr lang="en-US" altLang="zh-CN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 “</a:t>
                </a:r>
                <a:r>
                  <a:rPr lang="zh-CN" altLang="en-US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中性表达承载现实议题</a:t>
                </a:r>
                <a:r>
                  <a:rPr lang="en-US" altLang="zh-CN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 + </a:t>
                </a:r>
                <a:r>
                  <a:rPr lang="zh-CN" altLang="en-US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快节奏叙事传递紧张感</a:t>
                </a:r>
                <a:r>
                  <a:rPr lang="en-US" altLang="zh-CN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” </a:t>
                </a:r>
                <a:r>
                  <a:rPr lang="zh-CN" altLang="en-US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的组合，既承接了中期</a:t>
                </a:r>
                <a:r>
                  <a:rPr lang="en-US" altLang="zh-CN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 “</a:t>
                </a:r>
                <a:r>
                  <a:rPr lang="zh-CN" altLang="en-US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现实冲突</a:t>
                </a:r>
                <a:r>
                  <a:rPr lang="en-US" altLang="zh-CN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” </a:t>
                </a:r>
                <a:r>
                  <a:rPr lang="zh-CN" altLang="en-US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的内核转向，又以克制且紧凑的文本特质，让现实议题更易引发广泛共鸣。</a:t>
                </a:r>
                <a:endParaRPr lang="zh-CN" altLang="en-US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6" name="标题 5" descr="6e191eb5-7da3-4a4d-bdfb-9524e0e49c7c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2800" b="1" i="0" u="none">
                <a:solidFill>
                  <a:srgbClr val="2F2F2F"/>
                </a:solidFill>
                <a:ea typeface="微软雅黑" panose="020B0503020204020204" charset="-122"/>
              </a:rPr>
              <a:t>巅峰之作</a:t>
            </a:r>
            <a:r>
              <a:rPr lang="en-US" sz="2800" b="1" i="0" u="none">
                <a:solidFill>
                  <a:srgbClr val="2F2F2F"/>
                </a:solidFill>
                <a:ea typeface="微软雅黑" panose="020B0503020204020204" charset="-122"/>
              </a:rPr>
              <a:t>：《</a:t>
            </a:r>
            <a:r>
              <a:rPr lang="zh-CN" altLang="en-US" sz="2800" b="1" i="0" u="none">
                <a:solidFill>
                  <a:srgbClr val="2F2F2F"/>
                </a:solidFill>
                <a:ea typeface="微软雅黑" panose="020B0503020204020204" charset="-122"/>
              </a:rPr>
              <a:t>千与千寻</a:t>
            </a:r>
            <a:r>
              <a:rPr lang="en-US" sz="2800" b="1" i="0" u="none">
                <a:solidFill>
                  <a:srgbClr val="2F2F2F"/>
                </a:solidFill>
                <a:ea typeface="微软雅黑" panose="020B0503020204020204" charset="-122"/>
              </a:rPr>
              <a:t>》的数据肖像</a:t>
            </a:r>
            <a:endParaRPr lang="en-US" sz="2800" b="1" i="0" u="none">
              <a:solidFill>
                <a:srgbClr val="2F2F2F"/>
              </a:solidFill>
              <a:ea typeface="微软雅黑" panose="020B050302020402020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9540" y="2194560"/>
            <a:ext cx="2590165" cy="197612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88120" y="2194560"/>
            <a:ext cx="2425700" cy="56388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4e32ad23-715b-4039-ab6b-4f0f987c817e.source.2.zh-Hans.pptx" descr="5be420bc-7583-4414-a250-c3b901d0d983"/>
          <p:cNvGrpSpPr/>
          <p:nvPr>
            <p:custDataLst>
              <p:tags r:id="rId1"/>
            </p:custDataLst>
          </p:nvPr>
        </p:nvGrpSpPr>
        <p:grpSpPr>
          <a:xfrm>
            <a:off x="660400" y="1130299"/>
            <a:ext cx="10858500" cy="4241801"/>
            <a:chOff x="660400" y="1130299"/>
            <a:chExt cx="10858500" cy="4241801"/>
          </a:xfrm>
        </p:grpSpPr>
        <p:sp>
          <p:nvSpPr>
            <p:cNvPr id="192" name="Title" descr="1c123e1c-03a5-481d-8a36-503b1bf238bd"/>
            <p:cNvSpPr/>
            <p:nvPr/>
          </p:nvSpPr>
          <p:spPr>
            <a:xfrm>
              <a:off x="660400" y="1130299"/>
              <a:ext cx="10858500" cy="1098551"/>
            </a:xfrm>
            <a:prstGeom prst="rect">
              <a:avLst/>
            </a:prstGeom>
          </p:spPr>
          <p:txBody>
            <a:bodyPr wrap="square" anchor="t" anchorCtr="1">
              <a:normAutofit/>
            </a:bodyPr>
            <a:lstStyle/>
            <a:p>
              <a:pPr algn="ctr"/>
              <a:r>
                <a:rPr lang="en-US" sz="2400" b="1" i="0" u="none">
                  <a:solidFill>
                    <a:srgbClr val="00A8F5"/>
                  </a:solidFill>
                  <a:ea typeface="微软雅黑" panose="020B0503020204020204" charset="-122"/>
                </a:rPr>
                <a:t>解读希望之作</a:t>
              </a:r>
              <a:endParaRPr lang="en-US" sz="2400" b="1" i="0" u="none">
                <a:solidFill>
                  <a:srgbClr val="00A8F5"/>
                </a:solidFill>
                <a:ea typeface="微软雅黑" panose="020B0503020204020204" charset="-122"/>
              </a:endParaRPr>
            </a:p>
          </p:txBody>
        </p:sp>
        <p:grpSp>
          <p:nvGrpSpPr>
            <p:cNvPr id="201" name="组合 200" descr="3431bbcf-35b4-4425-8bf5-7c3b6e9a01e0"/>
            <p:cNvGrpSpPr/>
            <p:nvPr/>
          </p:nvGrpSpPr>
          <p:grpSpPr>
            <a:xfrm>
              <a:off x="660547" y="1666893"/>
              <a:ext cx="4355954" cy="3705207"/>
              <a:chOff x="660547" y="1666893"/>
              <a:chExt cx="4355954" cy="3705207"/>
            </a:xfrm>
          </p:grpSpPr>
          <p:sp>
            <p:nvSpPr>
              <p:cNvPr id="198" name="Text1" descr="698cb223-7a2c-49cd-b8ab-fb98b4bf346f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2268458" y="3555615"/>
                <a:ext cx="2748041" cy="1816485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zh-CN"/>
                </a:defPPr>
                <a:lvl1pPr algn="ctr">
                  <a:lnSpc>
                    <a:spcPct val="150000"/>
                  </a:lnSpc>
                  <a:defRPr sz="1200">
                    <a:solidFill>
                      <a:schemeClr val="bg1">
                        <a:lumMod val="50000"/>
                      </a:schemeClr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endParaRPr lang="en-US" sz="12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99" name="Bullet1" descr="b1aec299-5a19-4bc1-9a26-00a6802f212a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2268459" y="1666893"/>
                <a:ext cx="2748042" cy="562111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rtlCol="0" anchor="b" anchorCtr="0">
                <a:normAutofit/>
              </a:bodyPr>
              <a:lstStyle/>
              <a:p>
                <a:pPr algn="l"/>
                <a:r>
                  <a:rPr lang="en-US" sz="1800" b="1" i="0" u="sng">
                    <a:solidFill>
                      <a:srgbClr val="00A8F5"/>
                    </a:solidFill>
                    <a:ea typeface="微软雅黑" panose="020B0503020204020204" charset="-122"/>
                  </a:rPr>
                  <a:t>核心图表</a:t>
                </a:r>
                <a:endParaRPr lang="en-US" sz="1800" b="1" i="0" u="sng">
                  <a:solidFill>
                    <a:srgbClr val="00A8F5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200" name="Number1" descr="92a799db-c49a-4333-823f-d2160b75ea7e"/>
              <p:cNvSpPr/>
              <p:nvPr>
                <p:custDataLst>
                  <p:tags r:id="rId4"/>
                </p:custDataLst>
              </p:nvPr>
            </p:nvSpPr>
            <p:spPr>
              <a:xfrm>
                <a:off x="660547" y="1666991"/>
                <a:ext cx="745978" cy="562111"/>
              </a:xfrm>
              <a:prstGeom prst="rect">
                <a:avLst/>
              </a:prstGeom>
              <a:solidFill>
                <a:schemeClr val="accent1"/>
              </a:solidFill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lnSpcReduction="10000"/>
              </a:bodyPr>
              <a:lstStyle/>
              <a:p>
                <a:pPr algn="l"/>
                <a:r>
                  <a:rPr lang="en-US" sz="3200" b="1" i="0" u="none">
                    <a:solidFill>
                      <a:srgbClr val="FFFFFF"/>
                    </a:solidFill>
                    <a:latin typeface="Arial" panose="020B0604020202020204"/>
                  </a:rPr>
                  <a:t>01</a:t>
                </a:r>
                <a:endParaRPr lang="en-US" sz="32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</p:grpSp>
        <p:grpSp>
          <p:nvGrpSpPr>
            <p:cNvPr id="202" name="组合 201" descr="2d088e29-67cf-447b-955b-0d9df0c785d4"/>
            <p:cNvGrpSpPr/>
            <p:nvPr/>
          </p:nvGrpSpPr>
          <p:grpSpPr>
            <a:xfrm>
              <a:off x="6854972" y="1666893"/>
              <a:ext cx="4359129" cy="2591417"/>
              <a:chOff x="6854972" y="1666893"/>
              <a:chExt cx="4359129" cy="2591417"/>
            </a:xfrm>
          </p:grpSpPr>
          <p:sp>
            <p:nvSpPr>
              <p:cNvPr id="195" name="Text2" descr="a033e00c-e35f-451d-861b-ead6a29fc8c8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8466058" y="2441825"/>
                <a:ext cx="2748041" cy="1816485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Autofit/>
              </a:bodyPr>
              <a:lstStyle>
                <a:defPPr>
                  <a:defRPr lang="zh-CN"/>
                </a:defPPr>
                <a:lvl1pPr algn="ctr">
                  <a:lnSpc>
                    <a:spcPct val="150000"/>
                  </a:lnSpc>
                  <a:defRPr sz="1200">
                    <a:solidFill>
                      <a:schemeClr val="bg1">
                        <a:lumMod val="50000"/>
                      </a:schemeClr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zh-CN" altLang="en-US" sz="13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《起风了》作为后期作品：</a:t>
                </a:r>
                <a:endParaRPr lang="zh-CN" altLang="en-US" sz="13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  <a:p>
                <a:pPr algn="l">
                  <a:lnSpc>
                    <a:spcPct val="120000"/>
                  </a:lnSpc>
                </a:pPr>
                <a:r>
                  <a:rPr lang="zh-CN" altLang="en-US" sz="13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情感叙事曲线虽有波动，却锚定正向区间，情感强度达后期峰值，满含理想主义热情；</a:t>
                </a:r>
                <a:endParaRPr lang="zh-CN" altLang="en-US" sz="13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  <a:p>
                <a:pPr algn="l">
                  <a:lnSpc>
                    <a:spcPct val="120000"/>
                  </a:lnSpc>
                </a:pPr>
                <a:r>
                  <a:rPr lang="zh-CN" altLang="en-US" sz="13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高置信主题聚焦</a:t>
                </a:r>
                <a:r>
                  <a:rPr lang="en-US" altLang="zh-CN" sz="13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 “</a:t>
                </a:r>
                <a:r>
                  <a:rPr lang="zh-CN" altLang="en-US" sz="13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梦想</a:t>
                </a:r>
                <a:r>
                  <a:rPr lang="en-US" altLang="zh-CN" sz="13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”</a:t>
                </a:r>
                <a:r>
                  <a:rPr lang="zh-CN" altLang="en-US" sz="13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，即便承载战争的沉重，仍以强情感托举理想内核，是后期</a:t>
                </a:r>
                <a:r>
                  <a:rPr lang="en-US" altLang="zh-CN" sz="13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 “</a:t>
                </a:r>
                <a:r>
                  <a:rPr lang="zh-CN" altLang="en-US" sz="13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现实承担</a:t>
                </a:r>
                <a:r>
                  <a:rPr lang="en-US" altLang="zh-CN" sz="13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” </a:t>
                </a:r>
                <a:r>
                  <a:rPr lang="zh-CN" altLang="en-US" sz="13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中</a:t>
                </a:r>
                <a:r>
                  <a:rPr lang="en-US" altLang="zh-CN" sz="13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 “</a:t>
                </a:r>
                <a:r>
                  <a:rPr lang="zh-CN" altLang="en-US" sz="13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梦想不灭</a:t>
                </a:r>
                <a:r>
                  <a:rPr lang="en-US" altLang="zh-CN" sz="13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” </a:t>
                </a:r>
                <a:r>
                  <a:rPr lang="zh-CN" altLang="en-US" sz="13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的希望落点，延续了人文内核里的理想火种。</a:t>
                </a:r>
                <a:r>
                  <a:rPr lang="en-US" sz="13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尽管主题沉重，但台词情感强度达巅峰，充满理想主义热情。</a:t>
                </a:r>
                <a:endParaRPr lang="en-US" sz="13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96" name="Bullet2" descr="f130ceba-1ca2-438a-a640-7a906b7d6da3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8466059" y="1666893"/>
                <a:ext cx="2748042" cy="562111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rtlCol="0" anchor="b" anchorCtr="0">
                <a:normAutofit/>
              </a:bodyPr>
              <a:lstStyle/>
              <a:p>
                <a:pPr algn="l"/>
                <a:r>
                  <a:rPr lang="en-US" sz="1800" b="1" i="0" u="sng">
                    <a:solidFill>
                      <a:srgbClr val="00A8F5"/>
                    </a:solidFill>
                    <a:ea typeface="微软雅黑" panose="020B0503020204020204" charset="-122"/>
                  </a:rPr>
                  <a:t>核心发现</a:t>
                </a:r>
                <a:endParaRPr lang="en-US" sz="1800" b="1" i="0" u="sng">
                  <a:solidFill>
                    <a:srgbClr val="00A8F5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97" name="Number2" descr="1fb14bc1-128f-4091-919d-ce881edc478d"/>
              <p:cNvSpPr/>
              <p:nvPr>
                <p:custDataLst>
                  <p:tags r:id="rId7"/>
                </p:custDataLst>
              </p:nvPr>
            </p:nvSpPr>
            <p:spPr>
              <a:xfrm>
                <a:off x="6854972" y="1666991"/>
                <a:ext cx="745978" cy="562111"/>
              </a:xfrm>
              <a:prstGeom prst="rect">
                <a:avLst/>
              </a:prstGeom>
              <a:solidFill>
                <a:schemeClr val="accent1"/>
              </a:solidFill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lnSpcReduction="10000"/>
              </a:bodyPr>
              <a:lstStyle/>
              <a:p>
                <a:pPr algn="l"/>
                <a:r>
                  <a:rPr lang="en-US" sz="3200" b="1" i="0" u="none">
                    <a:solidFill>
                      <a:srgbClr val="FFFFFF"/>
                    </a:solidFill>
                    <a:latin typeface="Arial" panose="020B0604020202020204"/>
                  </a:rPr>
                  <a:t>02</a:t>
                </a:r>
                <a:endParaRPr lang="en-US" sz="32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</p:grpSp>
      </p:grpSp>
      <p:sp>
        <p:nvSpPr>
          <p:cNvPr id="2" name="标题 1" descr="6e191eb5-7da3-4a4d-bdfb-9524e0e49c7c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2F2F2F"/>
                </a:solidFill>
                <a:ea typeface="微软雅黑" panose="020B0503020204020204" charset="-122"/>
              </a:rPr>
              <a:t>希望的高峰：《起风了》的数据肖像</a:t>
            </a:r>
            <a:endParaRPr lang="en-US" sz="2800" b="1" i="0" u="none">
              <a:solidFill>
                <a:srgbClr val="2F2F2F"/>
              </a:solidFill>
              <a:ea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950" y="2441575"/>
            <a:ext cx="2863850" cy="218884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89630" y="2441575"/>
            <a:ext cx="2887345" cy="218884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17370" y="4630420"/>
            <a:ext cx="2892425" cy="220345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 descr="83080c70-41ea-40d2-8fde-221379addbe5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r">
              <a:lnSpc>
                <a:spcPct val="100000"/>
              </a:lnSpc>
              <a:spcBef>
                <a:spcPct val="0"/>
              </a:spcBef>
            </a:pPr>
            <a:r>
              <a:rPr lang="en-US" sz="3200" b="1" i="0" u="none">
                <a:solidFill>
                  <a:srgbClr val="FFFFFF"/>
                </a:solidFill>
                <a:ea typeface="微软雅黑" panose="020B0503020204020204" charset="-122"/>
              </a:rPr>
              <a:t>综合结论与人文阐释</a:t>
            </a:r>
            <a:endParaRPr lang="en-US" sz="3200" b="1" i="0" u="none">
              <a:solidFill>
                <a:srgbClr val="FFFFFF"/>
              </a:solidFill>
              <a:ea typeface="微软雅黑" panose="020B0503020204020204" charset="-122"/>
            </a:endParaRPr>
          </a:p>
        </p:txBody>
      </p:sp>
      <p:sp>
        <p:nvSpPr>
          <p:cNvPr id="25" name="文本占位符 24" descr="9652841f-892c-4d47-8897-2571d348380e"/>
          <p:cNvSpPr>
            <a:spLocks noGrp="1"/>
          </p:cNvSpPr>
          <p:nvPr>
            <p:ph type="body" sz="quarter" idx="1" hasCustomPrompt="1"/>
          </p:nvPr>
        </p:nvSpPr>
        <p:spPr/>
        <p:txBody>
          <a:bodyPr anchorCtr="0"/>
          <a:lstStyle/>
          <a:p>
            <a:pPr algn="r">
              <a:lnSpc>
                <a:spcPct val="120000"/>
              </a:lnSpc>
              <a:spcBef>
                <a:spcPts val="1000"/>
              </a:spcBef>
            </a:pPr>
            <a:r>
              <a:rPr lang="en-US" sz="2000" b="0" i="0" u="none">
                <a:solidFill>
                  <a:srgbClr val="FFFFFF"/>
                </a:solidFill>
                <a:ea typeface="微软雅黑" panose="020B0503020204020204" charset="-122"/>
              </a:rPr>
              <a:t>总结分析结果，挖掘人文内涵</a:t>
            </a:r>
            <a:endParaRPr lang="en-US" sz="2000" b="0" i="0" u="none">
              <a:solidFill>
                <a:srgbClr val="FFFFFF"/>
              </a:solidFill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b2a12ea0-1a8e-4943-a7c3-b5512493e67e.source.2.zh-Hans.pptx" descr="832909f8-fb14-444b-bf8a-d20695fa2f59"/>
          <p:cNvGrpSpPr/>
          <p:nvPr/>
        </p:nvGrpSpPr>
        <p:grpSpPr>
          <a:xfrm>
            <a:off x="673100" y="1224891"/>
            <a:ext cx="10845800" cy="4909209"/>
            <a:chOff x="673100" y="1224891"/>
            <a:chExt cx="10845800" cy="4909209"/>
          </a:xfrm>
        </p:grpSpPr>
        <p:grpSp>
          <p:nvGrpSpPr>
            <p:cNvPr id="38" name="组合 37" descr="03152f7d-6b8e-4a26-9ece-8311439a721a"/>
            <p:cNvGrpSpPr/>
            <p:nvPr/>
          </p:nvGrpSpPr>
          <p:grpSpPr>
            <a:xfrm>
              <a:off x="673100" y="1743167"/>
              <a:ext cx="10845800" cy="4390933"/>
              <a:chOff x="673100" y="1217652"/>
              <a:chExt cx="10845800" cy="4390933"/>
            </a:xfrm>
          </p:grpSpPr>
          <p:grpSp>
            <p:nvGrpSpPr>
              <p:cNvPr id="22" name="组合 21" descr="0623351e-c99d-4a54-9439-5f68ff0e912b"/>
              <p:cNvGrpSpPr/>
              <p:nvPr/>
            </p:nvGrpSpPr>
            <p:grpSpPr>
              <a:xfrm>
                <a:off x="673100" y="1444361"/>
                <a:ext cx="10845792" cy="4164224"/>
                <a:chOff x="673100" y="1444361"/>
                <a:chExt cx="10845792" cy="4164224"/>
              </a:xfrm>
            </p:grpSpPr>
            <p:cxnSp>
              <p:nvCxnSpPr>
                <p:cNvPr id="3" name="直接连接符 2" descr="cf17e402-be29-4402-a248-dab81b8a2037"/>
                <p:cNvCxnSpPr/>
                <p:nvPr/>
              </p:nvCxnSpPr>
              <p:spPr>
                <a:xfrm>
                  <a:off x="673100" y="1444361"/>
                  <a:ext cx="5020157" cy="0"/>
                </a:xfrm>
                <a:prstGeom prst="line">
                  <a:avLst/>
                </a:prstGeom>
                <a:ln w="76200" cap="rnd">
                  <a:solidFill>
                    <a:schemeClr val="tx2">
                      <a:alpha val="10000"/>
                    </a:schemeClr>
                  </a:solidFill>
                  <a:round/>
                  <a:tailEnd type="arrow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5" name="组合 4" descr="4489bda2-9d51-481d-8db5-bbed1394576f"/>
                <p:cNvGrpSpPr/>
                <p:nvPr/>
              </p:nvGrpSpPr>
              <p:grpSpPr>
                <a:xfrm>
                  <a:off x="5693253" y="1444361"/>
                  <a:ext cx="5825639" cy="553715"/>
                  <a:chOff x="2260361" y="1444361"/>
                  <a:chExt cx="1853742" cy="553715"/>
                </a:xfrm>
              </p:grpSpPr>
              <p:cxnSp>
                <p:nvCxnSpPr>
                  <p:cNvPr id="16" name="直接连接符 15" descr="a757a75e-bd43-4ba3-94c3-536858b75ba7"/>
                  <p:cNvCxnSpPr/>
                  <p:nvPr/>
                </p:nvCxnSpPr>
                <p:spPr>
                  <a:xfrm>
                    <a:off x="2260361" y="1444361"/>
                    <a:ext cx="234917" cy="516816"/>
                  </a:xfrm>
                  <a:prstGeom prst="line">
                    <a:avLst/>
                  </a:prstGeom>
                  <a:ln w="76200" cap="rnd">
                    <a:solidFill>
                      <a:schemeClr val="tx2">
                        <a:alpha val="10000"/>
                      </a:schemeClr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" name="直接连接符 16" descr="b21d1b38-1a61-40fa-98bb-4a21affcf72f"/>
                  <p:cNvCxnSpPr/>
                  <p:nvPr/>
                </p:nvCxnSpPr>
                <p:spPr>
                  <a:xfrm>
                    <a:off x="2516671" y="1998076"/>
                    <a:ext cx="1597432" cy="0"/>
                  </a:xfrm>
                  <a:prstGeom prst="line">
                    <a:avLst/>
                  </a:prstGeom>
                  <a:ln w="76200" cap="rnd">
                    <a:solidFill>
                      <a:schemeClr val="tx2">
                        <a:alpha val="10000"/>
                      </a:schemeClr>
                    </a:solidFill>
                    <a:round/>
                    <a:tailEnd type="arrow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9" name="直接连接符 8" descr="041150a6-73dc-4175-84b2-bb6c928b5937"/>
                <p:cNvCxnSpPr/>
                <p:nvPr/>
              </p:nvCxnSpPr>
              <p:spPr>
                <a:xfrm>
                  <a:off x="6096004" y="1702769"/>
                  <a:ext cx="0" cy="3905816"/>
                </a:xfrm>
                <a:prstGeom prst="line">
                  <a:avLst/>
                </a:prstGeom>
                <a:ln w="12700" cap="rnd">
                  <a:solidFill>
                    <a:schemeClr val="tx2">
                      <a:alpha val="50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" name="组合 22" descr="84bfe9a8-1d6e-4188-8bd3-d11101fee5e8"/>
              <p:cNvGrpSpPr/>
              <p:nvPr/>
            </p:nvGrpSpPr>
            <p:grpSpPr>
              <a:xfrm>
                <a:off x="673100" y="1217652"/>
                <a:ext cx="10845800" cy="3405147"/>
                <a:chOff x="673100" y="1217652"/>
                <a:chExt cx="10845800" cy="3405147"/>
              </a:xfrm>
            </p:grpSpPr>
            <p:grpSp>
              <p:nvGrpSpPr>
                <p:cNvPr id="20" name="组合 19" descr="4dedca74-6a11-45d2-84a6-03614f1d3805"/>
                <p:cNvGrpSpPr/>
                <p:nvPr/>
              </p:nvGrpSpPr>
              <p:grpSpPr>
                <a:xfrm>
                  <a:off x="673100" y="1217652"/>
                  <a:ext cx="5100856" cy="2851432"/>
                  <a:chOff x="673100" y="1217652"/>
                  <a:chExt cx="5100856" cy="2851432"/>
                </a:xfrm>
              </p:grpSpPr>
              <p:grpSp>
                <p:nvGrpSpPr>
                  <p:cNvPr id="4" name="组合 3" descr="aa4a8f8e-4a5d-4edf-93db-99408d420132"/>
                  <p:cNvGrpSpPr/>
                  <p:nvPr/>
                </p:nvGrpSpPr>
                <p:grpSpPr>
                  <a:xfrm>
                    <a:off x="2996819" y="1217652"/>
                    <a:ext cx="453418" cy="453418"/>
                    <a:chOff x="3053759" y="2371016"/>
                    <a:chExt cx="531791" cy="531791"/>
                  </a:xfrm>
                </p:grpSpPr>
                <p:sp>
                  <p:nvSpPr>
                    <p:cNvPr id="18" name="椭圆 17" descr="c928402d-1b41-464a-b7d0-7ca6c6dddfca"/>
                    <p:cNvSpPr/>
                    <p:nvPr/>
                  </p:nvSpPr>
                  <p:spPr>
                    <a:xfrm>
                      <a:off x="3053759" y="2371016"/>
                      <a:ext cx="531791" cy="531791"/>
                    </a:xfrm>
                    <a:prstGeom prst="ellipse">
                      <a:avLst/>
                    </a:prstGeom>
                    <a:ln w="38100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square" lIns="91440" tIns="45720" rIns="91440" bIns="45720" anchor="ctr" anchorCtr="0">
                      <a:normAutofit fontScale="92500" lnSpcReduction="20000"/>
                    </a:bodyPr>
                    <a:lstStyle/>
                    <a:p>
                      <a:pPr algn="ctr"/>
                    </a:p>
                  </p:txBody>
                </p:sp>
                <p:sp>
                  <p:nvSpPr>
                    <p:cNvPr id="19" name="Icon1" descr="65030c31-2d94-4978-8f6c-14ec24834dee"/>
                    <p:cNvSpPr/>
                    <p:nvPr/>
                  </p:nvSpPr>
                  <p:spPr bwMode="auto">
                    <a:xfrm>
                      <a:off x="3172435" y="2495112"/>
                      <a:ext cx="294438" cy="283598"/>
                    </a:xfrm>
                    <a:custGeom>
                      <a:avLst/>
                      <a:gdLst>
                        <a:gd name="T0" fmla="*/ 4096 w 6827"/>
                        <a:gd name="T1" fmla="*/ 4551 h 6827"/>
                        <a:gd name="T2" fmla="*/ 6258 w 6827"/>
                        <a:gd name="T3" fmla="*/ 4096 h 6827"/>
                        <a:gd name="T4" fmla="*/ 2348 w 6827"/>
                        <a:gd name="T5" fmla="*/ 4911 h 6827"/>
                        <a:gd name="T6" fmla="*/ 569 w 6827"/>
                        <a:gd name="T7" fmla="*/ 4551 h 6827"/>
                        <a:gd name="T8" fmla="*/ 569 w 6827"/>
                        <a:gd name="T9" fmla="*/ 3982 h 6827"/>
                        <a:gd name="T10" fmla="*/ 1707 w 6827"/>
                        <a:gd name="T11" fmla="*/ 2503 h 6827"/>
                        <a:gd name="T12" fmla="*/ 3868 w 6827"/>
                        <a:gd name="T13" fmla="*/ 2731 h 6827"/>
                        <a:gd name="T14" fmla="*/ 5827 w 6827"/>
                        <a:gd name="T15" fmla="*/ 2004 h 6827"/>
                        <a:gd name="T16" fmla="*/ 6258 w 6827"/>
                        <a:gd name="T17" fmla="*/ 1820 h 6827"/>
                        <a:gd name="T18" fmla="*/ 4779 w 6827"/>
                        <a:gd name="T19" fmla="*/ 0 h 6827"/>
                        <a:gd name="T20" fmla="*/ 2854 w 6827"/>
                        <a:gd name="T21" fmla="*/ 2381 h 6827"/>
                        <a:gd name="T22" fmla="*/ 1239 w 6827"/>
                        <a:gd name="T23" fmla="*/ 2257 h 6827"/>
                        <a:gd name="T24" fmla="*/ 569 w 6827"/>
                        <a:gd name="T25" fmla="*/ 2844 h 6827"/>
                        <a:gd name="T26" fmla="*/ 569 w 6827"/>
                        <a:gd name="T27" fmla="*/ 2276 h 6827"/>
                        <a:gd name="T28" fmla="*/ 569 w 6827"/>
                        <a:gd name="T29" fmla="*/ 1707 h 6827"/>
                        <a:gd name="T30" fmla="*/ 569 w 6827"/>
                        <a:gd name="T31" fmla="*/ 1138 h 6827"/>
                        <a:gd name="T32" fmla="*/ 569 w 6827"/>
                        <a:gd name="T33" fmla="*/ 569 h 6827"/>
                        <a:gd name="T34" fmla="*/ 341 w 6827"/>
                        <a:gd name="T35" fmla="*/ 0 h 6827"/>
                        <a:gd name="T36" fmla="*/ 114 w 6827"/>
                        <a:gd name="T37" fmla="*/ 569 h 6827"/>
                        <a:gd name="T38" fmla="*/ 114 w 6827"/>
                        <a:gd name="T39" fmla="*/ 1138 h 6827"/>
                        <a:gd name="T40" fmla="*/ 114 w 6827"/>
                        <a:gd name="T41" fmla="*/ 1707 h 6827"/>
                        <a:gd name="T42" fmla="*/ 114 w 6827"/>
                        <a:gd name="T43" fmla="*/ 2276 h 6827"/>
                        <a:gd name="T44" fmla="*/ 114 w 6827"/>
                        <a:gd name="T45" fmla="*/ 2844 h 6827"/>
                        <a:gd name="T46" fmla="*/ 114 w 6827"/>
                        <a:gd name="T47" fmla="*/ 3413 h 6827"/>
                        <a:gd name="T48" fmla="*/ 114 w 6827"/>
                        <a:gd name="T49" fmla="*/ 3982 h 6827"/>
                        <a:gd name="T50" fmla="*/ 114 w 6827"/>
                        <a:gd name="T51" fmla="*/ 4551 h 6827"/>
                        <a:gd name="T52" fmla="*/ 114 w 6827"/>
                        <a:gd name="T53" fmla="*/ 5120 h 6827"/>
                        <a:gd name="T54" fmla="*/ 114 w 6827"/>
                        <a:gd name="T55" fmla="*/ 5689 h 6827"/>
                        <a:gd name="T56" fmla="*/ 114 w 6827"/>
                        <a:gd name="T57" fmla="*/ 6258 h 6827"/>
                        <a:gd name="T58" fmla="*/ 683 w 6827"/>
                        <a:gd name="T59" fmla="*/ 6713 h 6827"/>
                        <a:gd name="T60" fmla="*/ 1252 w 6827"/>
                        <a:gd name="T61" fmla="*/ 6713 h 6827"/>
                        <a:gd name="T62" fmla="*/ 1820 w 6827"/>
                        <a:gd name="T63" fmla="*/ 6713 h 6827"/>
                        <a:gd name="T64" fmla="*/ 2389 w 6827"/>
                        <a:gd name="T65" fmla="*/ 6713 h 6827"/>
                        <a:gd name="T66" fmla="*/ 2958 w 6827"/>
                        <a:gd name="T67" fmla="*/ 6713 h 6827"/>
                        <a:gd name="T68" fmla="*/ 3527 w 6827"/>
                        <a:gd name="T69" fmla="*/ 6713 h 6827"/>
                        <a:gd name="T70" fmla="*/ 4096 w 6827"/>
                        <a:gd name="T71" fmla="*/ 6713 h 6827"/>
                        <a:gd name="T72" fmla="*/ 4665 w 6827"/>
                        <a:gd name="T73" fmla="*/ 6713 h 6827"/>
                        <a:gd name="T74" fmla="*/ 5234 w 6827"/>
                        <a:gd name="T75" fmla="*/ 6713 h 6827"/>
                        <a:gd name="T76" fmla="*/ 5803 w 6827"/>
                        <a:gd name="T77" fmla="*/ 6713 h 6827"/>
                        <a:gd name="T78" fmla="*/ 6371 w 6827"/>
                        <a:gd name="T79" fmla="*/ 6713 h 6827"/>
                        <a:gd name="T80" fmla="*/ 6827 w 6827"/>
                        <a:gd name="T81" fmla="*/ 6485 h 6827"/>
                        <a:gd name="T82" fmla="*/ 6371 w 6827"/>
                        <a:gd name="T83" fmla="*/ 6258 h 6827"/>
                        <a:gd name="T84" fmla="*/ 5803 w 6827"/>
                        <a:gd name="T85" fmla="*/ 6258 h 6827"/>
                        <a:gd name="T86" fmla="*/ 5234 w 6827"/>
                        <a:gd name="T87" fmla="*/ 6258 h 6827"/>
                        <a:gd name="T88" fmla="*/ 4665 w 6827"/>
                        <a:gd name="T89" fmla="*/ 6258 h 6827"/>
                        <a:gd name="T90" fmla="*/ 4096 w 6827"/>
                        <a:gd name="T91" fmla="*/ 6258 h 6827"/>
                        <a:gd name="T92" fmla="*/ 3527 w 6827"/>
                        <a:gd name="T93" fmla="*/ 6258 h 6827"/>
                        <a:gd name="T94" fmla="*/ 2958 w 6827"/>
                        <a:gd name="T95" fmla="*/ 6258 h 6827"/>
                        <a:gd name="T96" fmla="*/ 2389 w 6827"/>
                        <a:gd name="T97" fmla="*/ 6258 h 6827"/>
                        <a:gd name="T98" fmla="*/ 1820 w 6827"/>
                        <a:gd name="T99" fmla="*/ 6258 h 6827"/>
                        <a:gd name="T100" fmla="*/ 1252 w 6827"/>
                        <a:gd name="T101" fmla="*/ 6258 h 6827"/>
                        <a:gd name="T102" fmla="*/ 683 w 6827"/>
                        <a:gd name="T103" fmla="*/ 6258 h 682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  <a:cxn ang="0">
                          <a:pos x="T98" y="T99"/>
                        </a:cxn>
                        <a:cxn ang="0">
                          <a:pos x="T100" y="T101"/>
                        </a:cxn>
                        <a:cxn ang="0">
                          <a:pos x="T102" y="T103"/>
                        </a:cxn>
                      </a:cxnLst>
                      <a:rect l="0" t="0" r="r" b="b"/>
                      <a:pathLst>
                        <a:path w="6827" h="6827">
                          <a:moveTo>
                            <a:pt x="1263" y="5234"/>
                          </a:moveTo>
                          <a:cubicBezTo>
                            <a:pt x="1316" y="5493"/>
                            <a:pt x="1546" y="5689"/>
                            <a:pt x="1820" y="5689"/>
                          </a:cubicBezTo>
                          <a:cubicBezTo>
                            <a:pt x="2114" y="5689"/>
                            <a:pt x="2354" y="5464"/>
                            <a:pt x="2383" y="5178"/>
                          </a:cubicBezTo>
                          <a:lnTo>
                            <a:pt x="3568" y="4191"/>
                          </a:lnTo>
                          <a:cubicBezTo>
                            <a:pt x="3652" y="4401"/>
                            <a:pt x="3856" y="4551"/>
                            <a:pt x="4096" y="4551"/>
                          </a:cubicBezTo>
                          <a:cubicBezTo>
                            <a:pt x="4348" y="4551"/>
                            <a:pt x="4560" y="4385"/>
                            <a:pt x="4635" y="4157"/>
                          </a:cubicBezTo>
                          <a:lnTo>
                            <a:pt x="5696" y="4736"/>
                          </a:lnTo>
                          <a:cubicBezTo>
                            <a:pt x="5732" y="5016"/>
                            <a:pt x="5969" y="5234"/>
                            <a:pt x="6258" y="5234"/>
                          </a:cubicBezTo>
                          <a:cubicBezTo>
                            <a:pt x="6571" y="5234"/>
                            <a:pt x="6827" y="4979"/>
                            <a:pt x="6827" y="4665"/>
                          </a:cubicBezTo>
                          <a:cubicBezTo>
                            <a:pt x="6827" y="4351"/>
                            <a:pt x="6571" y="4096"/>
                            <a:pt x="6258" y="4096"/>
                          </a:cubicBezTo>
                          <a:cubicBezTo>
                            <a:pt x="6006" y="4096"/>
                            <a:pt x="5794" y="4262"/>
                            <a:pt x="5719" y="4490"/>
                          </a:cubicBezTo>
                          <a:lnTo>
                            <a:pt x="4658" y="3911"/>
                          </a:lnTo>
                          <a:cubicBezTo>
                            <a:pt x="4622" y="3631"/>
                            <a:pt x="4385" y="3413"/>
                            <a:pt x="4096" y="3413"/>
                          </a:cubicBezTo>
                          <a:cubicBezTo>
                            <a:pt x="3802" y="3413"/>
                            <a:pt x="3563" y="3638"/>
                            <a:pt x="3533" y="3924"/>
                          </a:cubicBezTo>
                          <a:lnTo>
                            <a:pt x="2348" y="4911"/>
                          </a:lnTo>
                          <a:cubicBezTo>
                            <a:pt x="2265" y="4701"/>
                            <a:pt x="2060" y="4551"/>
                            <a:pt x="1820" y="4551"/>
                          </a:cubicBezTo>
                          <a:cubicBezTo>
                            <a:pt x="1546" y="4551"/>
                            <a:pt x="1316" y="4747"/>
                            <a:pt x="1263" y="5006"/>
                          </a:cubicBezTo>
                          <a:lnTo>
                            <a:pt x="455" y="5006"/>
                          </a:lnTo>
                          <a:lnTo>
                            <a:pt x="455" y="4551"/>
                          </a:lnTo>
                          <a:lnTo>
                            <a:pt x="569" y="4551"/>
                          </a:lnTo>
                          <a:cubicBezTo>
                            <a:pt x="632" y="4551"/>
                            <a:pt x="683" y="4500"/>
                            <a:pt x="683" y="4437"/>
                          </a:cubicBezTo>
                          <a:cubicBezTo>
                            <a:pt x="683" y="4374"/>
                            <a:pt x="632" y="4324"/>
                            <a:pt x="569" y="4324"/>
                          </a:cubicBezTo>
                          <a:lnTo>
                            <a:pt x="455" y="4324"/>
                          </a:lnTo>
                          <a:lnTo>
                            <a:pt x="455" y="3982"/>
                          </a:lnTo>
                          <a:lnTo>
                            <a:pt x="569" y="3982"/>
                          </a:lnTo>
                          <a:cubicBezTo>
                            <a:pt x="632" y="3982"/>
                            <a:pt x="683" y="3931"/>
                            <a:pt x="683" y="3868"/>
                          </a:cubicBezTo>
                          <a:cubicBezTo>
                            <a:pt x="683" y="3806"/>
                            <a:pt x="632" y="3755"/>
                            <a:pt x="569" y="3755"/>
                          </a:cubicBezTo>
                          <a:lnTo>
                            <a:pt x="480" y="3755"/>
                          </a:lnTo>
                          <a:lnTo>
                            <a:pt x="1407" y="2416"/>
                          </a:lnTo>
                          <a:cubicBezTo>
                            <a:pt x="1494" y="2470"/>
                            <a:pt x="1596" y="2503"/>
                            <a:pt x="1707" y="2503"/>
                          </a:cubicBezTo>
                          <a:cubicBezTo>
                            <a:pt x="1888" y="2503"/>
                            <a:pt x="2048" y="2416"/>
                            <a:pt x="2152" y="2284"/>
                          </a:cubicBezTo>
                          <a:lnTo>
                            <a:pt x="2752" y="2584"/>
                          </a:lnTo>
                          <a:cubicBezTo>
                            <a:pt x="2740" y="2631"/>
                            <a:pt x="2731" y="2680"/>
                            <a:pt x="2731" y="2731"/>
                          </a:cubicBezTo>
                          <a:cubicBezTo>
                            <a:pt x="2731" y="3044"/>
                            <a:pt x="2986" y="3300"/>
                            <a:pt x="3300" y="3300"/>
                          </a:cubicBezTo>
                          <a:cubicBezTo>
                            <a:pt x="3613" y="3300"/>
                            <a:pt x="3868" y="3044"/>
                            <a:pt x="3868" y="2731"/>
                          </a:cubicBezTo>
                          <a:cubicBezTo>
                            <a:pt x="3868" y="2608"/>
                            <a:pt x="3829" y="2496"/>
                            <a:pt x="3763" y="2403"/>
                          </a:cubicBezTo>
                          <a:lnTo>
                            <a:pt x="4488" y="1055"/>
                          </a:lnTo>
                          <a:cubicBezTo>
                            <a:pt x="4574" y="1107"/>
                            <a:pt x="4672" y="1138"/>
                            <a:pt x="4779" y="1138"/>
                          </a:cubicBezTo>
                          <a:cubicBezTo>
                            <a:pt x="4891" y="1138"/>
                            <a:pt x="4995" y="1104"/>
                            <a:pt x="5083" y="1048"/>
                          </a:cubicBezTo>
                          <a:lnTo>
                            <a:pt x="5827" y="2004"/>
                          </a:lnTo>
                          <a:cubicBezTo>
                            <a:pt x="5829" y="2007"/>
                            <a:pt x="5833" y="2009"/>
                            <a:pt x="5836" y="2011"/>
                          </a:cubicBezTo>
                          <a:cubicBezTo>
                            <a:pt x="5745" y="2112"/>
                            <a:pt x="5689" y="2244"/>
                            <a:pt x="5689" y="2389"/>
                          </a:cubicBezTo>
                          <a:cubicBezTo>
                            <a:pt x="5689" y="2703"/>
                            <a:pt x="5944" y="2958"/>
                            <a:pt x="6258" y="2958"/>
                          </a:cubicBezTo>
                          <a:cubicBezTo>
                            <a:pt x="6571" y="2958"/>
                            <a:pt x="6827" y="2703"/>
                            <a:pt x="6827" y="2389"/>
                          </a:cubicBezTo>
                          <a:cubicBezTo>
                            <a:pt x="6827" y="2076"/>
                            <a:pt x="6571" y="1820"/>
                            <a:pt x="6258" y="1820"/>
                          </a:cubicBezTo>
                          <a:cubicBezTo>
                            <a:pt x="6170" y="1820"/>
                            <a:pt x="6087" y="1842"/>
                            <a:pt x="6013" y="1878"/>
                          </a:cubicBezTo>
                          <a:cubicBezTo>
                            <a:pt x="6010" y="1874"/>
                            <a:pt x="6010" y="1869"/>
                            <a:pt x="6006" y="1864"/>
                          </a:cubicBezTo>
                          <a:lnTo>
                            <a:pt x="5248" y="890"/>
                          </a:lnTo>
                          <a:cubicBezTo>
                            <a:pt x="5311" y="798"/>
                            <a:pt x="5348" y="688"/>
                            <a:pt x="5348" y="569"/>
                          </a:cubicBezTo>
                          <a:cubicBezTo>
                            <a:pt x="5348" y="255"/>
                            <a:pt x="5092" y="0"/>
                            <a:pt x="4779" y="0"/>
                          </a:cubicBezTo>
                          <a:cubicBezTo>
                            <a:pt x="4465" y="0"/>
                            <a:pt x="4210" y="255"/>
                            <a:pt x="4210" y="569"/>
                          </a:cubicBezTo>
                          <a:cubicBezTo>
                            <a:pt x="4210" y="691"/>
                            <a:pt x="4249" y="804"/>
                            <a:pt x="4315" y="897"/>
                          </a:cubicBezTo>
                          <a:lnTo>
                            <a:pt x="3590" y="2244"/>
                          </a:lnTo>
                          <a:cubicBezTo>
                            <a:pt x="3505" y="2193"/>
                            <a:pt x="3406" y="2162"/>
                            <a:pt x="3300" y="2162"/>
                          </a:cubicBezTo>
                          <a:cubicBezTo>
                            <a:pt x="3118" y="2162"/>
                            <a:pt x="2959" y="2248"/>
                            <a:pt x="2854" y="2381"/>
                          </a:cubicBezTo>
                          <a:lnTo>
                            <a:pt x="2254" y="2081"/>
                          </a:lnTo>
                          <a:cubicBezTo>
                            <a:pt x="2267" y="2034"/>
                            <a:pt x="2276" y="1985"/>
                            <a:pt x="2276" y="1934"/>
                          </a:cubicBezTo>
                          <a:cubicBezTo>
                            <a:pt x="2276" y="1621"/>
                            <a:pt x="2020" y="1365"/>
                            <a:pt x="1707" y="1365"/>
                          </a:cubicBezTo>
                          <a:cubicBezTo>
                            <a:pt x="1393" y="1365"/>
                            <a:pt x="1138" y="1621"/>
                            <a:pt x="1138" y="1934"/>
                          </a:cubicBezTo>
                          <a:cubicBezTo>
                            <a:pt x="1138" y="2054"/>
                            <a:pt x="1176" y="2166"/>
                            <a:pt x="1239" y="2257"/>
                          </a:cubicBezTo>
                          <a:lnTo>
                            <a:pt x="593" y="3191"/>
                          </a:lnTo>
                          <a:cubicBezTo>
                            <a:pt x="585" y="3189"/>
                            <a:pt x="578" y="3186"/>
                            <a:pt x="569" y="3186"/>
                          </a:cubicBezTo>
                          <a:lnTo>
                            <a:pt x="455" y="3186"/>
                          </a:lnTo>
                          <a:lnTo>
                            <a:pt x="455" y="2844"/>
                          </a:lnTo>
                          <a:lnTo>
                            <a:pt x="569" y="2844"/>
                          </a:lnTo>
                          <a:cubicBezTo>
                            <a:pt x="632" y="2844"/>
                            <a:pt x="683" y="2794"/>
                            <a:pt x="683" y="2731"/>
                          </a:cubicBezTo>
                          <a:cubicBezTo>
                            <a:pt x="683" y="2668"/>
                            <a:pt x="632" y="2617"/>
                            <a:pt x="569" y="2617"/>
                          </a:cubicBezTo>
                          <a:lnTo>
                            <a:pt x="455" y="2617"/>
                          </a:lnTo>
                          <a:lnTo>
                            <a:pt x="455" y="2276"/>
                          </a:lnTo>
                          <a:lnTo>
                            <a:pt x="569" y="2276"/>
                          </a:lnTo>
                          <a:cubicBezTo>
                            <a:pt x="632" y="2276"/>
                            <a:pt x="683" y="2225"/>
                            <a:pt x="683" y="2162"/>
                          </a:cubicBezTo>
                          <a:cubicBezTo>
                            <a:pt x="683" y="2099"/>
                            <a:pt x="632" y="2048"/>
                            <a:pt x="569" y="2048"/>
                          </a:cubicBezTo>
                          <a:lnTo>
                            <a:pt x="455" y="2048"/>
                          </a:lnTo>
                          <a:lnTo>
                            <a:pt x="455" y="1707"/>
                          </a:lnTo>
                          <a:lnTo>
                            <a:pt x="569" y="1707"/>
                          </a:lnTo>
                          <a:cubicBezTo>
                            <a:pt x="632" y="1707"/>
                            <a:pt x="683" y="1656"/>
                            <a:pt x="683" y="1593"/>
                          </a:cubicBezTo>
                          <a:cubicBezTo>
                            <a:pt x="683" y="1530"/>
                            <a:pt x="632" y="1479"/>
                            <a:pt x="569" y="1479"/>
                          </a:cubicBezTo>
                          <a:lnTo>
                            <a:pt x="455" y="1479"/>
                          </a:lnTo>
                          <a:lnTo>
                            <a:pt x="455" y="1138"/>
                          </a:lnTo>
                          <a:lnTo>
                            <a:pt x="569" y="1138"/>
                          </a:lnTo>
                          <a:cubicBezTo>
                            <a:pt x="632" y="1138"/>
                            <a:pt x="683" y="1087"/>
                            <a:pt x="683" y="1024"/>
                          </a:cubicBezTo>
                          <a:cubicBezTo>
                            <a:pt x="683" y="961"/>
                            <a:pt x="632" y="910"/>
                            <a:pt x="569" y="910"/>
                          </a:cubicBezTo>
                          <a:lnTo>
                            <a:pt x="455" y="910"/>
                          </a:lnTo>
                          <a:lnTo>
                            <a:pt x="455" y="569"/>
                          </a:lnTo>
                          <a:lnTo>
                            <a:pt x="569" y="569"/>
                          </a:lnTo>
                          <a:cubicBezTo>
                            <a:pt x="632" y="569"/>
                            <a:pt x="683" y="518"/>
                            <a:pt x="683" y="455"/>
                          </a:cubicBezTo>
                          <a:cubicBezTo>
                            <a:pt x="683" y="392"/>
                            <a:pt x="632" y="341"/>
                            <a:pt x="569" y="341"/>
                          </a:cubicBezTo>
                          <a:lnTo>
                            <a:pt x="455" y="341"/>
                          </a:lnTo>
                          <a:lnTo>
                            <a:pt x="455" y="114"/>
                          </a:lnTo>
                          <a:cubicBezTo>
                            <a:pt x="455" y="51"/>
                            <a:pt x="404" y="0"/>
                            <a:pt x="341" y="0"/>
                          </a:cubicBezTo>
                          <a:cubicBezTo>
                            <a:pt x="278" y="0"/>
                            <a:pt x="228" y="51"/>
                            <a:pt x="228" y="114"/>
                          </a:cubicBezTo>
                          <a:lnTo>
                            <a:pt x="228" y="341"/>
                          </a:lnTo>
                          <a:lnTo>
                            <a:pt x="114" y="341"/>
                          </a:lnTo>
                          <a:cubicBezTo>
                            <a:pt x="51" y="341"/>
                            <a:pt x="0" y="392"/>
                            <a:pt x="0" y="455"/>
                          </a:cubicBezTo>
                          <a:cubicBezTo>
                            <a:pt x="0" y="518"/>
                            <a:pt x="51" y="569"/>
                            <a:pt x="114" y="569"/>
                          </a:cubicBezTo>
                          <a:lnTo>
                            <a:pt x="228" y="569"/>
                          </a:lnTo>
                          <a:lnTo>
                            <a:pt x="228" y="910"/>
                          </a:lnTo>
                          <a:lnTo>
                            <a:pt x="114" y="910"/>
                          </a:lnTo>
                          <a:cubicBezTo>
                            <a:pt x="51" y="910"/>
                            <a:pt x="0" y="961"/>
                            <a:pt x="0" y="1024"/>
                          </a:cubicBezTo>
                          <a:cubicBezTo>
                            <a:pt x="0" y="1087"/>
                            <a:pt x="51" y="1138"/>
                            <a:pt x="114" y="1138"/>
                          </a:cubicBezTo>
                          <a:lnTo>
                            <a:pt x="228" y="1138"/>
                          </a:lnTo>
                          <a:lnTo>
                            <a:pt x="228" y="1479"/>
                          </a:lnTo>
                          <a:lnTo>
                            <a:pt x="114" y="1479"/>
                          </a:lnTo>
                          <a:cubicBezTo>
                            <a:pt x="51" y="1479"/>
                            <a:pt x="0" y="1530"/>
                            <a:pt x="0" y="1593"/>
                          </a:cubicBezTo>
                          <a:cubicBezTo>
                            <a:pt x="0" y="1656"/>
                            <a:pt x="51" y="1707"/>
                            <a:pt x="114" y="1707"/>
                          </a:cubicBezTo>
                          <a:lnTo>
                            <a:pt x="228" y="1707"/>
                          </a:lnTo>
                          <a:lnTo>
                            <a:pt x="228" y="2048"/>
                          </a:lnTo>
                          <a:lnTo>
                            <a:pt x="114" y="2048"/>
                          </a:lnTo>
                          <a:cubicBezTo>
                            <a:pt x="51" y="2048"/>
                            <a:pt x="0" y="2099"/>
                            <a:pt x="0" y="2162"/>
                          </a:cubicBezTo>
                          <a:cubicBezTo>
                            <a:pt x="0" y="2225"/>
                            <a:pt x="51" y="2276"/>
                            <a:pt x="114" y="2276"/>
                          </a:cubicBezTo>
                          <a:lnTo>
                            <a:pt x="228" y="2276"/>
                          </a:lnTo>
                          <a:lnTo>
                            <a:pt x="228" y="2617"/>
                          </a:lnTo>
                          <a:lnTo>
                            <a:pt x="114" y="2617"/>
                          </a:lnTo>
                          <a:cubicBezTo>
                            <a:pt x="51" y="2617"/>
                            <a:pt x="0" y="2668"/>
                            <a:pt x="0" y="2731"/>
                          </a:cubicBezTo>
                          <a:cubicBezTo>
                            <a:pt x="0" y="2794"/>
                            <a:pt x="51" y="2844"/>
                            <a:pt x="114" y="2844"/>
                          </a:cubicBezTo>
                          <a:lnTo>
                            <a:pt x="228" y="2844"/>
                          </a:lnTo>
                          <a:lnTo>
                            <a:pt x="228" y="3186"/>
                          </a:lnTo>
                          <a:lnTo>
                            <a:pt x="114" y="3186"/>
                          </a:lnTo>
                          <a:cubicBezTo>
                            <a:pt x="51" y="3186"/>
                            <a:pt x="0" y="3237"/>
                            <a:pt x="0" y="3300"/>
                          </a:cubicBezTo>
                          <a:cubicBezTo>
                            <a:pt x="0" y="3362"/>
                            <a:pt x="51" y="3413"/>
                            <a:pt x="114" y="3413"/>
                          </a:cubicBezTo>
                          <a:lnTo>
                            <a:pt x="228" y="3413"/>
                          </a:lnTo>
                          <a:lnTo>
                            <a:pt x="228" y="3755"/>
                          </a:lnTo>
                          <a:lnTo>
                            <a:pt x="114" y="3755"/>
                          </a:lnTo>
                          <a:cubicBezTo>
                            <a:pt x="51" y="3755"/>
                            <a:pt x="0" y="3806"/>
                            <a:pt x="0" y="3868"/>
                          </a:cubicBezTo>
                          <a:cubicBezTo>
                            <a:pt x="0" y="3931"/>
                            <a:pt x="51" y="3982"/>
                            <a:pt x="114" y="3982"/>
                          </a:cubicBezTo>
                          <a:lnTo>
                            <a:pt x="228" y="3982"/>
                          </a:lnTo>
                          <a:lnTo>
                            <a:pt x="228" y="4324"/>
                          </a:lnTo>
                          <a:lnTo>
                            <a:pt x="114" y="4324"/>
                          </a:lnTo>
                          <a:cubicBezTo>
                            <a:pt x="51" y="4324"/>
                            <a:pt x="0" y="4374"/>
                            <a:pt x="0" y="4437"/>
                          </a:cubicBezTo>
                          <a:cubicBezTo>
                            <a:pt x="0" y="4500"/>
                            <a:pt x="51" y="4551"/>
                            <a:pt x="114" y="4551"/>
                          </a:cubicBezTo>
                          <a:lnTo>
                            <a:pt x="228" y="4551"/>
                          </a:lnTo>
                          <a:lnTo>
                            <a:pt x="228" y="4892"/>
                          </a:lnTo>
                          <a:lnTo>
                            <a:pt x="114" y="4892"/>
                          </a:lnTo>
                          <a:cubicBezTo>
                            <a:pt x="51" y="4892"/>
                            <a:pt x="0" y="4943"/>
                            <a:pt x="0" y="5006"/>
                          </a:cubicBezTo>
                          <a:cubicBezTo>
                            <a:pt x="0" y="5069"/>
                            <a:pt x="51" y="5120"/>
                            <a:pt x="114" y="5120"/>
                          </a:cubicBezTo>
                          <a:lnTo>
                            <a:pt x="228" y="5120"/>
                          </a:lnTo>
                          <a:lnTo>
                            <a:pt x="228" y="5461"/>
                          </a:lnTo>
                          <a:lnTo>
                            <a:pt x="114" y="5461"/>
                          </a:lnTo>
                          <a:cubicBezTo>
                            <a:pt x="51" y="5461"/>
                            <a:pt x="0" y="5512"/>
                            <a:pt x="0" y="5575"/>
                          </a:cubicBezTo>
                          <a:cubicBezTo>
                            <a:pt x="0" y="5638"/>
                            <a:pt x="51" y="5689"/>
                            <a:pt x="114" y="5689"/>
                          </a:cubicBezTo>
                          <a:lnTo>
                            <a:pt x="228" y="5689"/>
                          </a:lnTo>
                          <a:lnTo>
                            <a:pt x="228" y="6030"/>
                          </a:lnTo>
                          <a:lnTo>
                            <a:pt x="114" y="6030"/>
                          </a:lnTo>
                          <a:cubicBezTo>
                            <a:pt x="51" y="6030"/>
                            <a:pt x="0" y="6081"/>
                            <a:pt x="0" y="6144"/>
                          </a:cubicBezTo>
                          <a:cubicBezTo>
                            <a:pt x="0" y="6207"/>
                            <a:pt x="51" y="6258"/>
                            <a:pt x="114" y="6258"/>
                          </a:cubicBezTo>
                          <a:lnTo>
                            <a:pt x="228" y="6258"/>
                          </a:lnTo>
                          <a:lnTo>
                            <a:pt x="228" y="6485"/>
                          </a:lnTo>
                          <a:cubicBezTo>
                            <a:pt x="228" y="6548"/>
                            <a:pt x="278" y="6599"/>
                            <a:pt x="341" y="6599"/>
                          </a:cubicBezTo>
                          <a:lnTo>
                            <a:pt x="683" y="6599"/>
                          </a:lnTo>
                          <a:lnTo>
                            <a:pt x="683" y="6713"/>
                          </a:lnTo>
                          <a:cubicBezTo>
                            <a:pt x="683" y="6776"/>
                            <a:pt x="734" y="6827"/>
                            <a:pt x="796" y="6827"/>
                          </a:cubicBezTo>
                          <a:cubicBezTo>
                            <a:pt x="859" y="6827"/>
                            <a:pt x="910" y="6776"/>
                            <a:pt x="910" y="6713"/>
                          </a:cubicBezTo>
                          <a:lnTo>
                            <a:pt x="910" y="6599"/>
                          </a:lnTo>
                          <a:lnTo>
                            <a:pt x="1252" y="6599"/>
                          </a:lnTo>
                          <a:lnTo>
                            <a:pt x="1252" y="6713"/>
                          </a:lnTo>
                          <a:cubicBezTo>
                            <a:pt x="1252" y="6776"/>
                            <a:pt x="1302" y="6827"/>
                            <a:pt x="1365" y="6827"/>
                          </a:cubicBezTo>
                          <a:cubicBezTo>
                            <a:pt x="1428" y="6827"/>
                            <a:pt x="1479" y="6776"/>
                            <a:pt x="1479" y="6713"/>
                          </a:cubicBezTo>
                          <a:lnTo>
                            <a:pt x="1479" y="6599"/>
                          </a:lnTo>
                          <a:lnTo>
                            <a:pt x="1820" y="6599"/>
                          </a:lnTo>
                          <a:lnTo>
                            <a:pt x="1820" y="6713"/>
                          </a:lnTo>
                          <a:cubicBezTo>
                            <a:pt x="1820" y="6776"/>
                            <a:pt x="1871" y="6827"/>
                            <a:pt x="1934" y="6827"/>
                          </a:cubicBezTo>
                          <a:cubicBezTo>
                            <a:pt x="1997" y="6827"/>
                            <a:pt x="2048" y="6776"/>
                            <a:pt x="2048" y="6713"/>
                          </a:cubicBezTo>
                          <a:lnTo>
                            <a:pt x="2048" y="6599"/>
                          </a:lnTo>
                          <a:lnTo>
                            <a:pt x="2389" y="6599"/>
                          </a:lnTo>
                          <a:lnTo>
                            <a:pt x="2389" y="6713"/>
                          </a:lnTo>
                          <a:cubicBezTo>
                            <a:pt x="2389" y="6776"/>
                            <a:pt x="2440" y="6827"/>
                            <a:pt x="2503" y="6827"/>
                          </a:cubicBezTo>
                          <a:cubicBezTo>
                            <a:pt x="2566" y="6827"/>
                            <a:pt x="2617" y="6776"/>
                            <a:pt x="2617" y="6713"/>
                          </a:cubicBezTo>
                          <a:lnTo>
                            <a:pt x="2617" y="6599"/>
                          </a:lnTo>
                          <a:lnTo>
                            <a:pt x="2958" y="6599"/>
                          </a:lnTo>
                          <a:lnTo>
                            <a:pt x="2958" y="6713"/>
                          </a:lnTo>
                          <a:cubicBezTo>
                            <a:pt x="2958" y="6776"/>
                            <a:pt x="3009" y="6827"/>
                            <a:pt x="3072" y="6827"/>
                          </a:cubicBezTo>
                          <a:cubicBezTo>
                            <a:pt x="3135" y="6827"/>
                            <a:pt x="3186" y="6776"/>
                            <a:pt x="3186" y="6713"/>
                          </a:cubicBezTo>
                          <a:lnTo>
                            <a:pt x="3186" y="6599"/>
                          </a:lnTo>
                          <a:lnTo>
                            <a:pt x="3527" y="6599"/>
                          </a:lnTo>
                          <a:lnTo>
                            <a:pt x="3527" y="6713"/>
                          </a:lnTo>
                          <a:cubicBezTo>
                            <a:pt x="3527" y="6776"/>
                            <a:pt x="3578" y="6827"/>
                            <a:pt x="3641" y="6827"/>
                          </a:cubicBezTo>
                          <a:cubicBezTo>
                            <a:pt x="3704" y="6827"/>
                            <a:pt x="3755" y="6776"/>
                            <a:pt x="3755" y="6713"/>
                          </a:cubicBezTo>
                          <a:lnTo>
                            <a:pt x="3755" y="6599"/>
                          </a:lnTo>
                          <a:lnTo>
                            <a:pt x="4096" y="6599"/>
                          </a:lnTo>
                          <a:lnTo>
                            <a:pt x="4096" y="6713"/>
                          </a:lnTo>
                          <a:cubicBezTo>
                            <a:pt x="4096" y="6776"/>
                            <a:pt x="4147" y="6827"/>
                            <a:pt x="4210" y="6827"/>
                          </a:cubicBezTo>
                          <a:cubicBezTo>
                            <a:pt x="4273" y="6827"/>
                            <a:pt x="4323" y="6776"/>
                            <a:pt x="4323" y="6713"/>
                          </a:cubicBezTo>
                          <a:lnTo>
                            <a:pt x="4323" y="6599"/>
                          </a:lnTo>
                          <a:lnTo>
                            <a:pt x="4665" y="6599"/>
                          </a:lnTo>
                          <a:lnTo>
                            <a:pt x="4665" y="6713"/>
                          </a:lnTo>
                          <a:cubicBezTo>
                            <a:pt x="4665" y="6776"/>
                            <a:pt x="4716" y="6827"/>
                            <a:pt x="4779" y="6827"/>
                          </a:cubicBezTo>
                          <a:cubicBezTo>
                            <a:pt x="4842" y="6827"/>
                            <a:pt x="4892" y="6776"/>
                            <a:pt x="4892" y="6713"/>
                          </a:cubicBezTo>
                          <a:lnTo>
                            <a:pt x="4892" y="6599"/>
                          </a:lnTo>
                          <a:lnTo>
                            <a:pt x="5234" y="6599"/>
                          </a:lnTo>
                          <a:lnTo>
                            <a:pt x="5234" y="6713"/>
                          </a:lnTo>
                          <a:cubicBezTo>
                            <a:pt x="5234" y="6776"/>
                            <a:pt x="5285" y="6827"/>
                            <a:pt x="5347" y="6827"/>
                          </a:cubicBezTo>
                          <a:cubicBezTo>
                            <a:pt x="5410" y="6827"/>
                            <a:pt x="5461" y="6776"/>
                            <a:pt x="5461" y="6713"/>
                          </a:cubicBezTo>
                          <a:lnTo>
                            <a:pt x="5461" y="6599"/>
                          </a:lnTo>
                          <a:lnTo>
                            <a:pt x="5803" y="6599"/>
                          </a:lnTo>
                          <a:lnTo>
                            <a:pt x="5803" y="6713"/>
                          </a:lnTo>
                          <a:cubicBezTo>
                            <a:pt x="5803" y="6776"/>
                            <a:pt x="5853" y="6827"/>
                            <a:pt x="5916" y="6827"/>
                          </a:cubicBezTo>
                          <a:cubicBezTo>
                            <a:pt x="5979" y="6827"/>
                            <a:pt x="6030" y="6776"/>
                            <a:pt x="6030" y="6713"/>
                          </a:cubicBezTo>
                          <a:lnTo>
                            <a:pt x="6030" y="6599"/>
                          </a:lnTo>
                          <a:lnTo>
                            <a:pt x="6371" y="6599"/>
                          </a:lnTo>
                          <a:lnTo>
                            <a:pt x="6371" y="6713"/>
                          </a:lnTo>
                          <a:cubicBezTo>
                            <a:pt x="6371" y="6776"/>
                            <a:pt x="6422" y="6827"/>
                            <a:pt x="6485" y="6827"/>
                          </a:cubicBezTo>
                          <a:cubicBezTo>
                            <a:pt x="6548" y="6827"/>
                            <a:pt x="6599" y="6776"/>
                            <a:pt x="6599" y="6713"/>
                          </a:cubicBezTo>
                          <a:lnTo>
                            <a:pt x="6599" y="6599"/>
                          </a:lnTo>
                          <a:lnTo>
                            <a:pt x="6713" y="6599"/>
                          </a:lnTo>
                          <a:cubicBezTo>
                            <a:pt x="6776" y="6599"/>
                            <a:pt x="6827" y="6548"/>
                            <a:pt x="6827" y="6485"/>
                          </a:cubicBezTo>
                          <a:cubicBezTo>
                            <a:pt x="6827" y="6422"/>
                            <a:pt x="6776" y="6372"/>
                            <a:pt x="6713" y="6372"/>
                          </a:cubicBezTo>
                          <a:lnTo>
                            <a:pt x="6599" y="6372"/>
                          </a:lnTo>
                          <a:lnTo>
                            <a:pt x="6599" y="6258"/>
                          </a:lnTo>
                          <a:cubicBezTo>
                            <a:pt x="6599" y="6195"/>
                            <a:pt x="6548" y="6144"/>
                            <a:pt x="6485" y="6144"/>
                          </a:cubicBezTo>
                          <a:cubicBezTo>
                            <a:pt x="6422" y="6144"/>
                            <a:pt x="6371" y="6195"/>
                            <a:pt x="6371" y="6258"/>
                          </a:cubicBezTo>
                          <a:lnTo>
                            <a:pt x="6371" y="6372"/>
                          </a:lnTo>
                          <a:lnTo>
                            <a:pt x="6030" y="6372"/>
                          </a:lnTo>
                          <a:lnTo>
                            <a:pt x="6030" y="6258"/>
                          </a:lnTo>
                          <a:cubicBezTo>
                            <a:pt x="6030" y="6195"/>
                            <a:pt x="5979" y="6144"/>
                            <a:pt x="5916" y="6144"/>
                          </a:cubicBezTo>
                          <a:cubicBezTo>
                            <a:pt x="5853" y="6144"/>
                            <a:pt x="5803" y="6195"/>
                            <a:pt x="5803" y="6258"/>
                          </a:cubicBezTo>
                          <a:lnTo>
                            <a:pt x="5803" y="6372"/>
                          </a:lnTo>
                          <a:lnTo>
                            <a:pt x="5461" y="6372"/>
                          </a:lnTo>
                          <a:lnTo>
                            <a:pt x="5461" y="6258"/>
                          </a:lnTo>
                          <a:cubicBezTo>
                            <a:pt x="5461" y="6195"/>
                            <a:pt x="5410" y="6144"/>
                            <a:pt x="5347" y="6144"/>
                          </a:cubicBezTo>
                          <a:cubicBezTo>
                            <a:pt x="5285" y="6144"/>
                            <a:pt x="5234" y="6195"/>
                            <a:pt x="5234" y="6258"/>
                          </a:cubicBezTo>
                          <a:lnTo>
                            <a:pt x="5234" y="6372"/>
                          </a:lnTo>
                          <a:lnTo>
                            <a:pt x="4892" y="6372"/>
                          </a:lnTo>
                          <a:lnTo>
                            <a:pt x="4892" y="6258"/>
                          </a:lnTo>
                          <a:cubicBezTo>
                            <a:pt x="4892" y="6195"/>
                            <a:pt x="4842" y="6144"/>
                            <a:pt x="4779" y="6144"/>
                          </a:cubicBezTo>
                          <a:cubicBezTo>
                            <a:pt x="4716" y="6144"/>
                            <a:pt x="4665" y="6195"/>
                            <a:pt x="4665" y="6258"/>
                          </a:cubicBezTo>
                          <a:lnTo>
                            <a:pt x="4665" y="6372"/>
                          </a:lnTo>
                          <a:lnTo>
                            <a:pt x="4323" y="6372"/>
                          </a:lnTo>
                          <a:lnTo>
                            <a:pt x="4323" y="6258"/>
                          </a:lnTo>
                          <a:cubicBezTo>
                            <a:pt x="4323" y="6195"/>
                            <a:pt x="4273" y="6144"/>
                            <a:pt x="4210" y="6144"/>
                          </a:cubicBezTo>
                          <a:cubicBezTo>
                            <a:pt x="4147" y="6144"/>
                            <a:pt x="4096" y="6195"/>
                            <a:pt x="4096" y="6258"/>
                          </a:cubicBezTo>
                          <a:lnTo>
                            <a:pt x="4096" y="6372"/>
                          </a:lnTo>
                          <a:lnTo>
                            <a:pt x="3755" y="6372"/>
                          </a:lnTo>
                          <a:lnTo>
                            <a:pt x="3755" y="6258"/>
                          </a:lnTo>
                          <a:cubicBezTo>
                            <a:pt x="3755" y="6195"/>
                            <a:pt x="3704" y="6144"/>
                            <a:pt x="3641" y="6144"/>
                          </a:cubicBezTo>
                          <a:cubicBezTo>
                            <a:pt x="3578" y="6144"/>
                            <a:pt x="3527" y="6195"/>
                            <a:pt x="3527" y="6258"/>
                          </a:cubicBezTo>
                          <a:lnTo>
                            <a:pt x="3527" y="6372"/>
                          </a:lnTo>
                          <a:lnTo>
                            <a:pt x="3186" y="6372"/>
                          </a:lnTo>
                          <a:lnTo>
                            <a:pt x="3186" y="6258"/>
                          </a:lnTo>
                          <a:cubicBezTo>
                            <a:pt x="3186" y="6195"/>
                            <a:pt x="3135" y="6144"/>
                            <a:pt x="3072" y="6144"/>
                          </a:cubicBezTo>
                          <a:cubicBezTo>
                            <a:pt x="3009" y="6144"/>
                            <a:pt x="2958" y="6195"/>
                            <a:pt x="2958" y="6258"/>
                          </a:cubicBezTo>
                          <a:lnTo>
                            <a:pt x="2958" y="6372"/>
                          </a:lnTo>
                          <a:lnTo>
                            <a:pt x="2617" y="6372"/>
                          </a:lnTo>
                          <a:lnTo>
                            <a:pt x="2617" y="6258"/>
                          </a:lnTo>
                          <a:cubicBezTo>
                            <a:pt x="2617" y="6195"/>
                            <a:pt x="2566" y="6144"/>
                            <a:pt x="2503" y="6144"/>
                          </a:cubicBezTo>
                          <a:cubicBezTo>
                            <a:pt x="2440" y="6144"/>
                            <a:pt x="2389" y="6195"/>
                            <a:pt x="2389" y="6258"/>
                          </a:cubicBezTo>
                          <a:lnTo>
                            <a:pt x="2389" y="6372"/>
                          </a:lnTo>
                          <a:lnTo>
                            <a:pt x="2048" y="6372"/>
                          </a:lnTo>
                          <a:lnTo>
                            <a:pt x="2048" y="6258"/>
                          </a:lnTo>
                          <a:cubicBezTo>
                            <a:pt x="2048" y="6195"/>
                            <a:pt x="1997" y="6144"/>
                            <a:pt x="1934" y="6144"/>
                          </a:cubicBezTo>
                          <a:cubicBezTo>
                            <a:pt x="1871" y="6144"/>
                            <a:pt x="1820" y="6195"/>
                            <a:pt x="1820" y="6258"/>
                          </a:cubicBezTo>
                          <a:lnTo>
                            <a:pt x="1820" y="6372"/>
                          </a:lnTo>
                          <a:lnTo>
                            <a:pt x="1479" y="6372"/>
                          </a:lnTo>
                          <a:lnTo>
                            <a:pt x="1479" y="6258"/>
                          </a:lnTo>
                          <a:cubicBezTo>
                            <a:pt x="1479" y="6195"/>
                            <a:pt x="1428" y="6144"/>
                            <a:pt x="1365" y="6144"/>
                          </a:cubicBezTo>
                          <a:cubicBezTo>
                            <a:pt x="1302" y="6144"/>
                            <a:pt x="1252" y="6195"/>
                            <a:pt x="1252" y="6258"/>
                          </a:cubicBezTo>
                          <a:lnTo>
                            <a:pt x="1252" y="6372"/>
                          </a:lnTo>
                          <a:lnTo>
                            <a:pt x="910" y="6372"/>
                          </a:lnTo>
                          <a:lnTo>
                            <a:pt x="910" y="6258"/>
                          </a:lnTo>
                          <a:cubicBezTo>
                            <a:pt x="910" y="6195"/>
                            <a:pt x="859" y="6144"/>
                            <a:pt x="796" y="6144"/>
                          </a:cubicBezTo>
                          <a:cubicBezTo>
                            <a:pt x="734" y="6144"/>
                            <a:pt x="683" y="6195"/>
                            <a:pt x="683" y="6258"/>
                          </a:cubicBezTo>
                          <a:lnTo>
                            <a:pt x="683" y="6372"/>
                          </a:lnTo>
                          <a:lnTo>
                            <a:pt x="455" y="6372"/>
                          </a:lnTo>
                          <a:lnTo>
                            <a:pt x="455" y="5234"/>
                          </a:lnTo>
                          <a:lnTo>
                            <a:pt x="1263" y="5234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wrap="square" lIns="91440" tIns="45720" rIns="91440" bIns="45720" anchor="ctr" anchorCtr="0">
                      <a:normAutofit fontScale="62500" lnSpcReduction="20000"/>
                    </a:bodyPr>
                    <a:lstStyle/>
                    <a:p>
                      <a:pPr algn="ctr"/>
                    </a:p>
                  </p:txBody>
                </p:sp>
              </p:grpSp>
              <p:grpSp>
                <p:nvGrpSpPr>
                  <p:cNvPr id="7" name="组合 6" descr="c9243d50-7395-438d-90f0-cd1c0d9acf7d"/>
                  <p:cNvGrpSpPr/>
                  <p:nvPr/>
                </p:nvGrpSpPr>
                <p:grpSpPr>
                  <a:xfrm>
                    <a:off x="673100" y="1671070"/>
                    <a:ext cx="5100856" cy="2398014"/>
                    <a:chOff x="673100" y="1671070"/>
                    <a:chExt cx="1635534" cy="2398014"/>
                  </a:xfrm>
                </p:grpSpPr>
                <p:sp>
                  <p:nvSpPr>
                    <p:cNvPr id="12" name="Text1" descr="0014274b-ff3d-477d-a3ae-9bfe6f77582c"/>
                    <p:cNvSpPr txBox="1"/>
                    <p:nvPr/>
                  </p:nvSpPr>
                  <p:spPr>
                    <a:xfrm>
                      <a:off x="673100" y="2333733"/>
                      <a:ext cx="1635534" cy="173535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square" lIns="91440" tIns="45720" rIns="91440" bIns="45720" anchor="t" anchorCtr="1">
                      <a:normAutofit/>
                    </a:bodyPr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9pPr>
                    </a:lstStyle>
                    <a:p>
                      <a:pPr algn="ctr">
                        <a:lnSpc>
                          <a:spcPct val="120000"/>
                        </a:lnSpc>
                        <a:spcBef>
                          <a:spcPct val="0"/>
                        </a:spcBef>
                      </a:pPr>
                      <a:r>
                        <a:rPr lang="en-US" sz="1200" b="0" i="0" u="none">
                          <a:solidFill>
                            <a:srgbClr val="2F2F2F"/>
                          </a:solidFill>
                          <a:ea typeface="微软雅黑" panose="020B0503020204020204" charset="-122"/>
                        </a:rPr>
                        <a:t>绘制综合演变图，展示情感、主题等多维度交织的演变轨迹。</a:t>
                      </a:r>
                      <a:endParaRPr lang="en-US" sz="1200" b="0" i="0" u="none">
                        <a:solidFill>
                          <a:srgbClr val="2F2F2F"/>
                        </a:solidFill>
                        <a:ea typeface="微软雅黑" panose="020B0503020204020204" charset="-122"/>
                      </a:endParaRPr>
                    </a:p>
                  </p:txBody>
                </p:sp>
                <p:sp>
                  <p:nvSpPr>
                    <p:cNvPr id="13" name="Bullet1" descr="e7f5cd59-f6a2-4627-8349-d9fc8ad899a0"/>
                    <p:cNvSpPr/>
                    <p:nvPr/>
                  </p:nvSpPr>
                  <p:spPr>
                    <a:xfrm>
                      <a:off x="673100" y="1671070"/>
                      <a:ext cx="1635534" cy="553715"/>
                    </a:xfrm>
                    <a:prstGeom prst="rect">
                      <a:avLst/>
                    </a:prstGeom>
                  </p:spPr>
                  <p:txBody>
                    <a:bodyPr wrap="square" lIns="91440" tIns="45720" rIns="91440" bIns="45720" anchor="b" anchorCtr="1">
                      <a:normAutofit/>
                    </a:bodyPr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9pPr>
                    </a:lstStyle>
                    <a:p>
                      <a:pPr algn="ctr"/>
                      <a:r>
                        <a:rPr lang="en-US" sz="1800" b="1" i="0" u="none">
                          <a:solidFill>
                            <a:srgbClr val="2F2F2F"/>
                          </a:solidFill>
                          <a:ea typeface="微软雅黑" panose="020B0503020204020204" charset="-122"/>
                        </a:rPr>
                        <a:t>视觉化总结</a:t>
                      </a:r>
                      <a:endParaRPr lang="en-US" sz="1800" b="1" i="0" u="none">
                        <a:solidFill>
                          <a:srgbClr val="2F2F2F"/>
                        </a:solidFill>
                        <a:ea typeface="微软雅黑" panose="020B0503020204020204" charset="-122"/>
                      </a:endParaRPr>
                    </a:p>
                  </p:txBody>
                </p:sp>
              </p:grpSp>
            </p:grpSp>
            <p:grpSp>
              <p:nvGrpSpPr>
                <p:cNvPr id="21" name="组合 20" descr="38a6e942-45ff-46c6-9743-9adbbe9fd425"/>
                <p:cNvGrpSpPr/>
                <p:nvPr/>
              </p:nvGrpSpPr>
              <p:grpSpPr>
                <a:xfrm>
                  <a:off x="6418044" y="1771367"/>
                  <a:ext cx="5100856" cy="2851432"/>
                  <a:chOff x="6418044" y="1771367"/>
                  <a:chExt cx="5100856" cy="2851432"/>
                </a:xfrm>
              </p:grpSpPr>
              <p:grpSp>
                <p:nvGrpSpPr>
                  <p:cNvPr id="6" name="组合 5" descr="3943a4e4-3ca9-48c3-b550-1aeb5aa1caea"/>
                  <p:cNvGrpSpPr/>
                  <p:nvPr/>
                </p:nvGrpSpPr>
                <p:grpSpPr>
                  <a:xfrm>
                    <a:off x="8741763" y="1771367"/>
                    <a:ext cx="453418" cy="453418"/>
                    <a:chOff x="3053759" y="2371016"/>
                    <a:chExt cx="531791" cy="531791"/>
                  </a:xfrm>
                </p:grpSpPr>
                <p:sp>
                  <p:nvSpPr>
                    <p:cNvPr id="14" name="椭圆 13" descr="82590bcc-ea8d-4a3c-8be9-8af7267b414a"/>
                    <p:cNvSpPr/>
                    <p:nvPr/>
                  </p:nvSpPr>
                  <p:spPr>
                    <a:xfrm>
                      <a:off x="3053759" y="2371016"/>
                      <a:ext cx="531791" cy="531791"/>
                    </a:xfrm>
                    <a:prstGeom prst="ellipse">
                      <a:avLst/>
                    </a:prstGeom>
                    <a:solidFill>
                      <a:schemeClr val="accent2"/>
                    </a:solidFill>
                    <a:ln w="38100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square" lIns="91440" tIns="45720" rIns="91440" bIns="45720" anchor="ctr" anchorCtr="0">
                      <a:normAutofit fontScale="92500" lnSpcReduction="20000"/>
                    </a:bodyPr>
                    <a:lstStyle/>
                    <a:p>
                      <a:pPr algn="ctr"/>
                    </a:p>
                  </p:txBody>
                </p:sp>
                <p:sp>
                  <p:nvSpPr>
                    <p:cNvPr id="15" name="Icon2" descr="ea0c01ad-a982-4d58-89a0-f81f2595c006"/>
                    <p:cNvSpPr/>
                    <p:nvPr/>
                  </p:nvSpPr>
                  <p:spPr bwMode="auto">
                    <a:xfrm>
                      <a:off x="3172435" y="2495112"/>
                      <a:ext cx="294438" cy="283598"/>
                    </a:xfrm>
                    <a:custGeom>
                      <a:avLst/>
                      <a:gdLst>
                        <a:gd name="T0" fmla="*/ 4096 w 6827"/>
                        <a:gd name="T1" fmla="*/ 4551 h 6827"/>
                        <a:gd name="T2" fmla="*/ 6258 w 6827"/>
                        <a:gd name="T3" fmla="*/ 4096 h 6827"/>
                        <a:gd name="T4" fmla="*/ 2348 w 6827"/>
                        <a:gd name="T5" fmla="*/ 4911 h 6827"/>
                        <a:gd name="T6" fmla="*/ 569 w 6827"/>
                        <a:gd name="T7" fmla="*/ 4551 h 6827"/>
                        <a:gd name="T8" fmla="*/ 569 w 6827"/>
                        <a:gd name="T9" fmla="*/ 3982 h 6827"/>
                        <a:gd name="T10" fmla="*/ 1707 w 6827"/>
                        <a:gd name="T11" fmla="*/ 2503 h 6827"/>
                        <a:gd name="T12" fmla="*/ 3868 w 6827"/>
                        <a:gd name="T13" fmla="*/ 2731 h 6827"/>
                        <a:gd name="T14" fmla="*/ 5827 w 6827"/>
                        <a:gd name="T15" fmla="*/ 2004 h 6827"/>
                        <a:gd name="T16" fmla="*/ 6258 w 6827"/>
                        <a:gd name="T17" fmla="*/ 1820 h 6827"/>
                        <a:gd name="T18" fmla="*/ 4779 w 6827"/>
                        <a:gd name="T19" fmla="*/ 0 h 6827"/>
                        <a:gd name="T20" fmla="*/ 2854 w 6827"/>
                        <a:gd name="T21" fmla="*/ 2381 h 6827"/>
                        <a:gd name="T22" fmla="*/ 1239 w 6827"/>
                        <a:gd name="T23" fmla="*/ 2257 h 6827"/>
                        <a:gd name="T24" fmla="*/ 569 w 6827"/>
                        <a:gd name="T25" fmla="*/ 2844 h 6827"/>
                        <a:gd name="T26" fmla="*/ 569 w 6827"/>
                        <a:gd name="T27" fmla="*/ 2276 h 6827"/>
                        <a:gd name="T28" fmla="*/ 569 w 6827"/>
                        <a:gd name="T29" fmla="*/ 1707 h 6827"/>
                        <a:gd name="T30" fmla="*/ 569 w 6827"/>
                        <a:gd name="T31" fmla="*/ 1138 h 6827"/>
                        <a:gd name="T32" fmla="*/ 569 w 6827"/>
                        <a:gd name="T33" fmla="*/ 569 h 6827"/>
                        <a:gd name="T34" fmla="*/ 341 w 6827"/>
                        <a:gd name="T35" fmla="*/ 0 h 6827"/>
                        <a:gd name="T36" fmla="*/ 114 w 6827"/>
                        <a:gd name="T37" fmla="*/ 569 h 6827"/>
                        <a:gd name="T38" fmla="*/ 114 w 6827"/>
                        <a:gd name="T39" fmla="*/ 1138 h 6827"/>
                        <a:gd name="T40" fmla="*/ 114 w 6827"/>
                        <a:gd name="T41" fmla="*/ 1707 h 6827"/>
                        <a:gd name="T42" fmla="*/ 114 w 6827"/>
                        <a:gd name="T43" fmla="*/ 2276 h 6827"/>
                        <a:gd name="T44" fmla="*/ 114 w 6827"/>
                        <a:gd name="T45" fmla="*/ 2844 h 6827"/>
                        <a:gd name="T46" fmla="*/ 114 w 6827"/>
                        <a:gd name="T47" fmla="*/ 3413 h 6827"/>
                        <a:gd name="T48" fmla="*/ 114 w 6827"/>
                        <a:gd name="T49" fmla="*/ 3982 h 6827"/>
                        <a:gd name="T50" fmla="*/ 114 w 6827"/>
                        <a:gd name="T51" fmla="*/ 4551 h 6827"/>
                        <a:gd name="T52" fmla="*/ 114 w 6827"/>
                        <a:gd name="T53" fmla="*/ 5120 h 6827"/>
                        <a:gd name="T54" fmla="*/ 114 w 6827"/>
                        <a:gd name="T55" fmla="*/ 5689 h 6827"/>
                        <a:gd name="T56" fmla="*/ 114 w 6827"/>
                        <a:gd name="T57" fmla="*/ 6258 h 6827"/>
                        <a:gd name="T58" fmla="*/ 683 w 6827"/>
                        <a:gd name="T59" fmla="*/ 6713 h 6827"/>
                        <a:gd name="T60" fmla="*/ 1252 w 6827"/>
                        <a:gd name="T61" fmla="*/ 6713 h 6827"/>
                        <a:gd name="T62" fmla="*/ 1820 w 6827"/>
                        <a:gd name="T63" fmla="*/ 6713 h 6827"/>
                        <a:gd name="T64" fmla="*/ 2389 w 6827"/>
                        <a:gd name="T65" fmla="*/ 6713 h 6827"/>
                        <a:gd name="T66" fmla="*/ 2958 w 6827"/>
                        <a:gd name="T67" fmla="*/ 6713 h 6827"/>
                        <a:gd name="T68" fmla="*/ 3527 w 6827"/>
                        <a:gd name="T69" fmla="*/ 6713 h 6827"/>
                        <a:gd name="T70" fmla="*/ 4096 w 6827"/>
                        <a:gd name="T71" fmla="*/ 6713 h 6827"/>
                        <a:gd name="T72" fmla="*/ 4665 w 6827"/>
                        <a:gd name="T73" fmla="*/ 6713 h 6827"/>
                        <a:gd name="T74" fmla="*/ 5234 w 6827"/>
                        <a:gd name="T75" fmla="*/ 6713 h 6827"/>
                        <a:gd name="T76" fmla="*/ 5803 w 6827"/>
                        <a:gd name="T77" fmla="*/ 6713 h 6827"/>
                        <a:gd name="T78" fmla="*/ 6371 w 6827"/>
                        <a:gd name="T79" fmla="*/ 6713 h 6827"/>
                        <a:gd name="T80" fmla="*/ 6827 w 6827"/>
                        <a:gd name="T81" fmla="*/ 6485 h 6827"/>
                        <a:gd name="T82" fmla="*/ 6371 w 6827"/>
                        <a:gd name="T83" fmla="*/ 6258 h 6827"/>
                        <a:gd name="T84" fmla="*/ 5803 w 6827"/>
                        <a:gd name="T85" fmla="*/ 6258 h 6827"/>
                        <a:gd name="T86" fmla="*/ 5234 w 6827"/>
                        <a:gd name="T87" fmla="*/ 6258 h 6827"/>
                        <a:gd name="T88" fmla="*/ 4665 w 6827"/>
                        <a:gd name="T89" fmla="*/ 6258 h 6827"/>
                        <a:gd name="T90" fmla="*/ 4096 w 6827"/>
                        <a:gd name="T91" fmla="*/ 6258 h 6827"/>
                        <a:gd name="T92" fmla="*/ 3527 w 6827"/>
                        <a:gd name="T93" fmla="*/ 6258 h 6827"/>
                        <a:gd name="T94" fmla="*/ 2958 w 6827"/>
                        <a:gd name="T95" fmla="*/ 6258 h 6827"/>
                        <a:gd name="T96" fmla="*/ 2389 w 6827"/>
                        <a:gd name="T97" fmla="*/ 6258 h 6827"/>
                        <a:gd name="T98" fmla="*/ 1820 w 6827"/>
                        <a:gd name="T99" fmla="*/ 6258 h 6827"/>
                        <a:gd name="T100" fmla="*/ 1252 w 6827"/>
                        <a:gd name="T101" fmla="*/ 6258 h 6827"/>
                        <a:gd name="T102" fmla="*/ 683 w 6827"/>
                        <a:gd name="T103" fmla="*/ 6258 h 682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  <a:cxn ang="0">
                          <a:pos x="T98" y="T99"/>
                        </a:cxn>
                        <a:cxn ang="0">
                          <a:pos x="T100" y="T101"/>
                        </a:cxn>
                        <a:cxn ang="0">
                          <a:pos x="T102" y="T103"/>
                        </a:cxn>
                      </a:cxnLst>
                      <a:rect l="0" t="0" r="r" b="b"/>
                      <a:pathLst>
                        <a:path w="6827" h="6827">
                          <a:moveTo>
                            <a:pt x="1263" y="5234"/>
                          </a:moveTo>
                          <a:cubicBezTo>
                            <a:pt x="1316" y="5493"/>
                            <a:pt x="1546" y="5689"/>
                            <a:pt x="1820" y="5689"/>
                          </a:cubicBezTo>
                          <a:cubicBezTo>
                            <a:pt x="2114" y="5689"/>
                            <a:pt x="2354" y="5464"/>
                            <a:pt x="2383" y="5178"/>
                          </a:cubicBezTo>
                          <a:lnTo>
                            <a:pt x="3568" y="4191"/>
                          </a:lnTo>
                          <a:cubicBezTo>
                            <a:pt x="3652" y="4401"/>
                            <a:pt x="3856" y="4551"/>
                            <a:pt x="4096" y="4551"/>
                          </a:cubicBezTo>
                          <a:cubicBezTo>
                            <a:pt x="4348" y="4551"/>
                            <a:pt x="4560" y="4385"/>
                            <a:pt x="4635" y="4157"/>
                          </a:cubicBezTo>
                          <a:lnTo>
                            <a:pt x="5696" y="4736"/>
                          </a:lnTo>
                          <a:cubicBezTo>
                            <a:pt x="5732" y="5016"/>
                            <a:pt x="5969" y="5234"/>
                            <a:pt x="6258" y="5234"/>
                          </a:cubicBezTo>
                          <a:cubicBezTo>
                            <a:pt x="6571" y="5234"/>
                            <a:pt x="6827" y="4979"/>
                            <a:pt x="6827" y="4665"/>
                          </a:cubicBezTo>
                          <a:cubicBezTo>
                            <a:pt x="6827" y="4351"/>
                            <a:pt x="6571" y="4096"/>
                            <a:pt x="6258" y="4096"/>
                          </a:cubicBezTo>
                          <a:cubicBezTo>
                            <a:pt x="6006" y="4096"/>
                            <a:pt x="5794" y="4262"/>
                            <a:pt x="5719" y="4490"/>
                          </a:cubicBezTo>
                          <a:lnTo>
                            <a:pt x="4658" y="3911"/>
                          </a:lnTo>
                          <a:cubicBezTo>
                            <a:pt x="4622" y="3631"/>
                            <a:pt x="4385" y="3413"/>
                            <a:pt x="4096" y="3413"/>
                          </a:cubicBezTo>
                          <a:cubicBezTo>
                            <a:pt x="3802" y="3413"/>
                            <a:pt x="3563" y="3638"/>
                            <a:pt x="3533" y="3924"/>
                          </a:cubicBezTo>
                          <a:lnTo>
                            <a:pt x="2348" y="4911"/>
                          </a:lnTo>
                          <a:cubicBezTo>
                            <a:pt x="2265" y="4701"/>
                            <a:pt x="2060" y="4551"/>
                            <a:pt x="1820" y="4551"/>
                          </a:cubicBezTo>
                          <a:cubicBezTo>
                            <a:pt x="1546" y="4551"/>
                            <a:pt x="1316" y="4747"/>
                            <a:pt x="1263" y="5006"/>
                          </a:cubicBezTo>
                          <a:lnTo>
                            <a:pt x="455" y="5006"/>
                          </a:lnTo>
                          <a:lnTo>
                            <a:pt x="455" y="4551"/>
                          </a:lnTo>
                          <a:lnTo>
                            <a:pt x="569" y="4551"/>
                          </a:lnTo>
                          <a:cubicBezTo>
                            <a:pt x="632" y="4551"/>
                            <a:pt x="683" y="4500"/>
                            <a:pt x="683" y="4437"/>
                          </a:cubicBezTo>
                          <a:cubicBezTo>
                            <a:pt x="683" y="4374"/>
                            <a:pt x="632" y="4324"/>
                            <a:pt x="569" y="4324"/>
                          </a:cubicBezTo>
                          <a:lnTo>
                            <a:pt x="455" y="4324"/>
                          </a:lnTo>
                          <a:lnTo>
                            <a:pt x="455" y="3982"/>
                          </a:lnTo>
                          <a:lnTo>
                            <a:pt x="569" y="3982"/>
                          </a:lnTo>
                          <a:cubicBezTo>
                            <a:pt x="632" y="3982"/>
                            <a:pt x="683" y="3931"/>
                            <a:pt x="683" y="3868"/>
                          </a:cubicBezTo>
                          <a:cubicBezTo>
                            <a:pt x="683" y="3806"/>
                            <a:pt x="632" y="3755"/>
                            <a:pt x="569" y="3755"/>
                          </a:cubicBezTo>
                          <a:lnTo>
                            <a:pt x="480" y="3755"/>
                          </a:lnTo>
                          <a:lnTo>
                            <a:pt x="1407" y="2416"/>
                          </a:lnTo>
                          <a:cubicBezTo>
                            <a:pt x="1494" y="2470"/>
                            <a:pt x="1596" y="2503"/>
                            <a:pt x="1707" y="2503"/>
                          </a:cubicBezTo>
                          <a:cubicBezTo>
                            <a:pt x="1888" y="2503"/>
                            <a:pt x="2048" y="2416"/>
                            <a:pt x="2152" y="2284"/>
                          </a:cubicBezTo>
                          <a:lnTo>
                            <a:pt x="2752" y="2584"/>
                          </a:lnTo>
                          <a:cubicBezTo>
                            <a:pt x="2740" y="2631"/>
                            <a:pt x="2731" y="2680"/>
                            <a:pt x="2731" y="2731"/>
                          </a:cubicBezTo>
                          <a:cubicBezTo>
                            <a:pt x="2731" y="3044"/>
                            <a:pt x="2986" y="3300"/>
                            <a:pt x="3300" y="3300"/>
                          </a:cubicBezTo>
                          <a:cubicBezTo>
                            <a:pt x="3613" y="3300"/>
                            <a:pt x="3868" y="3044"/>
                            <a:pt x="3868" y="2731"/>
                          </a:cubicBezTo>
                          <a:cubicBezTo>
                            <a:pt x="3868" y="2608"/>
                            <a:pt x="3829" y="2496"/>
                            <a:pt x="3763" y="2403"/>
                          </a:cubicBezTo>
                          <a:lnTo>
                            <a:pt x="4488" y="1055"/>
                          </a:lnTo>
                          <a:cubicBezTo>
                            <a:pt x="4574" y="1107"/>
                            <a:pt x="4672" y="1138"/>
                            <a:pt x="4779" y="1138"/>
                          </a:cubicBezTo>
                          <a:cubicBezTo>
                            <a:pt x="4891" y="1138"/>
                            <a:pt x="4995" y="1104"/>
                            <a:pt x="5083" y="1048"/>
                          </a:cubicBezTo>
                          <a:lnTo>
                            <a:pt x="5827" y="2004"/>
                          </a:lnTo>
                          <a:cubicBezTo>
                            <a:pt x="5829" y="2007"/>
                            <a:pt x="5833" y="2009"/>
                            <a:pt x="5836" y="2011"/>
                          </a:cubicBezTo>
                          <a:cubicBezTo>
                            <a:pt x="5745" y="2112"/>
                            <a:pt x="5689" y="2244"/>
                            <a:pt x="5689" y="2389"/>
                          </a:cubicBezTo>
                          <a:cubicBezTo>
                            <a:pt x="5689" y="2703"/>
                            <a:pt x="5944" y="2958"/>
                            <a:pt x="6258" y="2958"/>
                          </a:cubicBezTo>
                          <a:cubicBezTo>
                            <a:pt x="6571" y="2958"/>
                            <a:pt x="6827" y="2703"/>
                            <a:pt x="6827" y="2389"/>
                          </a:cubicBezTo>
                          <a:cubicBezTo>
                            <a:pt x="6827" y="2076"/>
                            <a:pt x="6571" y="1820"/>
                            <a:pt x="6258" y="1820"/>
                          </a:cubicBezTo>
                          <a:cubicBezTo>
                            <a:pt x="6170" y="1820"/>
                            <a:pt x="6087" y="1842"/>
                            <a:pt x="6013" y="1878"/>
                          </a:cubicBezTo>
                          <a:cubicBezTo>
                            <a:pt x="6010" y="1874"/>
                            <a:pt x="6010" y="1869"/>
                            <a:pt x="6006" y="1864"/>
                          </a:cubicBezTo>
                          <a:lnTo>
                            <a:pt x="5248" y="890"/>
                          </a:lnTo>
                          <a:cubicBezTo>
                            <a:pt x="5311" y="798"/>
                            <a:pt x="5348" y="688"/>
                            <a:pt x="5348" y="569"/>
                          </a:cubicBezTo>
                          <a:cubicBezTo>
                            <a:pt x="5348" y="255"/>
                            <a:pt x="5092" y="0"/>
                            <a:pt x="4779" y="0"/>
                          </a:cubicBezTo>
                          <a:cubicBezTo>
                            <a:pt x="4465" y="0"/>
                            <a:pt x="4210" y="255"/>
                            <a:pt x="4210" y="569"/>
                          </a:cubicBezTo>
                          <a:cubicBezTo>
                            <a:pt x="4210" y="691"/>
                            <a:pt x="4249" y="804"/>
                            <a:pt x="4315" y="897"/>
                          </a:cubicBezTo>
                          <a:lnTo>
                            <a:pt x="3590" y="2244"/>
                          </a:lnTo>
                          <a:cubicBezTo>
                            <a:pt x="3505" y="2193"/>
                            <a:pt x="3406" y="2162"/>
                            <a:pt x="3300" y="2162"/>
                          </a:cubicBezTo>
                          <a:cubicBezTo>
                            <a:pt x="3118" y="2162"/>
                            <a:pt x="2959" y="2248"/>
                            <a:pt x="2854" y="2381"/>
                          </a:cubicBezTo>
                          <a:lnTo>
                            <a:pt x="2254" y="2081"/>
                          </a:lnTo>
                          <a:cubicBezTo>
                            <a:pt x="2267" y="2034"/>
                            <a:pt x="2276" y="1985"/>
                            <a:pt x="2276" y="1934"/>
                          </a:cubicBezTo>
                          <a:cubicBezTo>
                            <a:pt x="2276" y="1621"/>
                            <a:pt x="2020" y="1365"/>
                            <a:pt x="1707" y="1365"/>
                          </a:cubicBezTo>
                          <a:cubicBezTo>
                            <a:pt x="1393" y="1365"/>
                            <a:pt x="1138" y="1621"/>
                            <a:pt x="1138" y="1934"/>
                          </a:cubicBezTo>
                          <a:cubicBezTo>
                            <a:pt x="1138" y="2054"/>
                            <a:pt x="1176" y="2166"/>
                            <a:pt x="1239" y="2257"/>
                          </a:cubicBezTo>
                          <a:lnTo>
                            <a:pt x="593" y="3191"/>
                          </a:lnTo>
                          <a:cubicBezTo>
                            <a:pt x="585" y="3189"/>
                            <a:pt x="578" y="3186"/>
                            <a:pt x="569" y="3186"/>
                          </a:cubicBezTo>
                          <a:lnTo>
                            <a:pt x="455" y="3186"/>
                          </a:lnTo>
                          <a:lnTo>
                            <a:pt x="455" y="2844"/>
                          </a:lnTo>
                          <a:lnTo>
                            <a:pt x="569" y="2844"/>
                          </a:lnTo>
                          <a:cubicBezTo>
                            <a:pt x="632" y="2844"/>
                            <a:pt x="683" y="2794"/>
                            <a:pt x="683" y="2731"/>
                          </a:cubicBezTo>
                          <a:cubicBezTo>
                            <a:pt x="683" y="2668"/>
                            <a:pt x="632" y="2617"/>
                            <a:pt x="569" y="2617"/>
                          </a:cubicBezTo>
                          <a:lnTo>
                            <a:pt x="455" y="2617"/>
                          </a:lnTo>
                          <a:lnTo>
                            <a:pt x="455" y="2276"/>
                          </a:lnTo>
                          <a:lnTo>
                            <a:pt x="569" y="2276"/>
                          </a:lnTo>
                          <a:cubicBezTo>
                            <a:pt x="632" y="2276"/>
                            <a:pt x="683" y="2225"/>
                            <a:pt x="683" y="2162"/>
                          </a:cubicBezTo>
                          <a:cubicBezTo>
                            <a:pt x="683" y="2099"/>
                            <a:pt x="632" y="2048"/>
                            <a:pt x="569" y="2048"/>
                          </a:cubicBezTo>
                          <a:lnTo>
                            <a:pt x="455" y="2048"/>
                          </a:lnTo>
                          <a:lnTo>
                            <a:pt x="455" y="1707"/>
                          </a:lnTo>
                          <a:lnTo>
                            <a:pt x="569" y="1707"/>
                          </a:lnTo>
                          <a:cubicBezTo>
                            <a:pt x="632" y="1707"/>
                            <a:pt x="683" y="1656"/>
                            <a:pt x="683" y="1593"/>
                          </a:cubicBezTo>
                          <a:cubicBezTo>
                            <a:pt x="683" y="1530"/>
                            <a:pt x="632" y="1479"/>
                            <a:pt x="569" y="1479"/>
                          </a:cubicBezTo>
                          <a:lnTo>
                            <a:pt x="455" y="1479"/>
                          </a:lnTo>
                          <a:lnTo>
                            <a:pt x="455" y="1138"/>
                          </a:lnTo>
                          <a:lnTo>
                            <a:pt x="569" y="1138"/>
                          </a:lnTo>
                          <a:cubicBezTo>
                            <a:pt x="632" y="1138"/>
                            <a:pt x="683" y="1087"/>
                            <a:pt x="683" y="1024"/>
                          </a:cubicBezTo>
                          <a:cubicBezTo>
                            <a:pt x="683" y="961"/>
                            <a:pt x="632" y="910"/>
                            <a:pt x="569" y="910"/>
                          </a:cubicBezTo>
                          <a:lnTo>
                            <a:pt x="455" y="910"/>
                          </a:lnTo>
                          <a:lnTo>
                            <a:pt x="455" y="569"/>
                          </a:lnTo>
                          <a:lnTo>
                            <a:pt x="569" y="569"/>
                          </a:lnTo>
                          <a:cubicBezTo>
                            <a:pt x="632" y="569"/>
                            <a:pt x="683" y="518"/>
                            <a:pt x="683" y="455"/>
                          </a:cubicBezTo>
                          <a:cubicBezTo>
                            <a:pt x="683" y="392"/>
                            <a:pt x="632" y="341"/>
                            <a:pt x="569" y="341"/>
                          </a:cubicBezTo>
                          <a:lnTo>
                            <a:pt x="455" y="341"/>
                          </a:lnTo>
                          <a:lnTo>
                            <a:pt x="455" y="114"/>
                          </a:lnTo>
                          <a:cubicBezTo>
                            <a:pt x="455" y="51"/>
                            <a:pt x="404" y="0"/>
                            <a:pt x="341" y="0"/>
                          </a:cubicBezTo>
                          <a:cubicBezTo>
                            <a:pt x="278" y="0"/>
                            <a:pt x="228" y="51"/>
                            <a:pt x="228" y="114"/>
                          </a:cubicBezTo>
                          <a:lnTo>
                            <a:pt x="228" y="341"/>
                          </a:lnTo>
                          <a:lnTo>
                            <a:pt x="114" y="341"/>
                          </a:lnTo>
                          <a:cubicBezTo>
                            <a:pt x="51" y="341"/>
                            <a:pt x="0" y="392"/>
                            <a:pt x="0" y="455"/>
                          </a:cubicBezTo>
                          <a:cubicBezTo>
                            <a:pt x="0" y="518"/>
                            <a:pt x="51" y="569"/>
                            <a:pt x="114" y="569"/>
                          </a:cubicBezTo>
                          <a:lnTo>
                            <a:pt x="228" y="569"/>
                          </a:lnTo>
                          <a:lnTo>
                            <a:pt x="228" y="910"/>
                          </a:lnTo>
                          <a:lnTo>
                            <a:pt x="114" y="910"/>
                          </a:lnTo>
                          <a:cubicBezTo>
                            <a:pt x="51" y="910"/>
                            <a:pt x="0" y="961"/>
                            <a:pt x="0" y="1024"/>
                          </a:cubicBezTo>
                          <a:cubicBezTo>
                            <a:pt x="0" y="1087"/>
                            <a:pt x="51" y="1138"/>
                            <a:pt x="114" y="1138"/>
                          </a:cubicBezTo>
                          <a:lnTo>
                            <a:pt x="228" y="1138"/>
                          </a:lnTo>
                          <a:lnTo>
                            <a:pt x="228" y="1479"/>
                          </a:lnTo>
                          <a:lnTo>
                            <a:pt x="114" y="1479"/>
                          </a:lnTo>
                          <a:cubicBezTo>
                            <a:pt x="51" y="1479"/>
                            <a:pt x="0" y="1530"/>
                            <a:pt x="0" y="1593"/>
                          </a:cubicBezTo>
                          <a:cubicBezTo>
                            <a:pt x="0" y="1656"/>
                            <a:pt x="51" y="1707"/>
                            <a:pt x="114" y="1707"/>
                          </a:cubicBezTo>
                          <a:lnTo>
                            <a:pt x="228" y="1707"/>
                          </a:lnTo>
                          <a:lnTo>
                            <a:pt x="228" y="2048"/>
                          </a:lnTo>
                          <a:lnTo>
                            <a:pt x="114" y="2048"/>
                          </a:lnTo>
                          <a:cubicBezTo>
                            <a:pt x="51" y="2048"/>
                            <a:pt x="0" y="2099"/>
                            <a:pt x="0" y="2162"/>
                          </a:cubicBezTo>
                          <a:cubicBezTo>
                            <a:pt x="0" y="2225"/>
                            <a:pt x="51" y="2276"/>
                            <a:pt x="114" y="2276"/>
                          </a:cubicBezTo>
                          <a:lnTo>
                            <a:pt x="228" y="2276"/>
                          </a:lnTo>
                          <a:lnTo>
                            <a:pt x="228" y="2617"/>
                          </a:lnTo>
                          <a:lnTo>
                            <a:pt x="114" y="2617"/>
                          </a:lnTo>
                          <a:cubicBezTo>
                            <a:pt x="51" y="2617"/>
                            <a:pt x="0" y="2668"/>
                            <a:pt x="0" y="2731"/>
                          </a:cubicBezTo>
                          <a:cubicBezTo>
                            <a:pt x="0" y="2794"/>
                            <a:pt x="51" y="2844"/>
                            <a:pt x="114" y="2844"/>
                          </a:cubicBezTo>
                          <a:lnTo>
                            <a:pt x="228" y="2844"/>
                          </a:lnTo>
                          <a:lnTo>
                            <a:pt x="228" y="3186"/>
                          </a:lnTo>
                          <a:lnTo>
                            <a:pt x="114" y="3186"/>
                          </a:lnTo>
                          <a:cubicBezTo>
                            <a:pt x="51" y="3186"/>
                            <a:pt x="0" y="3237"/>
                            <a:pt x="0" y="3300"/>
                          </a:cubicBezTo>
                          <a:cubicBezTo>
                            <a:pt x="0" y="3362"/>
                            <a:pt x="51" y="3413"/>
                            <a:pt x="114" y="3413"/>
                          </a:cubicBezTo>
                          <a:lnTo>
                            <a:pt x="228" y="3413"/>
                          </a:lnTo>
                          <a:lnTo>
                            <a:pt x="228" y="3755"/>
                          </a:lnTo>
                          <a:lnTo>
                            <a:pt x="114" y="3755"/>
                          </a:lnTo>
                          <a:cubicBezTo>
                            <a:pt x="51" y="3755"/>
                            <a:pt x="0" y="3806"/>
                            <a:pt x="0" y="3868"/>
                          </a:cubicBezTo>
                          <a:cubicBezTo>
                            <a:pt x="0" y="3931"/>
                            <a:pt x="51" y="3982"/>
                            <a:pt x="114" y="3982"/>
                          </a:cubicBezTo>
                          <a:lnTo>
                            <a:pt x="228" y="3982"/>
                          </a:lnTo>
                          <a:lnTo>
                            <a:pt x="228" y="4324"/>
                          </a:lnTo>
                          <a:lnTo>
                            <a:pt x="114" y="4324"/>
                          </a:lnTo>
                          <a:cubicBezTo>
                            <a:pt x="51" y="4324"/>
                            <a:pt x="0" y="4374"/>
                            <a:pt x="0" y="4437"/>
                          </a:cubicBezTo>
                          <a:cubicBezTo>
                            <a:pt x="0" y="4500"/>
                            <a:pt x="51" y="4551"/>
                            <a:pt x="114" y="4551"/>
                          </a:cubicBezTo>
                          <a:lnTo>
                            <a:pt x="228" y="4551"/>
                          </a:lnTo>
                          <a:lnTo>
                            <a:pt x="228" y="4892"/>
                          </a:lnTo>
                          <a:lnTo>
                            <a:pt x="114" y="4892"/>
                          </a:lnTo>
                          <a:cubicBezTo>
                            <a:pt x="51" y="4892"/>
                            <a:pt x="0" y="4943"/>
                            <a:pt x="0" y="5006"/>
                          </a:cubicBezTo>
                          <a:cubicBezTo>
                            <a:pt x="0" y="5069"/>
                            <a:pt x="51" y="5120"/>
                            <a:pt x="114" y="5120"/>
                          </a:cubicBezTo>
                          <a:lnTo>
                            <a:pt x="228" y="5120"/>
                          </a:lnTo>
                          <a:lnTo>
                            <a:pt x="228" y="5461"/>
                          </a:lnTo>
                          <a:lnTo>
                            <a:pt x="114" y="5461"/>
                          </a:lnTo>
                          <a:cubicBezTo>
                            <a:pt x="51" y="5461"/>
                            <a:pt x="0" y="5512"/>
                            <a:pt x="0" y="5575"/>
                          </a:cubicBezTo>
                          <a:cubicBezTo>
                            <a:pt x="0" y="5638"/>
                            <a:pt x="51" y="5689"/>
                            <a:pt x="114" y="5689"/>
                          </a:cubicBezTo>
                          <a:lnTo>
                            <a:pt x="228" y="5689"/>
                          </a:lnTo>
                          <a:lnTo>
                            <a:pt x="228" y="6030"/>
                          </a:lnTo>
                          <a:lnTo>
                            <a:pt x="114" y="6030"/>
                          </a:lnTo>
                          <a:cubicBezTo>
                            <a:pt x="51" y="6030"/>
                            <a:pt x="0" y="6081"/>
                            <a:pt x="0" y="6144"/>
                          </a:cubicBezTo>
                          <a:cubicBezTo>
                            <a:pt x="0" y="6207"/>
                            <a:pt x="51" y="6258"/>
                            <a:pt x="114" y="6258"/>
                          </a:cubicBezTo>
                          <a:lnTo>
                            <a:pt x="228" y="6258"/>
                          </a:lnTo>
                          <a:lnTo>
                            <a:pt x="228" y="6485"/>
                          </a:lnTo>
                          <a:cubicBezTo>
                            <a:pt x="228" y="6548"/>
                            <a:pt x="278" y="6599"/>
                            <a:pt x="341" y="6599"/>
                          </a:cubicBezTo>
                          <a:lnTo>
                            <a:pt x="683" y="6599"/>
                          </a:lnTo>
                          <a:lnTo>
                            <a:pt x="683" y="6713"/>
                          </a:lnTo>
                          <a:cubicBezTo>
                            <a:pt x="683" y="6776"/>
                            <a:pt x="734" y="6827"/>
                            <a:pt x="796" y="6827"/>
                          </a:cubicBezTo>
                          <a:cubicBezTo>
                            <a:pt x="859" y="6827"/>
                            <a:pt x="910" y="6776"/>
                            <a:pt x="910" y="6713"/>
                          </a:cubicBezTo>
                          <a:lnTo>
                            <a:pt x="910" y="6599"/>
                          </a:lnTo>
                          <a:lnTo>
                            <a:pt x="1252" y="6599"/>
                          </a:lnTo>
                          <a:lnTo>
                            <a:pt x="1252" y="6713"/>
                          </a:lnTo>
                          <a:cubicBezTo>
                            <a:pt x="1252" y="6776"/>
                            <a:pt x="1302" y="6827"/>
                            <a:pt x="1365" y="6827"/>
                          </a:cubicBezTo>
                          <a:cubicBezTo>
                            <a:pt x="1428" y="6827"/>
                            <a:pt x="1479" y="6776"/>
                            <a:pt x="1479" y="6713"/>
                          </a:cubicBezTo>
                          <a:lnTo>
                            <a:pt x="1479" y="6599"/>
                          </a:lnTo>
                          <a:lnTo>
                            <a:pt x="1820" y="6599"/>
                          </a:lnTo>
                          <a:lnTo>
                            <a:pt x="1820" y="6713"/>
                          </a:lnTo>
                          <a:cubicBezTo>
                            <a:pt x="1820" y="6776"/>
                            <a:pt x="1871" y="6827"/>
                            <a:pt x="1934" y="6827"/>
                          </a:cubicBezTo>
                          <a:cubicBezTo>
                            <a:pt x="1997" y="6827"/>
                            <a:pt x="2048" y="6776"/>
                            <a:pt x="2048" y="6713"/>
                          </a:cubicBezTo>
                          <a:lnTo>
                            <a:pt x="2048" y="6599"/>
                          </a:lnTo>
                          <a:lnTo>
                            <a:pt x="2389" y="6599"/>
                          </a:lnTo>
                          <a:lnTo>
                            <a:pt x="2389" y="6713"/>
                          </a:lnTo>
                          <a:cubicBezTo>
                            <a:pt x="2389" y="6776"/>
                            <a:pt x="2440" y="6827"/>
                            <a:pt x="2503" y="6827"/>
                          </a:cubicBezTo>
                          <a:cubicBezTo>
                            <a:pt x="2566" y="6827"/>
                            <a:pt x="2617" y="6776"/>
                            <a:pt x="2617" y="6713"/>
                          </a:cubicBezTo>
                          <a:lnTo>
                            <a:pt x="2617" y="6599"/>
                          </a:lnTo>
                          <a:lnTo>
                            <a:pt x="2958" y="6599"/>
                          </a:lnTo>
                          <a:lnTo>
                            <a:pt x="2958" y="6713"/>
                          </a:lnTo>
                          <a:cubicBezTo>
                            <a:pt x="2958" y="6776"/>
                            <a:pt x="3009" y="6827"/>
                            <a:pt x="3072" y="6827"/>
                          </a:cubicBezTo>
                          <a:cubicBezTo>
                            <a:pt x="3135" y="6827"/>
                            <a:pt x="3186" y="6776"/>
                            <a:pt x="3186" y="6713"/>
                          </a:cubicBezTo>
                          <a:lnTo>
                            <a:pt x="3186" y="6599"/>
                          </a:lnTo>
                          <a:lnTo>
                            <a:pt x="3527" y="6599"/>
                          </a:lnTo>
                          <a:lnTo>
                            <a:pt x="3527" y="6713"/>
                          </a:lnTo>
                          <a:cubicBezTo>
                            <a:pt x="3527" y="6776"/>
                            <a:pt x="3578" y="6827"/>
                            <a:pt x="3641" y="6827"/>
                          </a:cubicBezTo>
                          <a:cubicBezTo>
                            <a:pt x="3704" y="6827"/>
                            <a:pt x="3755" y="6776"/>
                            <a:pt x="3755" y="6713"/>
                          </a:cubicBezTo>
                          <a:lnTo>
                            <a:pt x="3755" y="6599"/>
                          </a:lnTo>
                          <a:lnTo>
                            <a:pt x="4096" y="6599"/>
                          </a:lnTo>
                          <a:lnTo>
                            <a:pt x="4096" y="6713"/>
                          </a:lnTo>
                          <a:cubicBezTo>
                            <a:pt x="4096" y="6776"/>
                            <a:pt x="4147" y="6827"/>
                            <a:pt x="4210" y="6827"/>
                          </a:cubicBezTo>
                          <a:cubicBezTo>
                            <a:pt x="4273" y="6827"/>
                            <a:pt x="4323" y="6776"/>
                            <a:pt x="4323" y="6713"/>
                          </a:cubicBezTo>
                          <a:lnTo>
                            <a:pt x="4323" y="6599"/>
                          </a:lnTo>
                          <a:lnTo>
                            <a:pt x="4665" y="6599"/>
                          </a:lnTo>
                          <a:lnTo>
                            <a:pt x="4665" y="6713"/>
                          </a:lnTo>
                          <a:cubicBezTo>
                            <a:pt x="4665" y="6776"/>
                            <a:pt x="4716" y="6827"/>
                            <a:pt x="4779" y="6827"/>
                          </a:cubicBezTo>
                          <a:cubicBezTo>
                            <a:pt x="4842" y="6827"/>
                            <a:pt x="4892" y="6776"/>
                            <a:pt x="4892" y="6713"/>
                          </a:cubicBezTo>
                          <a:lnTo>
                            <a:pt x="4892" y="6599"/>
                          </a:lnTo>
                          <a:lnTo>
                            <a:pt x="5234" y="6599"/>
                          </a:lnTo>
                          <a:lnTo>
                            <a:pt x="5234" y="6713"/>
                          </a:lnTo>
                          <a:cubicBezTo>
                            <a:pt x="5234" y="6776"/>
                            <a:pt x="5285" y="6827"/>
                            <a:pt x="5347" y="6827"/>
                          </a:cubicBezTo>
                          <a:cubicBezTo>
                            <a:pt x="5410" y="6827"/>
                            <a:pt x="5461" y="6776"/>
                            <a:pt x="5461" y="6713"/>
                          </a:cubicBezTo>
                          <a:lnTo>
                            <a:pt x="5461" y="6599"/>
                          </a:lnTo>
                          <a:lnTo>
                            <a:pt x="5803" y="6599"/>
                          </a:lnTo>
                          <a:lnTo>
                            <a:pt x="5803" y="6713"/>
                          </a:lnTo>
                          <a:cubicBezTo>
                            <a:pt x="5803" y="6776"/>
                            <a:pt x="5853" y="6827"/>
                            <a:pt x="5916" y="6827"/>
                          </a:cubicBezTo>
                          <a:cubicBezTo>
                            <a:pt x="5979" y="6827"/>
                            <a:pt x="6030" y="6776"/>
                            <a:pt x="6030" y="6713"/>
                          </a:cubicBezTo>
                          <a:lnTo>
                            <a:pt x="6030" y="6599"/>
                          </a:lnTo>
                          <a:lnTo>
                            <a:pt x="6371" y="6599"/>
                          </a:lnTo>
                          <a:lnTo>
                            <a:pt x="6371" y="6713"/>
                          </a:lnTo>
                          <a:cubicBezTo>
                            <a:pt x="6371" y="6776"/>
                            <a:pt x="6422" y="6827"/>
                            <a:pt x="6485" y="6827"/>
                          </a:cubicBezTo>
                          <a:cubicBezTo>
                            <a:pt x="6548" y="6827"/>
                            <a:pt x="6599" y="6776"/>
                            <a:pt x="6599" y="6713"/>
                          </a:cubicBezTo>
                          <a:lnTo>
                            <a:pt x="6599" y="6599"/>
                          </a:lnTo>
                          <a:lnTo>
                            <a:pt x="6713" y="6599"/>
                          </a:lnTo>
                          <a:cubicBezTo>
                            <a:pt x="6776" y="6599"/>
                            <a:pt x="6827" y="6548"/>
                            <a:pt x="6827" y="6485"/>
                          </a:cubicBezTo>
                          <a:cubicBezTo>
                            <a:pt x="6827" y="6422"/>
                            <a:pt x="6776" y="6372"/>
                            <a:pt x="6713" y="6372"/>
                          </a:cubicBezTo>
                          <a:lnTo>
                            <a:pt x="6599" y="6372"/>
                          </a:lnTo>
                          <a:lnTo>
                            <a:pt x="6599" y="6258"/>
                          </a:lnTo>
                          <a:cubicBezTo>
                            <a:pt x="6599" y="6195"/>
                            <a:pt x="6548" y="6144"/>
                            <a:pt x="6485" y="6144"/>
                          </a:cubicBezTo>
                          <a:cubicBezTo>
                            <a:pt x="6422" y="6144"/>
                            <a:pt x="6371" y="6195"/>
                            <a:pt x="6371" y="6258"/>
                          </a:cubicBezTo>
                          <a:lnTo>
                            <a:pt x="6371" y="6372"/>
                          </a:lnTo>
                          <a:lnTo>
                            <a:pt x="6030" y="6372"/>
                          </a:lnTo>
                          <a:lnTo>
                            <a:pt x="6030" y="6258"/>
                          </a:lnTo>
                          <a:cubicBezTo>
                            <a:pt x="6030" y="6195"/>
                            <a:pt x="5979" y="6144"/>
                            <a:pt x="5916" y="6144"/>
                          </a:cubicBezTo>
                          <a:cubicBezTo>
                            <a:pt x="5853" y="6144"/>
                            <a:pt x="5803" y="6195"/>
                            <a:pt x="5803" y="6258"/>
                          </a:cubicBezTo>
                          <a:lnTo>
                            <a:pt x="5803" y="6372"/>
                          </a:lnTo>
                          <a:lnTo>
                            <a:pt x="5461" y="6372"/>
                          </a:lnTo>
                          <a:lnTo>
                            <a:pt x="5461" y="6258"/>
                          </a:lnTo>
                          <a:cubicBezTo>
                            <a:pt x="5461" y="6195"/>
                            <a:pt x="5410" y="6144"/>
                            <a:pt x="5347" y="6144"/>
                          </a:cubicBezTo>
                          <a:cubicBezTo>
                            <a:pt x="5285" y="6144"/>
                            <a:pt x="5234" y="6195"/>
                            <a:pt x="5234" y="6258"/>
                          </a:cubicBezTo>
                          <a:lnTo>
                            <a:pt x="5234" y="6372"/>
                          </a:lnTo>
                          <a:lnTo>
                            <a:pt x="4892" y="6372"/>
                          </a:lnTo>
                          <a:lnTo>
                            <a:pt x="4892" y="6258"/>
                          </a:lnTo>
                          <a:cubicBezTo>
                            <a:pt x="4892" y="6195"/>
                            <a:pt x="4842" y="6144"/>
                            <a:pt x="4779" y="6144"/>
                          </a:cubicBezTo>
                          <a:cubicBezTo>
                            <a:pt x="4716" y="6144"/>
                            <a:pt x="4665" y="6195"/>
                            <a:pt x="4665" y="6258"/>
                          </a:cubicBezTo>
                          <a:lnTo>
                            <a:pt x="4665" y="6372"/>
                          </a:lnTo>
                          <a:lnTo>
                            <a:pt x="4323" y="6372"/>
                          </a:lnTo>
                          <a:lnTo>
                            <a:pt x="4323" y="6258"/>
                          </a:lnTo>
                          <a:cubicBezTo>
                            <a:pt x="4323" y="6195"/>
                            <a:pt x="4273" y="6144"/>
                            <a:pt x="4210" y="6144"/>
                          </a:cubicBezTo>
                          <a:cubicBezTo>
                            <a:pt x="4147" y="6144"/>
                            <a:pt x="4096" y="6195"/>
                            <a:pt x="4096" y="6258"/>
                          </a:cubicBezTo>
                          <a:lnTo>
                            <a:pt x="4096" y="6372"/>
                          </a:lnTo>
                          <a:lnTo>
                            <a:pt x="3755" y="6372"/>
                          </a:lnTo>
                          <a:lnTo>
                            <a:pt x="3755" y="6258"/>
                          </a:lnTo>
                          <a:cubicBezTo>
                            <a:pt x="3755" y="6195"/>
                            <a:pt x="3704" y="6144"/>
                            <a:pt x="3641" y="6144"/>
                          </a:cubicBezTo>
                          <a:cubicBezTo>
                            <a:pt x="3578" y="6144"/>
                            <a:pt x="3527" y="6195"/>
                            <a:pt x="3527" y="6258"/>
                          </a:cubicBezTo>
                          <a:lnTo>
                            <a:pt x="3527" y="6372"/>
                          </a:lnTo>
                          <a:lnTo>
                            <a:pt x="3186" y="6372"/>
                          </a:lnTo>
                          <a:lnTo>
                            <a:pt x="3186" y="6258"/>
                          </a:lnTo>
                          <a:cubicBezTo>
                            <a:pt x="3186" y="6195"/>
                            <a:pt x="3135" y="6144"/>
                            <a:pt x="3072" y="6144"/>
                          </a:cubicBezTo>
                          <a:cubicBezTo>
                            <a:pt x="3009" y="6144"/>
                            <a:pt x="2958" y="6195"/>
                            <a:pt x="2958" y="6258"/>
                          </a:cubicBezTo>
                          <a:lnTo>
                            <a:pt x="2958" y="6372"/>
                          </a:lnTo>
                          <a:lnTo>
                            <a:pt x="2617" y="6372"/>
                          </a:lnTo>
                          <a:lnTo>
                            <a:pt x="2617" y="6258"/>
                          </a:lnTo>
                          <a:cubicBezTo>
                            <a:pt x="2617" y="6195"/>
                            <a:pt x="2566" y="6144"/>
                            <a:pt x="2503" y="6144"/>
                          </a:cubicBezTo>
                          <a:cubicBezTo>
                            <a:pt x="2440" y="6144"/>
                            <a:pt x="2389" y="6195"/>
                            <a:pt x="2389" y="6258"/>
                          </a:cubicBezTo>
                          <a:lnTo>
                            <a:pt x="2389" y="6372"/>
                          </a:lnTo>
                          <a:lnTo>
                            <a:pt x="2048" y="6372"/>
                          </a:lnTo>
                          <a:lnTo>
                            <a:pt x="2048" y="6258"/>
                          </a:lnTo>
                          <a:cubicBezTo>
                            <a:pt x="2048" y="6195"/>
                            <a:pt x="1997" y="6144"/>
                            <a:pt x="1934" y="6144"/>
                          </a:cubicBezTo>
                          <a:cubicBezTo>
                            <a:pt x="1871" y="6144"/>
                            <a:pt x="1820" y="6195"/>
                            <a:pt x="1820" y="6258"/>
                          </a:cubicBezTo>
                          <a:lnTo>
                            <a:pt x="1820" y="6372"/>
                          </a:lnTo>
                          <a:lnTo>
                            <a:pt x="1479" y="6372"/>
                          </a:lnTo>
                          <a:lnTo>
                            <a:pt x="1479" y="6258"/>
                          </a:lnTo>
                          <a:cubicBezTo>
                            <a:pt x="1479" y="6195"/>
                            <a:pt x="1428" y="6144"/>
                            <a:pt x="1365" y="6144"/>
                          </a:cubicBezTo>
                          <a:cubicBezTo>
                            <a:pt x="1302" y="6144"/>
                            <a:pt x="1252" y="6195"/>
                            <a:pt x="1252" y="6258"/>
                          </a:cubicBezTo>
                          <a:lnTo>
                            <a:pt x="1252" y="6372"/>
                          </a:lnTo>
                          <a:lnTo>
                            <a:pt x="910" y="6372"/>
                          </a:lnTo>
                          <a:lnTo>
                            <a:pt x="910" y="6258"/>
                          </a:lnTo>
                          <a:cubicBezTo>
                            <a:pt x="910" y="6195"/>
                            <a:pt x="859" y="6144"/>
                            <a:pt x="796" y="6144"/>
                          </a:cubicBezTo>
                          <a:cubicBezTo>
                            <a:pt x="734" y="6144"/>
                            <a:pt x="683" y="6195"/>
                            <a:pt x="683" y="6258"/>
                          </a:cubicBezTo>
                          <a:lnTo>
                            <a:pt x="683" y="6372"/>
                          </a:lnTo>
                          <a:lnTo>
                            <a:pt x="455" y="6372"/>
                          </a:lnTo>
                          <a:lnTo>
                            <a:pt x="455" y="5234"/>
                          </a:lnTo>
                          <a:lnTo>
                            <a:pt x="1263" y="5234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wrap="square" lIns="91440" tIns="45720" rIns="91440" bIns="45720" anchor="ctr" anchorCtr="0">
                      <a:normAutofit fontScale="62500" lnSpcReduction="20000"/>
                    </a:bodyPr>
                    <a:lstStyle/>
                    <a:p>
                      <a:pPr algn="ctr"/>
                    </a:p>
                  </p:txBody>
                </p:sp>
              </p:grpSp>
              <p:grpSp>
                <p:nvGrpSpPr>
                  <p:cNvPr id="8" name="组合 7" descr="9d9b94c5-a4c3-4f2f-87dd-220485dd5386"/>
                  <p:cNvGrpSpPr/>
                  <p:nvPr/>
                </p:nvGrpSpPr>
                <p:grpSpPr>
                  <a:xfrm>
                    <a:off x="6418044" y="2224785"/>
                    <a:ext cx="5100856" cy="2398014"/>
                    <a:chOff x="2515154" y="2224785"/>
                    <a:chExt cx="1635534" cy="2398014"/>
                  </a:xfrm>
                </p:grpSpPr>
                <p:sp>
                  <p:nvSpPr>
                    <p:cNvPr id="10" name="Text2" descr="31d1fd2b-844a-40ba-bd0f-061da3724e77"/>
                    <p:cNvSpPr txBox="1"/>
                    <p:nvPr/>
                  </p:nvSpPr>
                  <p:spPr>
                    <a:xfrm>
                      <a:off x="2515154" y="2887448"/>
                      <a:ext cx="1635534" cy="173535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square" lIns="91440" tIns="45720" rIns="91440" bIns="45720" anchor="t" anchorCtr="1">
                      <a:normAutofit/>
                    </a:bodyPr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9pPr>
                    </a:lstStyle>
                    <a:p>
                      <a:pPr algn="ctr">
                        <a:lnSpc>
                          <a:spcPct val="120000"/>
                        </a:lnSpc>
                        <a:spcBef>
                          <a:spcPct val="0"/>
                        </a:spcBef>
                      </a:pPr>
                      <a:r>
                        <a:rPr lang="zh-CN" altLang="en-US" sz="1200" b="0" i="0" u="none">
                          <a:solidFill>
                            <a:srgbClr val="2F2F2F"/>
                          </a:solidFill>
                          <a:ea typeface="微软雅黑" panose="020B0503020204020204" charset="-122"/>
                        </a:rPr>
                        <a:t>宫崎骏作品情感叙事曲线是早期平缓偏积极，中期波动剧烈含正负冲突，后期紧贴中性轴，直观印证其作品情感从积极转向复杂再到内敛的演变，是数字人文分析的核心可视化证据。</a:t>
                      </a:r>
                      <a:r>
                        <a:rPr lang="en-US" sz="1200" b="0" i="0" u="none">
                          <a:solidFill>
                            <a:srgbClr val="2F2F2F"/>
                          </a:solidFill>
                          <a:ea typeface="微软雅黑" panose="020B0503020204020204" charset="-122"/>
                        </a:rPr>
                        <a:t>数据全面印证宫崎骏创作从“描绘世界”到“解析世界”再到“拥抱世界”的过程。</a:t>
                      </a:r>
                      <a:endParaRPr lang="en-US" sz="1200" b="0" i="0" u="none">
                        <a:solidFill>
                          <a:srgbClr val="2F2F2F"/>
                        </a:solidFill>
                        <a:ea typeface="微软雅黑" panose="020B0503020204020204" charset="-122"/>
                      </a:endParaRPr>
                    </a:p>
                  </p:txBody>
                </p:sp>
                <p:sp>
                  <p:nvSpPr>
                    <p:cNvPr id="11" name="Bullet2" descr="48f29480-8fb1-4611-9507-f028ede33642"/>
                    <p:cNvSpPr/>
                    <p:nvPr/>
                  </p:nvSpPr>
                  <p:spPr>
                    <a:xfrm>
                      <a:off x="2515154" y="2224785"/>
                      <a:ext cx="1635534" cy="553715"/>
                    </a:xfrm>
                    <a:prstGeom prst="rect">
                      <a:avLst/>
                    </a:prstGeom>
                  </p:spPr>
                  <p:txBody>
                    <a:bodyPr wrap="square" lIns="91440" tIns="45720" rIns="91440" bIns="45720" anchor="b" anchorCtr="1">
                      <a:normAutofit/>
                    </a:bodyPr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9pPr>
                    </a:lstStyle>
                    <a:p>
                      <a:pPr algn="ctr"/>
                      <a:r>
                        <a:rPr lang="en-US" sz="1800" b="1" i="0" u="none">
                          <a:solidFill>
                            <a:srgbClr val="2F2F2F"/>
                          </a:solidFill>
                          <a:ea typeface="微软雅黑" panose="020B0503020204020204" charset="-122"/>
                        </a:rPr>
                        <a:t>文本结论</a:t>
                      </a:r>
                      <a:endParaRPr lang="en-US" sz="1800" b="1" i="0" u="none">
                        <a:solidFill>
                          <a:srgbClr val="2F2F2F"/>
                        </a:solidFill>
                        <a:ea typeface="微软雅黑" panose="020B0503020204020204" charset="-122"/>
                      </a:endParaRPr>
                    </a:p>
                  </p:txBody>
                </p:sp>
              </p:grpSp>
            </p:grpSp>
          </p:grpSp>
        </p:grpSp>
        <p:sp>
          <p:nvSpPr>
            <p:cNvPr id="2" name="Title" descr="6ba08008-75f2-4d47-a60f-3e632450c3bf"/>
            <p:cNvSpPr txBox="1"/>
            <p:nvPr/>
          </p:nvSpPr>
          <p:spPr>
            <a:xfrm>
              <a:off x="6180084" y="1224891"/>
              <a:ext cx="5338815" cy="897621"/>
            </a:xfrm>
            <a:prstGeom prst="rect">
              <a:avLst/>
            </a:prstGeom>
            <a:noFill/>
          </p:spPr>
          <p:txBody>
            <a:bodyPr vert="horz" wrap="square" rtlCol="0" anchor="t" anchorCtr="0">
              <a:normAutofit/>
            </a:bodyPr>
            <a:lstStyle/>
            <a:p>
              <a:pPr algn="l"/>
              <a:r>
                <a:rPr lang="en-US" sz="2400" b="1" i="0" u="none">
                  <a:solidFill>
                    <a:srgbClr val="2F2F2F"/>
                  </a:solidFill>
                  <a:ea typeface="微软雅黑" panose="020B0503020204020204" charset="-122"/>
                </a:rPr>
                <a:t>直观呈现演变轨迹</a:t>
              </a:r>
              <a:endParaRPr lang="en-US" sz="2400" b="1" i="0" u="none">
                <a:solidFill>
                  <a:srgbClr val="2F2F2F"/>
                </a:solidFill>
                <a:ea typeface="微软雅黑" panose="020B0503020204020204" charset="-122"/>
              </a:endParaRPr>
            </a:p>
          </p:txBody>
        </p:sp>
      </p:grpSp>
      <p:sp>
        <p:nvSpPr>
          <p:cNvPr id="24" name="标题 23" descr="6e191eb5-7da3-4a4d-bdfb-9524e0e49c7c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2F2F2F"/>
                </a:solidFill>
                <a:ea typeface="微软雅黑" panose="020B0503020204020204" charset="-122"/>
              </a:rPr>
              <a:t>数据印证下的演变总图</a:t>
            </a:r>
            <a:endParaRPr lang="en-US" sz="2800" b="1" i="0" u="none">
              <a:solidFill>
                <a:srgbClr val="2F2F2F"/>
              </a:solidFill>
              <a:ea typeface="微软雅黑" panose="020B0503020204020204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4600" y="3238500"/>
            <a:ext cx="3470275" cy="331089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2051b2ee-a3b7-47d1-af19-2d3cedf9fdc5.source.2.zh-Hans.pptx" descr="e251f452-9f31-4bcd-b324-425e7fad4545"/>
          <p:cNvGrpSpPr/>
          <p:nvPr>
            <p:custDataLst>
              <p:tags r:id="rId1"/>
            </p:custDataLst>
          </p:nvPr>
        </p:nvGrpSpPr>
        <p:grpSpPr>
          <a:xfrm>
            <a:off x="660400" y="1130300"/>
            <a:ext cx="10858500" cy="4749800"/>
            <a:chOff x="660400" y="1130300"/>
            <a:chExt cx="10858500" cy="4749800"/>
          </a:xfrm>
        </p:grpSpPr>
        <p:sp>
          <p:nvSpPr>
            <p:cNvPr id="13" name="Title" descr="8ca6daba-6707-40e4-a75c-50e884e32534"/>
            <p:cNvSpPr/>
            <p:nvPr/>
          </p:nvSpPr>
          <p:spPr>
            <a:xfrm>
              <a:off x="660400" y="1130300"/>
              <a:ext cx="10858500" cy="1159600"/>
            </a:xfrm>
            <a:prstGeom prst="rect">
              <a:avLst/>
            </a:prstGeom>
          </p:spPr>
          <p:txBody>
            <a:bodyPr wrap="square" anchor="t" anchorCtr="0">
              <a:normAutofit/>
            </a:bodyPr>
            <a:lstStyle/>
            <a:p>
              <a:pPr algn="ctr"/>
              <a:r>
                <a:rPr lang="en-US" sz="2400" b="1" i="0" u="none">
                  <a:solidFill>
                    <a:srgbClr val="2F2F2F"/>
                  </a:solidFill>
                  <a:ea typeface="微软雅黑" panose="020B0503020204020204" charset="-122"/>
                </a:rPr>
                <a:t>发现永恒的人文精神</a:t>
              </a:r>
              <a:endParaRPr lang="en-US" sz="2400" b="1" i="0" u="none">
                <a:solidFill>
                  <a:srgbClr val="2F2F2F"/>
                </a:solidFill>
                <a:ea typeface="微软雅黑" panose="020B0503020204020204" charset="-122"/>
              </a:endParaRPr>
            </a:p>
          </p:txBody>
        </p:sp>
        <p:grpSp>
          <p:nvGrpSpPr>
            <p:cNvPr id="21" name="组合 20" descr="14a00c32-efe0-42ae-ae2c-bd3e56b3cc43"/>
            <p:cNvGrpSpPr/>
            <p:nvPr/>
          </p:nvGrpSpPr>
          <p:grpSpPr>
            <a:xfrm>
              <a:off x="1549359" y="1794953"/>
              <a:ext cx="4029869" cy="4085147"/>
              <a:chOff x="1812128" y="1794953"/>
              <a:chExt cx="4029869" cy="4085147"/>
            </a:xfrm>
          </p:grpSpPr>
          <p:sp>
            <p:nvSpPr>
              <p:cNvPr id="14" name="Bullet1" descr="104b5440-05a8-4192-a3c2-53f34139848c"/>
              <p:cNvSpPr/>
              <p:nvPr>
                <p:custDataLst>
                  <p:tags r:id="rId2"/>
                </p:custDataLst>
              </p:nvPr>
            </p:nvSpPr>
            <p:spPr>
              <a:xfrm flipH="1">
                <a:off x="1812128" y="1794953"/>
                <a:ext cx="3104040" cy="60734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/>
              </a:bodyPr>
              <a:lstStyle/>
              <a:p>
                <a:pPr algn="ctr"/>
                <a:r>
                  <a:rPr lang="en-US" sz="1800" b="1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核心</a:t>
                </a:r>
                <a:r>
                  <a:rPr lang="zh-CN" altLang="en-US" sz="1800" b="1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词</a:t>
                </a:r>
                <a:r>
                  <a:rPr lang="en-US" sz="1800" b="1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图表</a:t>
                </a:r>
                <a:endParaRPr lang="en-US" sz="1800" b="1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5" name="Text1" descr="352c2d5c-352e-46b1-b285-1b2e65828d55"/>
              <p:cNvSpPr/>
              <p:nvPr>
                <p:custDataLst>
                  <p:tags r:id="rId3"/>
                </p:custDataLst>
              </p:nvPr>
            </p:nvSpPr>
            <p:spPr>
              <a:xfrm flipH="1">
                <a:off x="2737959" y="4661631"/>
                <a:ext cx="3104038" cy="121846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endParaRPr lang="en-US" sz="12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22" name="组合 21" descr="6095b902-ff79-40ee-b5f0-61ac9c0677dc"/>
            <p:cNvGrpSpPr/>
            <p:nvPr/>
          </p:nvGrpSpPr>
          <p:grpSpPr>
            <a:xfrm>
              <a:off x="7451607" y="1795588"/>
              <a:ext cx="3104040" cy="3444240"/>
              <a:chOff x="7714376" y="1795588"/>
              <a:chExt cx="3104040" cy="3444240"/>
            </a:xfrm>
          </p:grpSpPr>
          <p:sp>
            <p:nvSpPr>
              <p:cNvPr id="17" name="Bullet2" descr="7417c0e3-4119-4ec4-afdc-1b4b8004104c"/>
              <p:cNvSpPr/>
              <p:nvPr>
                <p:custDataLst>
                  <p:tags r:id="rId4"/>
                </p:custDataLst>
              </p:nvPr>
            </p:nvSpPr>
            <p:spPr>
              <a:xfrm flipH="1">
                <a:off x="7714376" y="1795588"/>
                <a:ext cx="3104040" cy="60734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/>
              </a:bodyPr>
              <a:lstStyle/>
              <a:p>
                <a:pPr algn="ctr"/>
                <a:r>
                  <a:rPr lang="en-US" sz="1800" b="1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核心发现</a:t>
                </a:r>
                <a:endParaRPr lang="en-US" sz="1800" b="1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8" name="Text2" descr="1d5a6700-b2dc-439e-b45f-2d0bbfb26c80"/>
              <p:cNvSpPr/>
              <p:nvPr>
                <p:custDataLst>
                  <p:tags r:id="rId5"/>
                </p:custDataLst>
              </p:nvPr>
            </p:nvSpPr>
            <p:spPr>
              <a:xfrm flipH="1">
                <a:off x="7714376" y="2402013"/>
                <a:ext cx="3103880" cy="283781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Autofit/>
              </a:bodyPr>
              <a:lstStyle/>
              <a:p>
                <a:pPr lvl="0" algn="l">
                  <a:lnSpc>
                    <a:spcPct val="130000"/>
                  </a:lnSpc>
                </a:pPr>
                <a:r>
                  <a:rPr lang="zh-CN" altLang="en-US" sz="15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由图表所呈现的信息可以清晰看出，宫崎骏的作品题材丰富多元，其中除了常常深入探讨战争这一沉重且影响深远的话题外，还频繁地谈及亲情、友情和爱情等人类之间细腻而真挚的情感联系。无论作品的形式怎样演变发展，他对生命、生活以及善的关怀始终坚定不移、从未改变。</a:t>
                </a:r>
                <a:endParaRPr lang="zh-CN" altLang="en-US" sz="15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" name="标题 1" descr="6e191eb5-7da3-4a4d-bdfb-9524e0e49c7c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2F2F2F"/>
                </a:solidFill>
                <a:ea typeface="微软雅黑" panose="020B0503020204020204" charset="-122"/>
              </a:rPr>
              <a:t>不变的人文内核：数据的另一面</a:t>
            </a:r>
            <a:endParaRPr lang="en-US" sz="2800" b="1" i="0" u="none">
              <a:solidFill>
                <a:srgbClr val="2F2F2F"/>
              </a:solidFill>
              <a:ea typeface="微软雅黑" panose="020B0503020204020204" charset="-122"/>
            </a:endParaRPr>
          </a:p>
        </p:txBody>
      </p:sp>
      <p:pic>
        <p:nvPicPr>
          <p:cNvPr id="4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41500" y="2391410"/>
            <a:ext cx="2519680" cy="43122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d70427a0-c0a0-45fe-a05b-eaf7b6a11ce9.source.2.zh-Hans.pptx" descr="497c271f-355b-4148-b412-085b43e022de"/>
          <p:cNvGrpSpPr/>
          <p:nvPr>
            <p:custDataLst>
              <p:tags r:id="rId1"/>
            </p:custDataLst>
          </p:nvPr>
        </p:nvGrpSpPr>
        <p:grpSpPr>
          <a:xfrm>
            <a:off x="669926" y="1202696"/>
            <a:ext cx="10848974" cy="4666740"/>
            <a:chOff x="669926" y="1202696"/>
            <a:chExt cx="10848974" cy="4666740"/>
          </a:xfrm>
        </p:grpSpPr>
        <p:sp>
          <p:nvSpPr>
            <p:cNvPr id="23" name="Title" descr="a2d691d7-34cc-4970-9e4b-b8a11abf3237"/>
            <p:cNvSpPr txBox="1"/>
            <p:nvPr/>
          </p:nvSpPr>
          <p:spPr>
            <a:xfrm>
              <a:off x="669926" y="1202696"/>
              <a:ext cx="10848974" cy="877563"/>
            </a:xfrm>
            <a:prstGeom prst="rect">
              <a:avLst/>
            </a:prstGeom>
            <a:noFill/>
          </p:spPr>
          <p:txBody>
            <a:bodyPr wrap="square" anchor="b" anchorCtr="1">
              <a:normAutofit/>
            </a:bodyPr>
            <a:lstStyle/>
            <a:p>
              <a:pPr algn="ctr"/>
              <a:r>
                <a:rPr lang="en-US" sz="2400" b="1" i="0" u="none">
                  <a:solidFill>
                    <a:srgbClr val="2F2F2F"/>
                  </a:solidFill>
                  <a:ea typeface="微软雅黑" panose="020B0503020204020204" charset="-122"/>
                </a:rPr>
                <a:t>提炼核心观点</a:t>
              </a:r>
              <a:endParaRPr lang="en-US" sz="2400" b="1" i="0" u="none">
                <a:solidFill>
                  <a:srgbClr val="2F2F2F"/>
                </a:solidFill>
                <a:ea typeface="微软雅黑" panose="020B0503020204020204" charset="-122"/>
              </a:endParaRPr>
            </a:p>
          </p:txBody>
        </p:sp>
        <p:grpSp>
          <p:nvGrpSpPr>
            <p:cNvPr id="16" name="组合 15" descr="1bda849a-c880-4279-b39b-c47ecbdd9d3d"/>
            <p:cNvGrpSpPr/>
            <p:nvPr/>
          </p:nvGrpSpPr>
          <p:grpSpPr>
            <a:xfrm>
              <a:off x="1054966" y="2615305"/>
              <a:ext cx="4568092" cy="3254131"/>
              <a:chOff x="1054966" y="2615305"/>
              <a:chExt cx="4568092" cy="3254131"/>
            </a:xfrm>
          </p:grpSpPr>
          <p:sp>
            <p:nvSpPr>
              <p:cNvPr id="19" name="矩形: 对角圆角 18" descr="495022b1-c8fa-4650-b5a1-60781de14a77"/>
              <p:cNvSpPr/>
              <p:nvPr>
                <p:custDataLst>
                  <p:tags r:id="rId2"/>
                </p:custDataLst>
              </p:nvPr>
            </p:nvSpPr>
            <p:spPr>
              <a:xfrm>
                <a:off x="1054966" y="2615305"/>
                <a:ext cx="4568092" cy="3254131"/>
              </a:xfrm>
              <a:prstGeom prst="round2DiagRect">
                <a:avLst/>
              </a:prstGeom>
              <a:solidFill>
                <a:schemeClr val="tx2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</a:p>
            </p:txBody>
          </p:sp>
          <p:sp>
            <p:nvSpPr>
              <p:cNvPr id="20" name="Bullet1" descr="f97e9936-7162-4c49-a1fe-ba895bba3335"/>
              <p:cNvSpPr/>
              <p:nvPr>
                <p:custDataLst>
                  <p:tags r:id="rId3"/>
                </p:custDataLst>
              </p:nvPr>
            </p:nvSpPr>
            <p:spPr>
              <a:xfrm>
                <a:off x="1312358" y="2615305"/>
                <a:ext cx="4063280" cy="93598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l"/>
                <a:r>
                  <a:rPr lang="en-US" sz="1800" b="1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一句话总结</a:t>
                </a:r>
                <a:endParaRPr lang="en-US" sz="1800" b="1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21" name="Text1" descr="18800167-4892-4b7c-a61e-9be4102f61e6"/>
              <p:cNvSpPr/>
              <p:nvPr>
                <p:custDataLst>
                  <p:tags r:id="rId4"/>
                </p:custDataLst>
              </p:nvPr>
            </p:nvSpPr>
            <p:spPr>
              <a:xfrm>
                <a:off x="1312359" y="3614165"/>
                <a:ext cx="4063280" cy="102765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zh-CN" alt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宫崎骏的台词情感随时间从积极转向复杂，主题从理想共生演变为现实承担，印证了其人文内核的深化与延续</a:t>
                </a:r>
                <a:endParaRPr lang="en-US" sz="12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22" name="Number1" descr="49d4e5df-dcd0-48a6-a6d5-1dfdce921e53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1312359" y="4992296"/>
                <a:ext cx="639919" cy="584775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 rtlCol="0" anchor="ctr" anchorCtr="0">
                <a:spAutoFit/>
              </a:bodyPr>
              <a:lstStyle/>
              <a:p>
                <a:pPr algn="l"/>
                <a:r>
                  <a:rPr lang="en-US" sz="3200" b="1" i="0" u="none">
                    <a:solidFill>
                      <a:srgbClr val="00A8F5"/>
                    </a:solidFill>
                    <a:latin typeface="Arial" panose="020B0604020202020204"/>
                  </a:rPr>
                  <a:t>01</a:t>
                </a:r>
                <a:endParaRPr lang="en-US" sz="3200" b="1" i="0" u="none">
                  <a:solidFill>
                    <a:srgbClr val="00A8F5"/>
                  </a:solidFill>
                  <a:latin typeface="Arial" panose="020B0604020202020204"/>
                </a:endParaRPr>
              </a:p>
            </p:txBody>
          </p:sp>
        </p:grpSp>
        <p:grpSp>
          <p:nvGrpSpPr>
            <p:cNvPr id="24" name="组合 23" descr="c0fd9691-fdca-44b3-9ff9-9c65efa40ba5"/>
            <p:cNvGrpSpPr/>
            <p:nvPr/>
          </p:nvGrpSpPr>
          <p:grpSpPr>
            <a:xfrm>
              <a:off x="6490565" y="2615305"/>
              <a:ext cx="4568092" cy="3254131"/>
              <a:chOff x="6490565" y="2615305"/>
              <a:chExt cx="4568092" cy="3254131"/>
            </a:xfrm>
          </p:grpSpPr>
          <p:sp>
            <p:nvSpPr>
              <p:cNvPr id="10" name="矩形: 对角圆角 9" descr="f2062ede-f0c4-40bd-917f-fd237cbf18f6"/>
              <p:cNvSpPr/>
              <p:nvPr>
                <p:custDataLst>
                  <p:tags r:id="rId6"/>
                </p:custDataLst>
              </p:nvPr>
            </p:nvSpPr>
            <p:spPr>
              <a:xfrm>
                <a:off x="6490565" y="2615305"/>
                <a:ext cx="4568092" cy="3254131"/>
              </a:xfrm>
              <a:prstGeom prst="round2DiagRect">
                <a:avLst/>
              </a:prstGeom>
              <a:solidFill>
                <a:schemeClr val="tx2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Autofit/>
              </a:bodyPr>
              <a:lstStyle/>
              <a:p>
                <a:pPr algn="ctr">
                  <a:lnSpc>
                    <a:spcPct val="130000"/>
                  </a:lnSpc>
                </a:pPr>
              </a:p>
            </p:txBody>
          </p:sp>
          <p:sp>
            <p:nvSpPr>
              <p:cNvPr id="11" name="Bullet2" descr="9c3fe1dd-f48a-4b99-9d16-97b8df521c19"/>
              <p:cNvSpPr/>
              <p:nvPr>
                <p:custDataLst>
                  <p:tags r:id="rId7"/>
                </p:custDataLst>
              </p:nvPr>
            </p:nvSpPr>
            <p:spPr>
              <a:xfrm>
                <a:off x="6747957" y="2615305"/>
                <a:ext cx="4063280" cy="93598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l"/>
                <a:r>
                  <a:rPr lang="en-US" sz="1800" b="1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数据注脚</a:t>
                </a:r>
                <a:endParaRPr lang="en-US" sz="1800" b="1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2" name="Text2" descr="23bf8460-a5be-466a-b737-43de65cdba84"/>
              <p:cNvSpPr/>
              <p:nvPr>
                <p:custDataLst>
                  <p:tags r:id="rId8"/>
                </p:custDataLst>
              </p:nvPr>
            </p:nvSpPr>
            <p:spPr>
              <a:xfrm>
                <a:off x="6747958" y="3614165"/>
                <a:ext cx="4063280" cy="102765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lvl="0" algn="l">
                  <a:lnSpc>
                    <a:spcPct val="120000"/>
                  </a:lnSpc>
                </a:pPr>
                <a:r>
                  <a:rPr lang="zh-CN" alt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数字人文以情感强度、主题词汇、文本特征为锚点，用可量化的数据精准解码了宫崎骏动画从理想到现实的演变轨迹，为其人文史诗标注了客观且具象的分析注脚。</a:t>
                </a:r>
                <a:endParaRPr lang="zh-CN" altLang="en-US" sz="12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3" name="Number2" descr="3a510f43-7667-425f-8586-3c960e713019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6747958" y="4992296"/>
                <a:ext cx="639919" cy="584775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 rtlCol="0" anchor="ctr" anchorCtr="0">
                <a:spAutoFit/>
              </a:bodyPr>
              <a:lstStyle/>
              <a:p>
                <a:pPr algn="l"/>
                <a:r>
                  <a:rPr lang="en-US" sz="3200" b="1" i="0" u="none">
                    <a:solidFill>
                      <a:srgbClr val="00A8F5"/>
                    </a:solidFill>
                    <a:latin typeface="Arial" panose="020B0604020202020204"/>
                  </a:rPr>
                  <a:t>02</a:t>
                </a:r>
                <a:endParaRPr lang="en-US" sz="3200" b="1" i="0" u="none">
                  <a:solidFill>
                    <a:srgbClr val="00A8F5"/>
                  </a:solidFill>
                  <a:latin typeface="Arial" panose="020B0604020202020204"/>
                </a:endParaRPr>
              </a:p>
            </p:txBody>
          </p:sp>
        </p:grpSp>
      </p:grpSp>
      <p:sp>
        <p:nvSpPr>
          <p:cNvPr id="2" name="标题 1" descr="6e191eb5-7da3-4a4d-bdfb-9524e0e49c7c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2F2F2F"/>
                </a:solidFill>
                <a:ea typeface="微软雅黑" panose="020B0503020204020204" charset="-122"/>
              </a:rPr>
              <a:t>总结：动画哲学家的人生数据轨迹</a:t>
            </a:r>
            <a:endParaRPr lang="en-US" sz="2800" b="1" i="0" u="none">
              <a:solidFill>
                <a:srgbClr val="2F2F2F"/>
              </a:solidFill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 descr="6ddeddb5-c3b9-4371-ba1b-a5124c1bb113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6000" b="1" i="0" u="none">
                <a:solidFill>
                  <a:srgbClr val="FFFFFF"/>
                </a:solidFill>
                <a:ea typeface="微软雅黑" panose="020B0503020204020204" charset="-122"/>
              </a:rPr>
              <a:t>谢谢观看</a:t>
            </a:r>
            <a:endParaRPr lang="en-US" sz="6000" b="1" i="0" u="none">
              <a:solidFill>
                <a:srgbClr val="FFFFFF"/>
              </a:solidFill>
              <a:ea typeface="微软雅黑" panose="020B0503020204020204" charset="-122"/>
            </a:endParaRPr>
          </a:p>
        </p:txBody>
      </p:sp>
      <p:sp>
        <p:nvSpPr>
          <p:cNvPr id="4" name="文本占位符 3" descr="af6475ff-6126-4277-8a9c-b2924d95e47f"/>
          <p:cNvSpPr>
            <a:spLocks noGrp="1"/>
          </p:cNvSpPr>
          <p:nvPr>
            <p:ph type="body" sz="quarter" idx="13" hasCustomPrompt="1"/>
          </p:nvPr>
        </p:nvSpPr>
        <p:spPr/>
        <p:txBody>
          <a:bodyPr anchorCtr="0">
            <a:normAutofit fontScale="90000"/>
          </a:bodyPr>
          <a:lstStyle/>
          <a:p>
            <a:pPr algn="l">
              <a:lnSpc>
                <a:spcPct val="100000"/>
              </a:lnSpc>
              <a:spcBef>
                <a:spcPts val="1000"/>
              </a:spcBef>
            </a:pPr>
            <a:r>
              <a:rPr lang="en-US" sz="1200" b="0" i="0" u="none">
                <a:solidFill>
                  <a:srgbClr val="FFFFFF"/>
                </a:solidFill>
                <a:ea typeface="微软雅黑" panose="020B0503020204020204" charset="-122"/>
              </a:rPr>
              <a:t>报告人</a:t>
            </a:r>
            <a:r>
              <a:rPr lang="zh-CN" altLang="en-US" sz="1200" b="0" i="0" u="none">
                <a:solidFill>
                  <a:srgbClr val="FFFFFF"/>
                </a:solidFill>
                <a:ea typeface="微软雅黑" panose="020B0503020204020204" charset="-122"/>
              </a:rPr>
              <a:t>：江浩东</a:t>
            </a:r>
            <a:endParaRPr lang="zh-CN" altLang="en-US" sz="1200" b="0" i="0" u="none">
              <a:solidFill>
                <a:srgbClr val="FFFFFF"/>
              </a:solidFill>
              <a:ea typeface="微软雅黑" panose="020B0503020204020204" charset="-122"/>
            </a:endParaRPr>
          </a:p>
        </p:txBody>
      </p:sp>
      <p:sp>
        <p:nvSpPr>
          <p:cNvPr id="7" name="文本占位符 6" descr="d64b8f6e-f412-4bac-abf5-d6e9ee54192c"/>
          <p:cNvSpPr>
            <a:spLocks noGrp="1"/>
          </p:cNvSpPr>
          <p:nvPr>
            <p:ph type="body" sz="quarter" idx="14" hasCustomPrompt="1"/>
          </p:nvPr>
        </p:nvSpPr>
        <p:spPr/>
        <p:txBody>
          <a:bodyPr anchorCtr="0">
            <a:normAutofit fontScale="90000"/>
          </a:bodyPr>
          <a:lstStyle/>
          <a:p>
            <a:pPr algn="l">
              <a:lnSpc>
                <a:spcPct val="100000"/>
              </a:lnSpc>
              <a:spcBef>
                <a:spcPts val="1000"/>
              </a:spcBef>
            </a:pPr>
            <a:r>
              <a:rPr lang="en-US">
                <a:latin typeface="微软雅黑" panose="020B0503020204020204" charset="-122"/>
              </a:rPr>
              <a:t>2025.12.16</a:t>
            </a:r>
            <a:endParaRPr lang="en-US">
              <a:latin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DIAGRAM_VIRTUALLY_FRAME" val="{&quot;height&quot;:409.15220472440944,&quot;left&quot;:52,&quot;top&quot;:90.15716535433071,&quot;width&quot;:856.3098425196852}"/>
</p:tagLst>
</file>

<file path=ppt/tags/tag2.xml><?xml version="1.0" encoding="utf-8"?>
<p:tagLst xmlns:p="http://schemas.openxmlformats.org/presentationml/2006/main">
  <p:tag name="KSO_WM_DIAGRAM_VIRTUALLY_FRAME" val="{&quot;height&quot;:409.15220472440944,&quot;left&quot;:52,&quot;top&quot;:90.15716535433071,&quot;width&quot;:856.3098425196852}"/>
</p:tagLst>
</file>

<file path=ppt/tags/tag3.xml><?xml version="1.0" encoding="utf-8"?>
<p:tagLst xmlns:p="http://schemas.openxmlformats.org/presentationml/2006/main">
  <p:tag name="KSO_WM_DIAGRAM_VIRTUALLY_FRAME" val="{&quot;height&quot;:409.15220472440944,&quot;left&quot;:52,&quot;top&quot;:90.15716535433071,&quot;width&quot;:856.3098425196852}"/>
</p:tagLst>
</file>

<file path=ppt/tags/tag4.xml><?xml version="1.0" encoding="utf-8"?>
<p:tagLst xmlns:p="http://schemas.openxmlformats.org/presentationml/2006/main">
  <p:tag name="KSO_WM_DIAGRAM_VIRTUALLY_FRAME" val="{&quot;height&quot;:409.15220472440944,&quot;left&quot;:52,&quot;top&quot;:90.15716535433071,&quot;width&quot;:856.3098425196852}"/>
</p:tagLst>
</file>

<file path=ppt/tags/tag5.xml><?xml version="1.0" encoding="utf-8"?>
<p:tagLst xmlns:p="http://schemas.openxmlformats.org/presentationml/2006/main">
  <p:tag name="KSO_WM_DIAGRAM_VIRTUALLY_FRAME" val="{&quot;height&quot;:409.15220472440944,&quot;left&quot;:52,&quot;top&quot;:90.15716535433071,&quot;width&quot;:856.3098425196852}"/>
</p:tagLst>
</file>

<file path=ppt/tags/tag6.xml><?xml version="1.0" encoding="utf-8"?>
<p:tagLst xmlns:p="http://schemas.openxmlformats.org/presentationml/2006/main">
  <p:tag name="KSO_WM_DIAGRAM_VIRTUALLY_FRAME" val="{&quot;height&quot;:409.15220472440944,&quot;left&quot;:52,&quot;top&quot;:90.15716535433071,&quot;width&quot;:856.3098425196852}"/>
</p:tagLst>
</file>

<file path=ppt/tags/tag7.xml><?xml version="1.0" encoding="utf-8"?>
<p:tagLst xmlns:p="http://schemas.openxmlformats.org/presentationml/2006/main">
  <p:tag name="KSO_WM_DIAGRAM_VIRTUALLY_FRAME" val="{&quot;height&quot;:409.15220472440944,&quot;left&quot;:52,&quot;top&quot;:90.15716535433071,&quot;width&quot;:856.3098425196852}"/>
</p:tagLst>
</file>

<file path=ppt/tags/tag8.xml><?xml version="1.0" encoding="utf-8"?>
<p:tagLst xmlns:p="http://schemas.openxmlformats.org/presentationml/2006/main">
  <p:tag name="KSO_WM_DIAGRAM_VIRTUALLY_FRAME" val="{&quot;height&quot;:409.15220472440944,&quot;left&quot;:52,&quot;top&quot;:90.15716535433071,&quot;width&quot;:856.3098425196852}"/>
</p:tagLst>
</file>

<file path=ppt/tags/tag9.xml><?xml version="1.0" encoding="utf-8"?>
<p:tagLst xmlns:p="http://schemas.openxmlformats.org/presentationml/2006/main">
  <p:tag name="KSO_WM_DIAGRAM_VIRTUALLY_FRAME" val="{&quot;height&quot;:409.15220472440944,&quot;left&quot;:52,&quot;top&quot;:90.15716535433071,&quot;width&quot;:856.3098425196852}"/>
</p:tagLst>
</file>

<file path=ppt/tags/tag10.xml><?xml version="1.0" encoding="utf-8"?>
<p:tagLst xmlns:p="http://schemas.openxmlformats.org/presentationml/2006/main">
  <p:tag name="KSO_WM_DIAGRAM_VIRTUALLY_FRAME" val="{&quot;height&quot;:409.15220472440944,&quot;left&quot;:52,&quot;top&quot;:90.15716535433071,&quot;width&quot;:856.3098425196852}"/>
</p:tagLst>
</file>

<file path=ppt/tags/tag11.xml><?xml version="1.0" encoding="utf-8"?>
<p:tagLst xmlns:p="http://schemas.openxmlformats.org/presentationml/2006/main">
  <p:tag name="KSO_WM_DIAGRAM_VIRTUALLY_FRAME" val="{&quot;height&quot;:409.15220472440944,&quot;left&quot;:52,&quot;top&quot;:90.15716535433071,&quot;width&quot;:856.3098425196852}"/>
</p:tagLst>
</file>

<file path=ppt/tags/tag12.xml><?xml version="1.0" encoding="utf-8"?>
<p:tagLst xmlns:p="http://schemas.openxmlformats.org/presentationml/2006/main">
  <p:tag name="KSO_WM_DIAGRAM_VIRTUALLY_FRAME" val="{&quot;height&quot;:409.15220472440944,&quot;left&quot;:52,&quot;top&quot;:90.15716535433071,&quot;width&quot;:856.3098425196852}"/>
</p:tagLst>
</file>

<file path=ppt/tags/tag13.xml><?xml version="1.0" encoding="utf-8"?>
<p:tagLst xmlns:p="http://schemas.openxmlformats.org/presentationml/2006/main">
  <p:tag name="KSO_WM_DIAGRAM_VIRTUALLY_FRAME" val="{&quot;height&quot;:409.15220472440944,&quot;left&quot;:52,&quot;top&quot;:90.15716535433071,&quot;width&quot;:856.3098425196852}"/>
</p:tagLst>
</file>

<file path=ppt/tags/tag14.xml><?xml version="1.0" encoding="utf-8"?>
<p:tagLst xmlns:p="http://schemas.openxmlformats.org/presentationml/2006/main">
  <p:tag name="KSO_WM_DIAGRAM_VIRTUALLY_FRAME" val="{&quot;height&quot;:409.15220472440944,&quot;left&quot;:52,&quot;top&quot;:90.15716535433071,&quot;width&quot;:856.3098425196852}"/>
</p:tagLst>
</file>

<file path=ppt/tags/tag15.xml><?xml version="1.0" encoding="utf-8"?>
<p:tagLst xmlns:p="http://schemas.openxmlformats.org/presentationml/2006/main">
  <p:tag name="KSO_WM_DIAGRAM_VIRTUALLY_FRAME" val="{&quot;height&quot;:409.15220472440944,&quot;left&quot;:52,&quot;top&quot;:90.15716535433071,&quot;width&quot;:856.3098425196852}"/>
</p:tagLst>
</file>

<file path=ppt/tags/tag16.xml><?xml version="1.0" encoding="utf-8"?>
<p:tagLst xmlns:p="http://schemas.openxmlformats.org/presentationml/2006/main">
  <p:tag name="KSO_WM_DIAGRAM_VIRTUALLY_FRAME" val="{&quot;height&quot;:409.15220472440944,&quot;left&quot;:52,&quot;top&quot;:90.15716535433071,&quot;width&quot;:856.3098425196852}"/>
</p:tagLst>
</file>

<file path=ppt/tags/tag17.xml><?xml version="1.0" encoding="utf-8"?>
<p:tagLst xmlns:p="http://schemas.openxmlformats.org/presentationml/2006/main">
  <p:tag name="KSO_WM_DIAGRAM_VIRTUALLY_FRAME" val="{&quot;height&quot;:409.15220472440944,&quot;left&quot;:52,&quot;top&quot;:90.15716535433071,&quot;width&quot;:856.3098425196852}"/>
</p:tagLst>
</file>

<file path=ppt/tags/tag18.xml><?xml version="1.0" encoding="utf-8"?>
<p:tagLst xmlns:p="http://schemas.openxmlformats.org/presentationml/2006/main">
  <p:tag name="KSO_WM_DIAGRAM_VIRTUALLY_FRAME" val="{&quot;height&quot;:409.15220472440944,&quot;left&quot;:52,&quot;top&quot;:90.15716535433071,&quot;width&quot;:856.3098425196852}"/>
</p:tagLst>
</file>

<file path=ppt/tags/tag19.xml><?xml version="1.0" encoding="utf-8"?>
<p:tagLst xmlns:p="http://schemas.openxmlformats.org/presentationml/2006/main">
  <p:tag name="KSO_WM_DIAGRAM_VIRTUALLY_FRAME" val="{&quot;height&quot;:409.15220472440944,&quot;left&quot;:52,&quot;top&quot;:90.15716535433071,&quot;width&quot;:856.3098425196852}"/>
</p:tagLst>
</file>

<file path=ppt/tags/tag20.xml><?xml version="1.0" encoding="utf-8"?>
<p:tagLst xmlns:p="http://schemas.openxmlformats.org/presentationml/2006/main">
  <p:tag name="KSO_WM_DIAGRAM_VIRTUALLY_FRAME" val="{&quot;height&quot;:409.15220472440944,&quot;left&quot;:52,&quot;top&quot;:90.15716535433071,&quot;width&quot;:856.3098425196852}"/>
</p:tagLst>
</file>

<file path=ppt/tags/tag21.xml><?xml version="1.0" encoding="utf-8"?>
<p:tagLst xmlns:p="http://schemas.openxmlformats.org/presentationml/2006/main">
  <p:tag name="KSO_WM_DIAGRAM_VIRTUALLY_FRAME" val="{&quot;height&quot;:409.15220472440944,&quot;left&quot;:52,&quot;top&quot;:90.15716535433071,&quot;width&quot;:856.3098425196852}"/>
</p:tagLst>
</file>

<file path=ppt/tags/tag22.xml><?xml version="1.0" encoding="utf-8"?>
<p:tagLst xmlns:p="http://schemas.openxmlformats.org/presentationml/2006/main">
  <p:tag name="KSO_WM_DIAGRAM_VIRTUALLY_FRAME" val="{&quot;height&quot;:409.15220472440944,&quot;left&quot;:52,&quot;top&quot;:90.15716535433071,&quot;width&quot;:856.3098425196852}"/>
</p:tagLst>
</file>

<file path=ppt/tags/tag23.xml><?xml version="1.0" encoding="utf-8"?>
<p:tagLst xmlns:p="http://schemas.openxmlformats.org/presentationml/2006/main">
  <p:tag name="KSO_WM_DIAGRAM_VIRTUALLY_FRAME" val="{&quot;height&quot;:409.15220472440944,&quot;left&quot;:52,&quot;top&quot;:90.15716535433071,&quot;width&quot;:856.3098425196852}"/>
</p:tagLst>
</file>

<file path=ppt/tags/tag24.xml><?xml version="1.0" encoding="utf-8"?>
<p:tagLst xmlns:p="http://schemas.openxmlformats.org/presentationml/2006/main">
  <p:tag name="KSO_WM_DIAGRAM_VIRTUALLY_FRAME" val="{&quot;height&quot;:409.15220472440944,&quot;left&quot;:52,&quot;top&quot;:90.15716535433071,&quot;width&quot;:856.3098425196852}"/>
</p:tagLst>
</file>

<file path=ppt/tags/tag25.xml><?xml version="1.0" encoding="utf-8"?>
<p:tagLst xmlns:p="http://schemas.openxmlformats.org/presentationml/2006/main">
  <p:tag name="KSO_WM_DIAGRAM_VIRTUALLY_FRAME" val="{&quot;height&quot;:409.15220472440944,&quot;left&quot;:52,&quot;top&quot;:90.15716535433071,&quot;width&quot;:856.3098425196852}"/>
</p:tagLst>
</file>

<file path=ppt/tags/tag26.xml><?xml version="1.0" encoding="utf-8"?>
<p:tagLst xmlns:p="http://schemas.openxmlformats.org/presentationml/2006/main">
  <p:tag name="KSO_WM_DIAGRAM_VIRTUALLY_FRAME" val="{&quot;height&quot;:451,&quot;left&quot;:7.874015748031496e-05,&quot;top&quot;:89,&quot;width&quot;:959.9999212598425}"/>
</p:tagLst>
</file>

<file path=ppt/tags/tag27.xml><?xml version="1.0" encoding="utf-8"?>
<p:tagLst xmlns:p="http://schemas.openxmlformats.org/presentationml/2006/main">
  <p:tag name="KSO_WM_DIAGRAM_VIRTUALLY_FRAME" val="{&quot;height&quot;:451,&quot;left&quot;:7.874015748031496e-05,&quot;top&quot;:89,&quot;width&quot;:959.9999212598425}"/>
</p:tagLst>
</file>

<file path=ppt/tags/tag28.xml><?xml version="1.0" encoding="utf-8"?>
<p:tagLst xmlns:p="http://schemas.openxmlformats.org/presentationml/2006/main">
  <p:tag name="KSO_WM_DIAGRAM_VIRTUALLY_FRAME" val="{&quot;height&quot;:451,&quot;left&quot;:7.874015748031496e-05,&quot;top&quot;:89,&quot;width&quot;:959.9999212598425}"/>
</p:tagLst>
</file>

<file path=ppt/tags/tag29.xml><?xml version="1.0" encoding="utf-8"?>
<p:tagLst xmlns:p="http://schemas.openxmlformats.org/presentationml/2006/main">
  <p:tag name="KSO_WM_DIAGRAM_VIRTUALLY_FRAME" val="{&quot;height&quot;:451,&quot;left&quot;:7.874015748031496e-05,&quot;top&quot;:89,&quot;width&quot;:959.9999212598425}"/>
</p:tagLst>
</file>

<file path=ppt/tags/tag30.xml><?xml version="1.0" encoding="utf-8"?>
<p:tagLst xmlns:p="http://schemas.openxmlformats.org/presentationml/2006/main">
  <p:tag name="KSO_WM_DIAGRAM_VIRTUALLY_FRAME" val="{&quot;height&quot;:451,&quot;left&quot;:7.874015748031496e-05,&quot;top&quot;:89,&quot;width&quot;:959.9999212598425}"/>
</p:tagLst>
</file>

<file path=ppt/tags/tag31.xml><?xml version="1.0" encoding="utf-8"?>
<p:tagLst xmlns:p="http://schemas.openxmlformats.org/presentationml/2006/main">
  <p:tag name="KSO_WM_DIAGRAM_VIRTUALLY_FRAME" val="{&quot;height&quot;:451,&quot;left&quot;:7.874015748031496e-05,&quot;top&quot;:89,&quot;width&quot;:959.9999212598425}"/>
</p:tagLst>
</file>

<file path=ppt/tags/tag32.xml><?xml version="1.0" encoding="utf-8"?>
<p:tagLst xmlns:p="http://schemas.openxmlformats.org/presentationml/2006/main">
  <p:tag name="KSO_WM_DIAGRAM_VIRTUALLY_FRAME" val="{&quot;height&quot;:451,&quot;left&quot;:7.874015748031496e-05,&quot;top&quot;:89,&quot;width&quot;:959.9999212598425}"/>
</p:tagLst>
</file>

<file path=ppt/tags/tag33.xml><?xml version="1.0" encoding="utf-8"?>
<p:tagLst xmlns:p="http://schemas.openxmlformats.org/presentationml/2006/main">
  <p:tag name="KSO_WM_DIAGRAM_VIRTUALLY_FRAME" val="{&quot;height&quot;:451,&quot;left&quot;:7.874015748031496e-05,&quot;top&quot;:89,&quot;width&quot;:959.9999212598425}"/>
</p:tagLst>
</file>

<file path=ppt/tags/tag34.xml><?xml version="1.0" encoding="utf-8"?>
<p:tagLst xmlns:p="http://schemas.openxmlformats.org/presentationml/2006/main">
  <p:tag name="KSO_WM_DIAGRAM_VIRTUALLY_FRAME" val="{&quot;height&quot;:451,&quot;left&quot;:7.874015748031496e-05,&quot;top&quot;:89,&quot;width&quot;:959.9999212598425}"/>
</p:tagLst>
</file>

<file path=ppt/tags/tag35.xml><?xml version="1.0" encoding="utf-8"?>
<p:tagLst xmlns:p="http://schemas.openxmlformats.org/presentationml/2006/main">
  <p:tag name="KSO_WM_DIAGRAM_VIRTUALLY_FRAME" val="{&quot;height&quot;:451,&quot;left&quot;:7.874015748031496e-05,&quot;top&quot;:89,&quot;width&quot;:959.9999212598425}"/>
</p:tagLst>
</file>

<file path=ppt/tags/tag36.xml><?xml version="1.0" encoding="utf-8"?>
<p:tagLst xmlns:p="http://schemas.openxmlformats.org/presentationml/2006/main">
  <p:tag name="KSO_WM_DIAGRAM_VIRTUALLY_FRAME" val="{&quot;height&quot;:389.5731496062992,&quot;left&quot;:0,&quot;top&quot;:85.56188976377953,&quot;width&quot;:960}"/>
</p:tagLst>
</file>

<file path=ppt/tags/tag37.xml><?xml version="1.0" encoding="utf-8"?>
<p:tagLst xmlns:p="http://schemas.openxmlformats.org/presentationml/2006/main">
  <p:tag name="KSO_WM_DIAGRAM_VIRTUALLY_FRAME" val="{&quot;height&quot;:389.5731496062992,&quot;left&quot;:0,&quot;top&quot;:85.56188976377953,&quot;width&quot;:960}"/>
</p:tagLst>
</file>

<file path=ppt/tags/tag38.xml><?xml version="1.0" encoding="utf-8"?>
<p:tagLst xmlns:p="http://schemas.openxmlformats.org/presentationml/2006/main">
  <p:tag name="KSO_WM_DIAGRAM_VIRTUALLY_FRAME" val="{&quot;height&quot;:389.5731496062992,&quot;left&quot;:0,&quot;top&quot;:85.56188976377953,&quot;width&quot;:960}"/>
</p:tagLst>
</file>

<file path=ppt/tags/tag39.xml><?xml version="1.0" encoding="utf-8"?>
<p:tagLst xmlns:p="http://schemas.openxmlformats.org/presentationml/2006/main">
  <p:tag name="KSO_WM_DIAGRAM_VIRTUALLY_FRAME" val="{&quot;height&quot;:389.5731496062992,&quot;left&quot;:0,&quot;top&quot;:85.56188976377953,&quot;width&quot;:960}"/>
  <p:tag name="wpp_generatetext" val="1"/>
</p:tagLst>
</file>

<file path=ppt/tags/tag40.xml><?xml version="1.0" encoding="utf-8"?>
<p:tagLst xmlns:p="http://schemas.openxmlformats.org/presentationml/2006/main">
  <p:tag name="KSO_WM_DIAGRAM_VIRTUALLY_FRAME" val="{&quot;height&quot;:389.5731496062992,&quot;left&quot;:0,&quot;top&quot;:85.56188976377953,&quot;width&quot;:960}"/>
</p:tagLst>
</file>

<file path=ppt/tags/tag41.xml><?xml version="1.0" encoding="utf-8"?>
<p:tagLst xmlns:p="http://schemas.openxmlformats.org/presentationml/2006/main">
  <p:tag name="KSO_WM_DIAGRAM_VIRTUALLY_FRAME" val="{&quot;height&quot;:389.5731496062992,&quot;left&quot;:0,&quot;top&quot;:85.56188976377953,&quot;width&quot;:960}"/>
</p:tagLst>
</file>

<file path=ppt/tags/tag42.xml><?xml version="1.0" encoding="utf-8"?>
<p:tagLst xmlns:p="http://schemas.openxmlformats.org/presentationml/2006/main">
  <p:tag name="KSO_WM_DIAGRAM_VIRTUALLY_FRAME" val="{&quot;height&quot;:389.5731496062992,&quot;left&quot;:0,&quot;top&quot;:85.56188976377953,&quot;width&quot;:960}"/>
</p:tagLst>
</file>

<file path=ppt/tags/tag43.xml><?xml version="1.0" encoding="utf-8"?>
<p:tagLst xmlns:p="http://schemas.openxmlformats.org/presentationml/2006/main">
  <p:tag name="KSO_WM_DIAGRAM_VIRTUALLY_FRAME" val="{&quot;height&quot;:389.5731496062992,&quot;left&quot;:0,&quot;top&quot;:85.56188976377953,&quot;width&quot;:960}"/>
</p:tagLst>
</file>

<file path=ppt/tags/tag44.xml><?xml version="1.0" encoding="utf-8"?>
<p:tagLst xmlns:p="http://schemas.openxmlformats.org/presentationml/2006/main">
  <p:tag name="KSO_WM_DIAGRAM_VIRTUALLY_FRAME" val="{&quot;height&quot;:393.99992125984244,&quot;left&quot;:52,&quot;top&quot;:86.92866141732284,&quot;width&quot;:792.5714173228346}"/>
</p:tagLst>
</file>

<file path=ppt/tags/tag45.xml><?xml version="1.0" encoding="utf-8"?>
<p:tagLst xmlns:p="http://schemas.openxmlformats.org/presentationml/2006/main">
  <p:tag name="KSO_WM_DIAGRAM_VIRTUALLY_FRAME" val="{&quot;height&quot;:393.99992125984244,&quot;left&quot;:52,&quot;top&quot;:86.92866141732284,&quot;width&quot;:792.5714173228346}"/>
</p:tagLst>
</file>

<file path=ppt/tags/tag46.xml><?xml version="1.0" encoding="utf-8"?>
<p:tagLst xmlns:p="http://schemas.openxmlformats.org/presentationml/2006/main">
  <p:tag name="KSO_WM_DIAGRAM_VIRTUALLY_FRAME" val="{&quot;height&quot;:393.99992125984244,&quot;left&quot;:52,&quot;top&quot;:86.92866141732284,&quot;width&quot;:792.5714173228346}"/>
</p:tagLst>
</file>

<file path=ppt/tags/tag47.xml><?xml version="1.0" encoding="utf-8"?>
<p:tagLst xmlns:p="http://schemas.openxmlformats.org/presentationml/2006/main">
  <p:tag name="KSO_WM_DIAGRAM_VIRTUALLY_FRAME" val="{&quot;height&quot;:393.99992125984244,&quot;left&quot;:52,&quot;top&quot;:86.92866141732284,&quot;width&quot;:792.5714173228346}"/>
</p:tagLst>
</file>

<file path=ppt/tags/tag48.xml><?xml version="1.0" encoding="utf-8"?>
<p:tagLst xmlns:p="http://schemas.openxmlformats.org/presentationml/2006/main">
  <p:tag name="KSO_WM_DIAGRAM_VIRTUALLY_FRAME" val="{&quot;height&quot;:393.99992125984244,&quot;left&quot;:52,&quot;top&quot;:86.92866141732284,&quot;width&quot;:792.5714173228346}"/>
</p:tagLst>
</file>

<file path=ppt/tags/tag49.xml><?xml version="1.0" encoding="utf-8"?>
<p:tagLst xmlns:p="http://schemas.openxmlformats.org/presentationml/2006/main">
  <p:tag name="KSO_WM_DIAGRAM_VIRTUALLY_FRAME" val="{&quot;height&quot;:324.05,&quot;left&quot;:40.25,&quot;top&quot;:132.3,&quot;width&quot;:878.5}"/>
</p:tagLst>
</file>

<file path=ppt/tags/tag50.xml><?xml version="1.0" encoding="utf-8"?>
<p:tagLst xmlns:p="http://schemas.openxmlformats.org/presentationml/2006/main">
  <p:tag name="KSO_WM_DIAGRAM_VIRTUALLY_FRAME" val="{&quot;height&quot;:324.05,&quot;left&quot;:40.25,&quot;top&quot;:132.3,&quot;width&quot;:878.5}"/>
</p:tagLst>
</file>

<file path=ppt/tags/tag51.xml><?xml version="1.0" encoding="utf-8"?>
<p:tagLst xmlns:p="http://schemas.openxmlformats.org/presentationml/2006/main">
  <p:tag name="KSO_WM_DIAGRAM_VIRTUALLY_FRAME" val="{&quot;height&quot;:324.05,&quot;left&quot;:40.25,&quot;top&quot;:132.3,&quot;width&quot;:878.5}"/>
</p:tagLst>
</file>

<file path=ppt/tags/tag52.xml><?xml version="1.0" encoding="utf-8"?>
<p:tagLst xmlns:p="http://schemas.openxmlformats.org/presentationml/2006/main">
  <p:tag name="KSO_WM_DIAGRAM_VIRTUALLY_FRAME" val="{&quot;height&quot;:324.05,&quot;left&quot;:40.25,&quot;top&quot;:132.3,&quot;width&quot;:878.5}"/>
</p:tagLst>
</file>

<file path=ppt/tags/tag53.xml><?xml version="1.0" encoding="utf-8"?>
<p:tagLst xmlns:p="http://schemas.openxmlformats.org/presentationml/2006/main">
  <p:tag name="KSO_WM_DIAGRAM_VIRTUALLY_FRAME" val="{&quot;height&quot;:324.05,&quot;left&quot;:40.25,&quot;top&quot;:132.3,&quot;width&quot;:878.5}"/>
</p:tagLst>
</file>

<file path=ppt/tags/tag54.xml><?xml version="1.0" encoding="utf-8"?>
<p:tagLst xmlns:p="http://schemas.openxmlformats.org/presentationml/2006/main">
  <p:tag name="KSO_WM_DIAGRAM_VIRTUALLY_FRAME" val="{&quot;height&quot;:324.05,&quot;left&quot;:40.25,&quot;top&quot;:132.3,&quot;width&quot;:878.5}"/>
</p:tagLst>
</file>

<file path=ppt/tags/tag55.xml><?xml version="1.0" encoding="utf-8"?>
<p:tagLst xmlns:p="http://schemas.openxmlformats.org/presentationml/2006/main">
  <p:tag name="KSO_WM_DIAGRAM_VIRTUALLY_FRAME" val="{&quot;height&quot;:382.2106299212599,&quot;left&quot;:52,&quot;top&quot;:89,&quot;width&quot;:855}"/>
</p:tagLst>
</file>

<file path=ppt/tags/tag56.xml><?xml version="1.0" encoding="utf-8"?>
<p:tagLst xmlns:p="http://schemas.openxmlformats.org/presentationml/2006/main">
  <p:tag name="KSO_WM_DIAGRAM_VIRTUALLY_FRAME" val="{&quot;height&quot;:382.2106299212599,&quot;left&quot;:52,&quot;top&quot;:89,&quot;width&quot;:855}"/>
</p:tagLst>
</file>

<file path=ppt/tags/tag57.xml><?xml version="1.0" encoding="utf-8"?>
<p:tagLst xmlns:p="http://schemas.openxmlformats.org/presentationml/2006/main">
  <p:tag name="KSO_WM_DIAGRAM_VIRTUALLY_FRAME" val="{&quot;height&quot;:382.2106299212599,&quot;left&quot;:52,&quot;top&quot;:89,&quot;width&quot;:855}"/>
</p:tagLst>
</file>

<file path=ppt/tags/tag58.xml><?xml version="1.0" encoding="utf-8"?>
<p:tagLst xmlns:p="http://schemas.openxmlformats.org/presentationml/2006/main">
  <p:tag name="KSO_WM_DIAGRAM_VIRTUALLY_FRAME" val="{&quot;height&quot;:382.2106299212599,&quot;left&quot;:52,&quot;top&quot;:89,&quot;width&quot;:855}"/>
</p:tagLst>
</file>

<file path=ppt/tags/tag59.xml><?xml version="1.0" encoding="utf-8"?>
<p:tagLst xmlns:p="http://schemas.openxmlformats.org/presentationml/2006/main">
  <p:tag name="KSO_WM_DIAGRAM_VIRTUALLY_FRAME" val="{&quot;height&quot;:382.2106299212599,&quot;left&quot;:52,&quot;top&quot;:89,&quot;width&quot;:855}"/>
</p:tagLst>
</file>

<file path=ppt/tags/tag60.xml><?xml version="1.0" encoding="utf-8"?>
<p:tagLst xmlns:p="http://schemas.openxmlformats.org/presentationml/2006/main">
  <p:tag name="KSO_WM_DIAGRAM_VIRTUALLY_FRAME" val="{&quot;height&quot;:382.2106299212599,&quot;left&quot;:52,&quot;top&quot;:89,&quot;width&quot;:855}"/>
</p:tagLst>
</file>

<file path=ppt/tags/tag61.xml><?xml version="1.0" encoding="utf-8"?>
<p:tagLst xmlns:p="http://schemas.openxmlformats.org/presentationml/2006/main">
  <p:tag name="KSO_WM_DIAGRAM_VIRTUALLY_FRAME" val="{&quot;height&quot;:382.2106299212599,&quot;left&quot;:52,&quot;top&quot;:89,&quot;width&quot;:855}"/>
</p:tagLst>
</file>

<file path=ppt/tags/tag62.xml><?xml version="1.0" encoding="utf-8"?>
<p:tagLst xmlns:p="http://schemas.openxmlformats.org/presentationml/2006/main">
  <p:tag name="KSO_WM_DIAGRAM_VIRTUALLY_FRAME" val="{&quot;height&quot;:382.2106299212599,&quot;left&quot;:52,&quot;top&quot;:89,&quot;width&quot;:855}"/>
</p:tagLst>
</file>

<file path=ppt/tags/tag63.xml><?xml version="1.0" encoding="utf-8"?>
<p:tagLst xmlns:p="http://schemas.openxmlformats.org/presentationml/2006/main">
  <p:tag name="KSO_WM_DIAGRAM_VIRTUALLY_FRAME" val="{&quot;height&quot;:382.2106299212599,&quot;left&quot;:52,&quot;top&quot;:89,&quot;width&quot;:855}"/>
  <p:tag name="wpp_generatetext" val="1"/>
</p:tagLst>
</file>

<file path=ppt/tags/tag64.xml><?xml version="1.0" encoding="utf-8"?>
<p:tagLst xmlns:p="http://schemas.openxmlformats.org/presentationml/2006/main">
  <p:tag name="KSO_WM_DIAGRAM_VIRTUALLY_FRAME" val="{&quot;height&quot;:382.2106299212599,&quot;left&quot;:52,&quot;top&quot;:89,&quot;width&quot;:855}"/>
</p:tagLst>
</file>

<file path=ppt/tags/tag65.xml><?xml version="1.0" encoding="utf-8"?>
<p:tagLst xmlns:p="http://schemas.openxmlformats.org/presentationml/2006/main">
  <p:tag name="KSO_WM_DIAGRAM_VIRTUALLY_FRAME" val="{&quot;height&quot;:382.2106299212599,&quot;left&quot;:52,&quot;top&quot;:89,&quot;width&quot;:855}"/>
</p:tagLst>
</file>

<file path=ppt/tags/tag66.xml><?xml version="1.0" encoding="utf-8"?>
<p:tagLst xmlns:p="http://schemas.openxmlformats.org/presentationml/2006/main">
  <p:tag name="KSO_WM_DIAGRAM_VIRTUALLY_FRAME" val="{&quot;height&quot;:382.2106299212599,&quot;left&quot;:52,&quot;top&quot;:89,&quot;width&quot;:855}"/>
</p:tagLst>
</file>

<file path=ppt/tags/tag67.xml><?xml version="1.0" encoding="utf-8"?>
<p:tagLst xmlns:p="http://schemas.openxmlformats.org/presentationml/2006/main">
  <p:tag name="KSO_WM_DIAGRAM_VIRTUALLY_FRAME" val="{&quot;height&quot;:382.2106299212599,&quot;left&quot;:52,&quot;top&quot;:89,&quot;width&quot;:855}"/>
</p:tagLst>
</file>

<file path=ppt/tags/tag68.xml><?xml version="1.0" encoding="utf-8"?>
<p:tagLst xmlns:p="http://schemas.openxmlformats.org/presentationml/2006/main">
  <p:tag name="KSO_WM_DIAGRAM_VIRTUALLY_FRAME" val="{&quot;height&quot;:381.2900787401575,&quot;left&quot;:52,&quot;top&quot;:89,&quot;width&quot;:855}"/>
</p:tagLst>
</file>

<file path=ppt/tags/tag69.xml><?xml version="1.0" encoding="utf-8"?>
<p:tagLst xmlns:p="http://schemas.openxmlformats.org/presentationml/2006/main">
  <p:tag name="KSO_WM_DIAGRAM_VIRTUALLY_FRAME" val="{&quot;height&quot;:381.2900787401575,&quot;left&quot;:52,&quot;top&quot;:89,&quot;width&quot;:855}"/>
</p:tagLst>
</file>

<file path=ppt/tags/tag70.xml><?xml version="1.0" encoding="utf-8"?>
<p:tagLst xmlns:p="http://schemas.openxmlformats.org/presentationml/2006/main">
  <p:tag name="KSO_WM_DIAGRAM_VIRTUALLY_FRAME" val="{&quot;height&quot;:381.2900787401575,&quot;left&quot;:52,&quot;top&quot;:89,&quot;width&quot;:855}"/>
</p:tagLst>
</file>

<file path=ppt/tags/tag71.xml><?xml version="1.0" encoding="utf-8"?>
<p:tagLst xmlns:p="http://schemas.openxmlformats.org/presentationml/2006/main">
  <p:tag name="KSO_WM_DIAGRAM_VIRTUALLY_FRAME" val="{&quot;height&quot;:381.2900787401575,&quot;left&quot;:52,&quot;top&quot;:89,&quot;width&quot;:855}"/>
</p:tagLst>
</file>

<file path=ppt/tags/tag72.xml><?xml version="1.0" encoding="utf-8"?>
<p:tagLst xmlns:p="http://schemas.openxmlformats.org/presentationml/2006/main">
  <p:tag name="KSO_WM_DIAGRAM_VIRTUALLY_FRAME" val="{&quot;height&quot;:381.2900787401575,&quot;left&quot;:52,&quot;top&quot;:89,&quot;width&quot;:855}"/>
</p:tagLst>
</file>

<file path=ppt/tags/tag73.xml><?xml version="1.0" encoding="utf-8"?>
<p:tagLst xmlns:p="http://schemas.openxmlformats.org/presentationml/2006/main">
  <p:tag name="wpp_generatetext" val="1"/>
</p:tagLst>
</file>

<file path=ppt/tags/tag74.xml><?xml version="1.0" encoding="utf-8"?>
<p:tagLst xmlns:p="http://schemas.openxmlformats.org/presentationml/2006/main">
  <p:tag name="KSO_WM_DIAGRAM_VIRTUALLY_FRAME" val="{&quot;height&quot;:326.2113385826771,&quot;left&quot;:52,&quot;top&quot;:89,&quot;width&quot;:855}"/>
</p:tagLst>
</file>

<file path=ppt/tags/tag75.xml><?xml version="1.0" encoding="utf-8"?>
<p:tagLst xmlns:p="http://schemas.openxmlformats.org/presentationml/2006/main">
  <p:tag name="KSO_WM_DIAGRAM_VIRTUALLY_FRAME" val="{&quot;height&quot;:326.2113385826771,&quot;left&quot;:52,&quot;top&quot;:89,&quot;width&quot;:855}"/>
</p:tagLst>
</file>

<file path=ppt/tags/tag76.xml><?xml version="1.0" encoding="utf-8"?>
<p:tagLst xmlns:p="http://schemas.openxmlformats.org/presentationml/2006/main">
  <p:tag name="KSO_WM_DIAGRAM_VIRTUALLY_FRAME" val="{&quot;height&quot;:326.2113385826771,&quot;left&quot;:52,&quot;top&quot;:89,&quot;width&quot;:855}"/>
</p:tagLst>
</file>

<file path=ppt/tags/tag77.xml><?xml version="1.0" encoding="utf-8"?>
<p:tagLst xmlns:p="http://schemas.openxmlformats.org/presentationml/2006/main">
  <p:tag name="KSO_WM_DIAGRAM_VIRTUALLY_FRAME" val="{&quot;height&quot;:326.2113385826771,&quot;left&quot;:52,&quot;top&quot;:89,&quot;width&quot;:855}"/>
</p:tagLst>
</file>

<file path=ppt/tags/tag78.xml><?xml version="1.0" encoding="utf-8"?>
<p:tagLst xmlns:p="http://schemas.openxmlformats.org/presentationml/2006/main">
  <p:tag name="KSO_WM_DIAGRAM_VIRTUALLY_FRAME" val="{&quot;height&quot;:326.2113385826771,&quot;left&quot;:52,&quot;top&quot;:89,&quot;width&quot;:855}"/>
</p:tagLst>
</file>

<file path=ppt/tags/tag79.xml><?xml version="1.0" encoding="utf-8"?>
<p:tagLst xmlns:p="http://schemas.openxmlformats.org/presentationml/2006/main">
  <p:tag name="KSO_WM_DIAGRAM_VIRTUALLY_FRAME" val="{&quot;height&quot;:393.99992125984255,&quot;left&quot;:52,&quot;top&quot;:89.00007874015748,&quot;width&quot;:855.5}"/>
</p:tagLst>
</file>

<file path=ppt/tags/tag80.xml><?xml version="1.0" encoding="utf-8"?>
<p:tagLst xmlns:p="http://schemas.openxmlformats.org/presentationml/2006/main">
  <p:tag name="KSO_WM_DIAGRAM_VIRTUALLY_FRAME" val="{&quot;height&quot;:393.99992125984255,&quot;left&quot;:52,&quot;top&quot;:89.00007874015748,&quot;width&quot;:855.5}"/>
</p:tagLst>
</file>

<file path=ppt/tags/tag81.xml><?xml version="1.0" encoding="utf-8"?>
<p:tagLst xmlns:p="http://schemas.openxmlformats.org/presentationml/2006/main">
  <p:tag name="KSO_WM_DIAGRAM_VIRTUALLY_FRAME" val="{&quot;height&quot;:393.99992125984255,&quot;left&quot;:52,&quot;top&quot;:89.00007874015748,&quot;width&quot;:855.5}"/>
</p:tagLst>
</file>

<file path=ppt/tags/tag82.xml><?xml version="1.0" encoding="utf-8"?>
<p:tagLst xmlns:p="http://schemas.openxmlformats.org/presentationml/2006/main">
  <p:tag name="KSO_WM_DIAGRAM_VIRTUALLY_FRAME" val="{&quot;height&quot;:393.99992125984255,&quot;left&quot;:52,&quot;top&quot;:89.00007874015748,&quot;width&quot;:855.5}"/>
</p:tagLst>
</file>

<file path=ppt/tags/tag83.xml><?xml version="1.0" encoding="utf-8"?>
<p:tagLst xmlns:p="http://schemas.openxmlformats.org/presentationml/2006/main">
  <p:tag name="KSO_WM_DIAGRAM_VIRTUALLY_FRAME" val="{&quot;height&quot;:393.99992125984255,&quot;left&quot;:52,&quot;top&quot;:89.00007874015748,&quot;width&quot;:855.5}"/>
  <p:tag name="wpp_generatetext" val="1"/>
</p:tagLst>
</file>

<file path=ppt/tags/tag84.xml><?xml version="1.0" encoding="utf-8"?>
<p:tagLst xmlns:p="http://schemas.openxmlformats.org/presentationml/2006/main">
  <p:tag name="KSO_WM_DIAGRAM_VIRTUALLY_FRAME" val="{&quot;height&quot;:393.99992125984255,&quot;left&quot;:52,&quot;top&quot;:89.00007874015748,&quot;width&quot;:855.5}"/>
</p:tagLst>
</file>

<file path=ppt/tags/tag85.xml><?xml version="1.0" encoding="utf-8"?>
<p:tagLst xmlns:p="http://schemas.openxmlformats.org/presentationml/2006/main">
  <p:tag name="KSO_WM_DIAGRAM_VIRTUALLY_FRAME" val="{&quot;height&quot;:393.99992125984255,&quot;left&quot;:52,&quot;top&quot;:89.00007874015748,&quot;width&quot;:855.5}"/>
</p:tagLst>
</file>

<file path=ppt/tags/tag86.xml><?xml version="1.0" encoding="utf-8"?>
<p:tagLst xmlns:p="http://schemas.openxmlformats.org/presentationml/2006/main">
  <p:tag name="KSO_WM_DIAGRAM_VIRTUALLY_FRAME" val="{&quot;height&quot;:369.55,&quot;left&quot;:52.75,&quot;top&quot;:89,&quot;width&quot;:854.3750393700788}"/>
</p:tagLst>
</file>

<file path=ppt/tags/tag87.xml><?xml version="1.0" encoding="utf-8"?>
<p:tagLst xmlns:p="http://schemas.openxmlformats.org/presentationml/2006/main">
  <p:tag name="KSO_WM_DIAGRAM_VIRTUALLY_FRAME" val="{&quot;height&quot;:369.55,&quot;left&quot;:52.75,&quot;top&quot;:89,&quot;width&quot;:854.3750393700788}"/>
</p:tagLst>
</file>

<file path=ppt/tags/tag88.xml><?xml version="1.0" encoding="utf-8"?>
<p:tagLst xmlns:p="http://schemas.openxmlformats.org/presentationml/2006/main">
  <p:tag name="KSO_WM_DIAGRAM_VIRTUALLY_FRAME" val="{&quot;height&quot;:369.55,&quot;left&quot;:52.75,&quot;top&quot;:89,&quot;width&quot;:854.3750393700788}"/>
</p:tagLst>
</file>

<file path=ppt/tags/tag89.xml><?xml version="1.0" encoding="utf-8"?>
<p:tagLst xmlns:p="http://schemas.openxmlformats.org/presentationml/2006/main">
  <p:tag name="KSO_WM_DIAGRAM_VIRTUALLY_FRAME" val="{&quot;height&quot;:369.55,&quot;left&quot;:52.75,&quot;top&quot;:89,&quot;width&quot;:854.3750393700788}"/>
</p:tagLst>
</file>

<file path=ppt/tags/tag90.xml><?xml version="1.0" encoding="utf-8"?>
<p:tagLst xmlns:p="http://schemas.openxmlformats.org/presentationml/2006/main">
  <p:tag name="KSO_WM_DIAGRAM_VIRTUALLY_FRAME" val="{&quot;height&quot;:369.55,&quot;left&quot;:52.75,&quot;top&quot;:89,&quot;width&quot;:854.3750393700788}"/>
</p:tagLst>
</file>

<file path=ppt/tags/tag91.xml><?xml version="1.0" encoding="utf-8"?>
<p:tagLst xmlns:p="http://schemas.openxmlformats.org/presentationml/2006/main">
  <p:tag name="KSO_WM_DIAGRAM_VIRTUALLY_FRAME" val="{&quot;height&quot;:369.55,&quot;left&quot;:52.75,&quot;top&quot;:89,&quot;width&quot;:854.3750393700788}"/>
</p:tagLst>
</file>

<file path=ppt/tags/tag92.xml><?xml version="1.0" encoding="utf-8"?>
<p:tagLst xmlns:p="http://schemas.openxmlformats.org/presentationml/2006/main">
  <p:tag name="KSO_WM_DIAGRAM_VIRTUALLY_FRAME" val="{&quot;height&quot;:369.55,&quot;left&quot;:52.75,&quot;top&quot;:89,&quot;width&quot;:854.3750393700788}"/>
</p:tagLst>
</file>

<file path=ppt/tags/tag93.xml><?xml version="1.0" encoding="utf-8"?>
<p:tagLst xmlns:p="http://schemas.openxmlformats.org/presentationml/2006/main">
  <p:tag name="KSO_WM_DIAGRAM_VIRTUALLY_FRAME" val="{&quot;height&quot;:369.55,&quot;left&quot;:52.75,&quot;top&quot;:89,&quot;width&quot;:854.3750393700788}"/>
</p:tagLst>
</file>

<file path=ppt/tags/tag94.xml><?xml version="1.0" encoding="utf-8"?>
<p:tagLst xmlns:p="http://schemas.openxmlformats.org/presentationml/2006/main">
  <p:tag name="KSO_WM_DIAGRAM_VIRTUALLY_FRAME" val="{&quot;height&quot;:369.55,&quot;left&quot;:52.75,&quot;top&quot;:89,&quot;width&quot;:854.3750393700788}"/>
</p:tagLst>
</file>

<file path=ppt/tags/tag95.xml><?xml version="1.0" encoding="utf-8"?>
<p:tagLst xmlns:p="http://schemas.openxmlformats.org/presentationml/2006/main">
  <p:tag name="KSO_WM_DIAGRAM_VIRTUALLY_FRAME" val="{&quot;height&quot;:369.55,&quot;left&quot;:52.75,&quot;top&quot;:89,&quot;width&quot;:854.3750393700788}"/>
</p:tagLst>
</file>

<file path=ppt/tags/tag96.xml><?xml version="1.0" encoding="utf-8"?>
<p:tagLst xmlns:p="http://schemas.openxmlformats.org/presentationml/2006/main">
  <p:tag name="KSO_WM_DIAGRAM_VIRTUALLY_FRAME" val="{&quot;height&quot;:369.55,&quot;left&quot;:52.75,&quot;top&quot;:89,&quot;width&quot;:854.3750393700788}"/>
</p:tagLst>
</file>

<file path=ppt/tags/tag97.xml><?xml version="1.0" encoding="utf-8"?>
<p:tagLst xmlns:p="http://schemas.openxmlformats.org/presentationml/2006/main">
  <p:tag name="KSO_WM_DIAGRAM_VIRTUALLY_FRAME" val="{&quot;height&quot;:369.55,&quot;left&quot;:52.75,&quot;top&quot;:89,&quot;width&quot;:854.3750393700788}"/>
</p:tagLst>
</file>

<file path=ppt/tags/tag98.xml><?xml version="1.0" encoding="utf-8"?>
<p:tagLst xmlns:p="http://schemas.openxmlformats.org/presentationml/2006/main">
  <p:tag name="KSO_WM_DIAGRAM_VIRTUALLY_FRAME" val="{&quot;height&quot;:369.55,&quot;left&quot;:52.75,&quot;top&quot;:89,&quot;width&quot;:854.3750393700788}"/>
</p:tagLst>
</file>

<file path=ppt/tags/tag99.xml><?xml version="1.0" encoding="utf-8"?>
<p:tagLst xmlns:p="http://schemas.openxmlformats.org/presentationml/2006/main">
  <p:tag name="KSO_WM_DIAGRAM_VIRTUALLY_FRAME" val="{&quot;height&quot;:369.55,&quot;left&quot;:52.75,&quot;top&quot;:89,&quot;width&quot;:854.3750393700788}"/>
</p:tagLst>
</file>

<file path=ppt/tags/tag100.xml><?xml version="1.0" encoding="utf-8"?>
<p:tagLst xmlns:p="http://schemas.openxmlformats.org/presentationml/2006/main">
  <p:tag name="KSO_WM_DIAGRAM_VIRTUALLY_FRAME" val="{&quot;height&quot;:408.9246456692913,&quot;left&quot;:37,&quot;top&quot;:74.07543307086614,&quot;width&quot;:870}"/>
</p:tagLst>
</file>

<file path=ppt/tags/tag101.xml><?xml version="1.0" encoding="utf-8"?>
<p:tagLst xmlns:p="http://schemas.openxmlformats.org/presentationml/2006/main">
  <p:tag name="KSO_WM_DIAGRAM_VIRTUALLY_FRAME" val="{&quot;height&quot;:408.9246456692913,&quot;left&quot;:37,&quot;top&quot;:74.07543307086614,&quot;width&quot;:870}"/>
</p:tagLst>
</file>

<file path=ppt/tags/tag102.xml><?xml version="1.0" encoding="utf-8"?>
<p:tagLst xmlns:p="http://schemas.openxmlformats.org/presentationml/2006/main">
  <p:tag name="KSO_WM_DIAGRAM_VIRTUALLY_FRAME" val="{&quot;height&quot;:408.9246456692913,&quot;left&quot;:37,&quot;top&quot;:74.07543307086614,&quot;width&quot;:870}"/>
</p:tagLst>
</file>

<file path=ppt/tags/tag103.xml><?xml version="1.0" encoding="utf-8"?>
<p:tagLst xmlns:p="http://schemas.openxmlformats.org/presentationml/2006/main">
  <p:tag name="KSO_WM_DIAGRAM_VIRTUALLY_FRAME" val="{&quot;height&quot;:408.9246456692913,&quot;left&quot;:37,&quot;top&quot;:74.07543307086614,&quot;width&quot;:870}"/>
</p:tagLst>
</file>

<file path=ppt/tags/tag104.xml><?xml version="1.0" encoding="utf-8"?>
<p:tagLst xmlns:p="http://schemas.openxmlformats.org/presentationml/2006/main">
  <p:tag name="KSO_WM_DIAGRAM_VIRTUALLY_FRAME" val="{&quot;height&quot;:408.9246456692913,&quot;left&quot;:37,&quot;top&quot;:74.07543307086614,&quot;width&quot;:870}"/>
</p:tagLst>
</file>

<file path=ppt/tags/tag105.xml><?xml version="1.0" encoding="utf-8"?>
<p:tagLst xmlns:p="http://schemas.openxmlformats.org/presentationml/2006/main">
  <p:tag name="KSO_WM_DIAGRAM_VIRTUALLY_FRAME" val="{&quot;height&quot;:408.9246456692913,&quot;left&quot;:37,&quot;top&quot;:74.07543307086614,&quot;width&quot;:870}"/>
</p:tagLst>
</file>

<file path=ppt/tags/tag106.xml><?xml version="1.0" encoding="utf-8"?>
<p:tagLst xmlns:p="http://schemas.openxmlformats.org/presentationml/2006/main">
  <p:tag name="KSO_WM_DIAGRAM_VIRTUALLY_FRAME" val="{&quot;height&quot;:408.9246456692913,&quot;left&quot;:37,&quot;top&quot;:74.07543307086614,&quot;width&quot;:870}"/>
</p:tagLst>
</file>

<file path=ppt/tags/tag107.xml><?xml version="1.0" encoding="utf-8"?>
<p:tagLst xmlns:p="http://schemas.openxmlformats.org/presentationml/2006/main">
  <p:tag name="KSO_WM_DIAGRAM_VIRTUALLY_FRAME" val="{&quot;height&quot;:408.9246456692913,&quot;left&quot;:37,&quot;top&quot;:74.07543307086614,&quot;width&quot;:870}"/>
</p:tagLst>
</file>

<file path=ppt/tags/tag108.xml><?xml version="1.0" encoding="utf-8"?>
<p:tagLst xmlns:p="http://schemas.openxmlformats.org/presentationml/2006/main">
  <p:tag name="KSO_WM_DIAGRAM_VIRTUALLY_FRAME" val="{&quot;height&quot;:408.9246456692913,&quot;left&quot;:37,&quot;top&quot;:74.07543307086614,&quot;width&quot;:870}"/>
</p:tagLst>
</file>

<file path=ppt/tags/tag109.xml><?xml version="1.0" encoding="utf-8"?>
<p:tagLst xmlns:p="http://schemas.openxmlformats.org/presentationml/2006/main">
  <p:tag name="KSO_WM_DIAGRAM_VIRTUALLY_FRAME" val="{&quot;height&quot;:393.99992125984255,&quot;left&quot;:52,&quot;top&quot;:89.00007874015748,&quot;width&quot;:862.31968503937}"/>
</p:tagLst>
</file>

<file path=ppt/tags/tag110.xml><?xml version="1.0" encoding="utf-8"?>
<p:tagLst xmlns:p="http://schemas.openxmlformats.org/presentationml/2006/main">
  <p:tag name="KSO_WM_DIAGRAM_VIRTUALLY_FRAME" val="{&quot;height&quot;:393.99992125984255,&quot;left&quot;:52,&quot;top&quot;:89.00007874015748,&quot;width&quot;:862.31968503937}"/>
</p:tagLst>
</file>

<file path=ppt/tags/tag111.xml><?xml version="1.0" encoding="utf-8"?>
<p:tagLst xmlns:p="http://schemas.openxmlformats.org/presentationml/2006/main">
  <p:tag name="KSO_WM_DIAGRAM_VIRTUALLY_FRAME" val="{&quot;height&quot;:393.99992125984255,&quot;left&quot;:52,&quot;top&quot;:89.00007874015748,&quot;width&quot;:862.31968503937}"/>
</p:tagLst>
</file>

<file path=ppt/tags/tag112.xml><?xml version="1.0" encoding="utf-8"?>
<p:tagLst xmlns:p="http://schemas.openxmlformats.org/presentationml/2006/main">
  <p:tag name="KSO_WM_DIAGRAM_VIRTUALLY_FRAME" val="{&quot;height&quot;:393.99992125984255,&quot;left&quot;:52,&quot;top&quot;:89.00007874015748,&quot;width&quot;:862.31968503937}"/>
</p:tagLst>
</file>

<file path=ppt/tags/tag113.xml><?xml version="1.0" encoding="utf-8"?>
<p:tagLst xmlns:p="http://schemas.openxmlformats.org/presentationml/2006/main">
  <p:tag name="KSO_WM_DIAGRAM_VIRTUALLY_FRAME" val="{&quot;height&quot;:393.99992125984255,&quot;left&quot;:52,&quot;top&quot;:89.00007874015748,&quot;width&quot;:862.31968503937}"/>
</p:tagLst>
</file>

<file path=ppt/tags/tag114.xml><?xml version="1.0" encoding="utf-8"?>
<p:tagLst xmlns:p="http://schemas.openxmlformats.org/presentationml/2006/main">
  <p:tag name="KSO_WM_DIAGRAM_VIRTUALLY_FRAME" val="{&quot;height&quot;:393.99992125984255,&quot;left&quot;:52,&quot;top&quot;:89.00007874015748,&quot;width&quot;:862.31968503937}"/>
</p:tagLst>
</file>

<file path=ppt/tags/tag115.xml><?xml version="1.0" encoding="utf-8"?>
<p:tagLst xmlns:p="http://schemas.openxmlformats.org/presentationml/2006/main">
  <p:tag name="KSO_WM_DIAGRAM_VIRTUALLY_FRAME" val="{&quot;height&quot;:393.99992125984255,&quot;left&quot;:52,&quot;top&quot;:89.00007874015748,&quot;width&quot;:862.31968503937}"/>
</p:tagLst>
</file>

<file path=ppt/tags/tag116.xml><?xml version="1.0" encoding="utf-8"?>
<p:tagLst xmlns:p="http://schemas.openxmlformats.org/presentationml/2006/main">
  <p:tag name="KSO_WM_DIAGRAM_VIRTUALLY_FRAME" val="{&quot;height&quot;:393.99992125984255,&quot;left&quot;:52,&quot;top&quot;:89.00007874015748,&quot;width&quot;:862.31968503937}"/>
</p:tagLst>
</file>

<file path=ppt/tags/tag117.xml><?xml version="1.0" encoding="utf-8"?>
<p:tagLst xmlns:p="http://schemas.openxmlformats.org/presentationml/2006/main">
  <p:tag name="KSO_WM_DIAGRAM_VIRTUALLY_FRAME" val="{&quot;height&quot;:393.99992125984255,&quot;left&quot;:52,&quot;top&quot;:89.00007874015748,&quot;width&quot;:862.31968503937}"/>
</p:tagLst>
</file>

<file path=ppt/tags/tag118.xml><?xml version="1.0" encoding="utf-8"?>
<p:tagLst xmlns:p="http://schemas.openxmlformats.org/presentationml/2006/main">
  <p:tag name="KSO_WM_DIAGRAM_VIRTUALLY_FRAME" val="{&quot;height&quot;:362.00007874015745,&quot;left&quot;:52,&quot;top&quot;:120.99992125984252,&quot;width&quot;:855}"/>
</p:tagLst>
</file>

<file path=ppt/tags/tag119.xml><?xml version="1.0" encoding="utf-8"?>
<p:tagLst xmlns:p="http://schemas.openxmlformats.org/presentationml/2006/main">
  <p:tag name="KSO_WM_DIAGRAM_VIRTUALLY_FRAME" val="{&quot;height&quot;:362.00007874015745,&quot;left&quot;:52,&quot;top&quot;:120.99992125984252,&quot;width&quot;:855}"/>
</p:tagLst>
</file>

<file path=ppt/tags/tag120.xml><?xml version="1.0" encoding="utf-8"?>
<p:tagLst xmlns:p="http://schemas.openxmlformats.org/presentationml/2006/main">
  <p:tag name="KSO_WM_DIAGRAM_VIRTUALLY_FRAME" val="{&quot;height&quot;:362.00007874015745,&quot;left&quot;:52,&quot;top&quot;:120.99992125984252,&quot;width&quot;:855}"/>
</p:tagLst>
</file>

<file path=ppt/tags/tag121.xml><?xml version="1.0" encoding="utf-8"?>
<p:tagLst xmlns:p="http://schemas.openxmlformats.org/presentationml/2006/main">
  <p:tag name="KSO_WM_DIAGRAM_VIRTUALLY_FRAME" val="{&quot;height&quot;:362.00007874015745,&quot;left&quot;:52,&quot;top&quot;:120.99992125984252,&quot;width&quot;:855}"/>
</p:tagLst>
</file>

<file path=ppt/tags/tag122.xml><?xml version="1.0" encoding="utf-8"?>
<p:tagLst xmlns:p="http://schemas.openxmlformats.org/presentationml/2006/main">
  <p:tag name="KSO_WM_DIAGRAM_VIRTUALLY_FRAME" val="{&quot;height&quot;:362.00007874015745,&quot;left&quot;:52,&quot;top&quot;:120.99992125984252,&quot;width&quot;:855}"/>
</p:tagLst>
</file>

<file path=ppt/tags/tag123.xml><?xml version="1.0" encoding="utf-8"?>
<p:tagLst xmlns:p="http://schemas.openxmlformats.org/presentationml/2006/main">
  <p:tag name="KSO_WM_DIAGRAM_VIRTUALLY_FRAME" val="{&quot;height&quot;:362.00007874015745,&quot;left&quot;:52,&quot;top&quot;:120.99992125984252,&quot;width&quot;:855}"/>
</p:tagLst>
</file>

<file path=ppt/tags/tag124.xml><?xml version="1.0" encoding="utf-8"?>
<p:tagLst xmlns:p="http://schemas.openxmlformats.org/presentationml/2006/main">
  <p:tag name="KSO_WM_DIAGRAM_VIRTUALLY_FRAME" val="{&quot;height&quot;:362.00007874015745,&quot;left&quot;:52,&quot;top&quot;:120.99992125984252,&quot;width&quot;:855}"/>
</p:tagLst>
</file>

<file path=ppt/tags/tag125.xml><?xml version="1.0" encoding="utf-8"?>
<p:tagLst xmlns:p="http://schemas.openxmlformats.org/presentationml/2006/main">
  <p:tag name="KSO_WM_DIAGRAM_VIRTUALLY_FRAME" val="{&quot;height&quot;:334.0000787401575,&quot;left&quot;:51.76157480314961,&quot;top&quot;:88.9999212598425,&quot;width&quot;:855.2384251968504}"/>
</p:tagLst>
</file>

<file path=ppt/tags/tag126.xml><?xml version="1.0" encoding="utf-8"?>
<p:tagLst xmlns:p="http://schemas.openxmlformats.org/presentationml/2006/main">
  <p:tag name="KSO_WM_DIAGRAM_VIRTUALLY_FRAME" val="{&quot;height&quot;:334.0000787401575,&quot;left&quot;:51.76157480314961,&quot;top&quot;:88.9999212598425,&quot;width&quot;:855.2384251968504}"/>
</p:tagLst>
</file>

<file path=ppt/tags/tag127.xml><?xml version="1.0" encoding="utf-8"?>
<p:tagLst xmlns:p="http://schemas.openxmlformats.org/presentationml/2006/main">
  <p:tag name="KSO_WM_DIAGRAM_VIRTUALLY_FRAME" val="{&quot;height&quot;:334.0000787401575,&quot;left&quot;:51.76157480314961,&quot;top&quot;:88.9999212598425,&quot;width&quot;:855.2384251968504}"/>
</p:tagLst>
</file>

<file path=ppt/tags/tag128.xml><?xml version="1.0" encoding="utf-8"?>
<p:tagLst xmlns:p="http://schemas.openxmlformats.org/presentationml/2006/main">
  <p:tag name="KSO_WM_DIAGRAM_VIRTUALLY_FRAME" val="{&quot;height&quot;:334.0000787401575,&quot;left&quot;:51.76157480314961,&quot;top&quot;:88.9999212598425,&quot;width&quot;:855.2384251968504}"/>
</p:tagLst>
</file>

<file path=ppt/tags/tag129.xml><?xml version="1.0" encoding="utf-8"?>
<p:tagLst xmlns:p="http://schemas.openxmlformats.org/presentationml/2006/main">
  <p:tag name="KSO_WM_DIAGRAM_VIRTUALLY_FRAME" val="{&quot;height&quot;:334.0000787401575,&quot;left&quot;:51.76157480314961,&quot;top&quot;:88.9999212598425,&quot;width&quot;:855.2384251968504}"/>
</p:tagLst>
</file>

<file path=ppt/tags/tag130.xml><?xml version="1.0" encoding="utf-8"?>
<p:tagLst xmlns:p="http://schemas.openxmlformats.org/presentationml/2006/main">
  <p:tag name="KSO_WM_DIAGRAM_VIRTUALLY_FRAME" val="{&quot;height&quot;:334.0000787401575,&quot;left&quot;:51.76157480314961,&quot;top&quot;:88.9999212598425,&quot;width&quot;:855.2384251968504}"/>
</p:tagLst>
</file>

<file path=ppt/tags/tag131.xml><?xml version="1.0" encoding="utf-8"?>
<p:tagLst xmlns:p="http://schemas.openxmlformats.org/presentationml/2006/main">
  <p:tag name="KSO_WM_DIAGRAM_VIRTUALLY_FRAME" val="{&quot;height&quot;:334.0000787401575,&quot;left&quot;:51.76157480314961,&quot;top&quot;:88.9999212598425,&quot;width&quot;:855.2384251968504}"/>
</p:tagLst>
</file>

<file path=ppt/tags/tag132.xml><?xml version="1.0" encoding="utf-8"?>
<p:tagLst xmlns:p="http://schemas.openxmlformats.org/presentationml/2006/main">
  <p:tag name="KSO_WM_DIAGRAM_VIRTUALLY_FRAME" val="{&quot;height&quot;:374,&quot;left&quot;:52,&quot;top&quot;:89,&quot;width&quot;:855}"/>
</p:tagLst>
</file>

<file path=ppt/tags/tag133.xml><?xml version="1.0" encoding="utf-8"?>
<p:tagLst xmlns:p="http://schemas.openxmlformats.org/presentationml/2006/main">
  <p:tag name="KSO_WM_DIAGRAM_VIRTUALLY_FRAME" val="{&quot;height&quot;:374,&quot;left&quot;:52,&quot;top&quot;:89,&quot;width&quot;:855}"/>
</p:tagLst>
</file>

<file path=ppt/tags/tag134.xml><?xml version="1.0" encoding="utf-8"?>
<p:tagLst xmlns:p="http://schemas.openxmlformats.org/presentationml/2006/main">
  <p:tag name="KSO_WM_DIAGRAM_VIRTUALLY_FRAME" val="{&quot;height&quot;:374,&quot;left&quot;:52,&quot;top&quot;:89,&quot;width&quot;:855}"/>
</p:tagLst>
</file>

<file path=ppt/tags/tag135.xml><?xml version="1.0" encoding="utf-8"?>
<p:tagLst xmlns:p="http://schemas.openxmlformats.org/presentationml/2006/main">
  <p:tag name="KSO_WM_DIAGRAM_VIRTUALLY_FRAME" val="{&quot;height&quot;:374,&quot;left&quot;:52,&quot;top&quot;:89,&quot;width&quot;:855}"/>
</p:tagLst>
</file>

<file path=ppt/tags/tag136.xml><?xml version="1.0" encoding="utf-8"?>
<p:tagLst xmlns:p="http://schemas.openxmlformats.org/presentationml/2006/main">
  <p:tag name="KSO_WM_DIAGRAM_VIRTUALLY_FRAME" val="{&quot;height&quot;:374,&quot;left&quot;:52,&quot;top&quot;:89,&quot;width&quot;:855}"/>
  <p:tag name="wpp_generatetext" val="1"/>
</p:tagLst>
</file>

<file path=ppt/tags/tag137.xml><?xml version="1.0" encoding="utf-8"?>
<p:tagLst xmlns:p="http://schemas.openxmlformats.org/presentationml/2006/main">
  <p:tag name="KSO_WM_DIAGRAM_VIRTUALLY_FRAME" val="{&quot;height&quot;:367.459842519685,&quot;left&quot;:52.750078740157484,&quot;top&quot;:94.70047244094488,&quot;width&quot;:854.2499212598425}"/>
</p:tagLst>
</file>

<file path=ppt/tags/tag138.xml><?xml version="1.0" encoding="utf-8"?>
<p:tagLst xmlns:p="http://schemas.openxmlformats.org/presentationml/2006/main">
  <p:tag name="KSO_WM_DIAGRAM_VIRTUALLY_FRAME" val="{&quot;height&quot;:367.459842519685,&quot;left&quot;:52.750078740157484,&quot;top&quot;:94.70047244094488,&quot;width&quot;:854.2499212598425}"/>
</p:tagLst>
</file>

<file path=ppt/tags/tag139.xml><?xml version="1.0" encoding="utf-8"?>
<p:tagLst xmlns:p="http://schemas.openxmlformats.org/presentationml/2006/main">
  <p:tag name="KSO_WM_DIAGRAM_VIRTUALLY_FRAME" val="{&quot;height&quot;:367.459842519685,&quot;left&quot;:52.750078740157484,&quot;top&quot;:94.70047244094488,&quot;width&quot;:854.2499212598425}"/>
</p:tagLst>
</file>

<file path=ppt/tags/tag140.xml><?xml version="1.0" encoding="utf-8"?>
<p:tagLst xmlns:p="http://schemas.openxmlformats.org/presentationml/2006/main">
  <p:tag name="KSO_WM_DIAGRAM_VIRTUALLY_FRAME" val="{&quot;height&quot;:367.459842519685,&quot;left&quot;:52.750078740157484,&quot;top&quot;:94.70047244094488,&quot;width&quot;:854.2499212598425}"/>
</p:tagLst>
</file>

<file path=ppt/tags/tag141.xml><?xml version="1.0" encoding="utf-8"?>
<p:tagLst xmlns:p="http://schemas.openxmlformats.org/presentationml/2006/main">
  <p:tag name="KSO_WM_DIAGRAM_VIRTUALLY_FRAME" val="{&quot;height&quot;:367.459842519685,&quot;left&quot;:52.750078740157484,&quot;top&quot;:94.70047244094488,&quot;width&quot;:854.2499212598425}"/>
</p:tagLst>
</file>

<file path=ppt/tags/tag142.xml><?xml version="1.0" encoding="utf-8"?>
<p:tagLst xmlns:p="http://schemas.openxmlformats.org/presentationml/2006/main">
  <p:tag name="KSO_WM_DIAGRAM_VIRTUALLY_FRAME" val="{&quot;height&quot;:367.459842519685,&quot;left&quot;:52.750078740157484,&quot;top&quot;:94.70047244094488,&quot;width&quot;:854.2499212598425}"/>
</p:tagLst>
</file>

<file path=ppt/tags/tag143.xml><?xml version="1.0" encoding="utf-8"?>
<p:tagLst xmlns:p="http://schemas.openxmlformats.org/presentationml/2006/main">
  <p:tag name="KSO_WM_DIAGRAM_VIRTUALLY_FRAME" val="{&quot;height&quot;:367.459842519685,&quot;left&quot;:52.750078740157484,&quot;top&quot;:94.70047244094488,&quot;width&quot;:854.2499212598425}"/>
</p:tagLst>
</file>

<file path=ppt/tags/tag144.xml><?xml version="1.0" encoding="utf-8"?>
<p:tagLst xmlns:p="http://schemas.openxmlformats.org/presentationml/2006/main">
  <p:tag name="KSO_WM_DIAGRAM_VIRTUALLY_FRAME" val="{&quot;height&quot;:367.459842519685,&quot;left&quot;:52.750078740157484,&quot;top&quot;:94.70047244094488,&quot;width&quot;:854.2499212598425}"/>
  <p:tag name="wpp_generatetext" val="1"/>
</p:tagLst>
</file>

<file path=ppt/tags/tag145.xml><?xml version="1.0" encoding="utf-8"?>
<p:tagLst xmlns:p="http://schemas.openxmlformats.org/presentationml/2006/main">
  <p:tag name="KSO_WM_DIAGRAM_VIRTUALLY_FRAME" val="{&quot;height&quot;:367.459842519685,&quot;left&quot;:52.750078740157484,&quot;top&quot;:94.70047244094488,&quot;width&quot;:854.2499212598425}"/>
</p:tagLst>
</file>

<file path=ppt/tags/tag146.xml><?xml version="1.0" encoding="utf-8"?>
<p:tagLst xmlns:p="http://schemas.openxmlformats.org/presentationml/2006/main">
  <p:tag name="AS_NET" val="8.0.8"/>
  <p:tag name="AS_OS" val="Microsoft Windows NT 10.0.22631.0"/>
  <p:tag name="AS_RELEASE_DATE" val="2024.08.14"/>
  <p:tag name="AS_TITLE" val="Aspose.Slides for .NET6"/>
  <p:tag name="AS_VERSION" val="24.8"/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</p:tagLst>
</file>

<file path=ppt/theme/theme1.xml><?xml version="1.0" encoding="utf-8"?>
<a:theme xmlns:a="http://schemas.openxmlformats.org/drawingml/2006/main" name="Slide Master">
  <a:themeElements>
    <a:clrScheme name="iSlide">
      <a:dk1>
        <a:srgbClr val="2F2F2F"/>
      </a:dk1>
      <a:lt1>
        <a:srgbClr val="FFFFFF"/>
      </a:lt1>
      <a:dk2>
        <a:srgbClr val="778495"/>
      </a:dk2>
      <a:lt2>
        <a:srgbClr val="F0F0F0"/>
      </a:lt2>
      <a:accent1>
        <a:srgbClr val="00A8F5"/>
      </a:accent1>
      <a:accent2>
        <a:srgbClr val="F0604F"/>
      </a:accent2>
      <a:accent3>
        <a:srgbClr val="4DCCF6"/>
      </a:accent3>
      <a:accent4>
        <a:srgbClr val="C0C7C8"/>
      </a:accent4>
      <a:accent5>
        <a:srgbClr val="A1A6A7"/>
      </a:accent5>
      <a:accent6>
        <a:srgbClr val="7D7E7F"/>
      </a:accent6>
      <a:hlink>
        <a:srgbClr val="F84D4D"/>
      </a:hlink>
      <a:folHlink>
        <a:srgbClr val="979797"/>
      </a:folHlink>
    </a:clrScheme>
    <a:fontScheme name="iSlide">
      <a:majorFont>
        <a:latin typeface="Arial"/>
        <a:ea typeface="微软雅黑"/>
        <a:cs typeface="Arial"/>
      </a:majorFont>
      <a:minorFont>
        <a:latin typeface="Arial"/>
        <a:ea typeface="微软雅黑"/>
        <a:cs typeface="Arial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iSlide Presentation Template</Template>
  <TotalTime>0</TotalTime>
  <Words>4581</Words>
  <Application>WPS 演示</Application>
  <PresentationFormat>宽屏</PresentationFormat>
  <Paragraphs>341</Paragraphs>
  <Slides>26</Slides>
  <Notes>0</Notes>
  <HiddenSlides>7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6" baseType="lpstr">
      <vt:lpstr>Arial</vt:lpstr>
      <vt:lpstr>宋体</vt:lpstr>
      <vt:lpstr>Wingdings</vt:lpstr>
      <vt:lpstr>Arial</vt:lpstr>
      <vt:lpstr>思源宋体 CN Heavy</vt:lpstr>
      <vt:lpstr>思源宋体 CN Medium</vt:lpstr>
      <vt:lpstr>微软雅黑</vt:lpstr>
      <vt:lpstr>Arial Unicode MS</vt:lpstr>
      <vt:lpstr>Calibri</vt:lpstr>
      <vt:lpstr>Slide Master</vt:lpstr>
      <vt:lpstr>数字人文视角下宫崎骏作品核心价值演变</vt:lpstr>
      <vt:lpstr>目录</vt:lpstr>
      <vt:lpstr>研究缘起与数字切入</vt:lpstr>
      <vt:lpstr>研究问题与核心假设</vt:lpstr>
      <vt:lpstr>分析框架与数据全景</vt:lpstr>
      <vt:lpstr>九把“数据透镜”介绍</vt:lpstr>
      <vt:lpstr>早、中、晚三个时期代表作剖析</vt:lpstr>
      <vt:lpstr>早期代表《龙猫》</vt:lpstr>
      <vt:lpstr>《龙猫》数据分析印证</vt:lpstr>
      <vt:lpstr>中期代表《幽灵公主》</vt:lpstr>
      <vt:lpstr>《幽灵公主》数据分析印证</vt:lpstr>
      <vt:lpstr>后期代表《你想活出怎样的人生》</vt:lpstr>
      <vt:lpstr>《你想活出怎样的人生》数据分析印证</vt:lpstr>
      <vt:lpstr>横向比对：演变轨迹量化印证</vt:lpstr>
      <vt:lpstr>情感基调的宏观演变</vt:lpstr>
      <vt:lpstr>情感构成的演变</vt:lpstr>
      <vt:lpstr>叙事密度的变化</vt:lpstr>
      <vt:lpstr>主题世界的扩张与聚焦</vt:lpstr>
      <vt:lpstr>主题的演变</vt:lpstr>
      <vt:lpstr>巅峰之作：《千与千寻》的数据肖像</vt:lpstr>
      <vt:lpstr>希望的高峰：《起风了》的数据肖像</vt:lpstr>
      <vt:lpstr>综合结论与人文阐释</vt:lpstr>
      <vt:lpstr>数据印证下的演变总图</vt:lpstr>
      <vt:lpstr>不变的人文内核：数据的另一面</vt:lpstr>
      <vt:lpstr>总结：动画哲学家的人生数据轨迹</vt:lpstr>
      <vt:lpstr>谢谢观看</vt:lpstr>
    </vt:vector>
  </TitlesOfParts>
  <Company>iSlide</Company>
  <LinksUpToDate>false</LinksUpToDate>
  <SharedDoc>false</SharedDoc>
  <HyperlinksChanged>false</HyperlinksChanged>
  <AppVersion>14.0000</AppVersion>
  <Manager>iSlide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iSlide</dc:creator>
  <cp:lastModifiedBy>Dddd</cp:lastModifiedBy>
  <cp:revision>31</cp:revision>
  <cp:lastPrinted>2024-05-07T00:00:00Z</cp:lastPrinted>
  <dcterms:created xsi:type="dcterms:W3CDTF">2024-05-07T00:00:00Z</dcterms:created>
  <dcterms:modified xsi:type="dcterms:W3CDTF">2025-12-16T08:32:21Z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8f29f882-0b00-47fd-8e79-7b605a9a3d28</vt:lpwstr>
  </property>
  <property fmtid="{D5CDD505-2E9C-101B-9397-08002B2CF9AE}" pid="3" name="KSOProductBuildVer">
    <vt:lpwstr>2052-12.1.0.24034</vt:lpwstr>
  </property>
  <property fmtid="{D5CDD505-2E9C-101B-9397-08002B2CF9AE}" pid="4" name="ICV">
    <vt:lpwstr>94AB2E4F48D84CB4A071C12DE6FECB56_12</vt:lpwstr>
  </property>
</Properties>
</file>